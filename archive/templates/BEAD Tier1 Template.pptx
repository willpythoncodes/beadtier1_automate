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4B_EB6FDEE3.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33"/>
  </p:notesMasterIdLst>
  <p:handoutMasterIdLst>
    <p:handoutMasterId r:id="rId34"/>
  </p:handoutMasterIdLst>
  <p:sldIdLst>
    <p:sldId id="452" r:id="rId5"/>
    <p:sldId id="331" r:id="rId6"/>
    <p:sldId id="483" r:id="rId7"/>
    <p:sldId id="484" r:id="rId8"/>
    <p:sldId id="455" r:id="rId9"/>
    <p:sldId id="470" r:id="rId10"/>
    <p:sldId id="475" r:id="rId11"/>
    <p:sldId id="476" r:id="rId12"/>
    <p:sldId id="477" r:id="rId13"/>
    <p:sldId id="479" r:id="rId14"/>
    <p:sldId id="480" r:id="rId15"/>
    <p:sldId id="485" r:id="rId16"/>
    <p:sldId id="486" r:id="rId17"/>
    <p:sldId id="481" r:id="rId18"/>
    <p:sldId id="482" r:id="rId19"/>
    <p:sldId id="338" r:id="rId20"/>
    <p:sldId id="473" r:id="rId21"/>
    <p:sldId id="471" r:id="rId22"/>
    <p:sldId id="454" r:id="rId23"/>
    <p:sldId id="345" r:id="rId24"/>
    <p:sldId id="440" r:id="rId25"/>
    <p:sldId id="438" r:id="rId26"/>
    <p:sldId id="342" r:id="rId27"/>
    <p:sldId id="474" r:id="rId28"/>
    <p:sldId id="441" r:id="rId29"/>
    <p:sldId id="445" r:id="rId30"/>
    <p:sldId id="265" r:id="rId31"/>
    <p:sldId id="26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910616-451C-CA50-131A-FCDC0D0E0FCB}" name="Doug Bausch" initials="DB" userId="S::dbausch@niyamit.com::f6ac93a8-def4-459d-8fc3-8e1b27caa921" providerId="AD"/>
  <p188:author id="{6535471F-EEEC-D69A-452D-31933B5A52CE}" name="Caton, John" initials="JC" userId="S::0478918625@FEMA.DHS.GOV::fff7d0ca-58f4-45a4-a058-05119d2d7a05" providerId="AD"/>
  <p188:author id="{7B945035-C19E-AF0B-76FB-A1EEDEF218B4}" name="Ashley Hoke" initials="AH" userId="S::ahoke@niyamit.com::2b11871b-2329-4000-bcb0-99fe47ed9f68" providerId="AD"/>
  <p188:author id="{1F97B03E-5942-127B-886A-D0199678A0DF}" name="Scott, Matthew" initials="MS" userId="S::0676021319@FEMA.DHS.GOV::c20a9851-00b6-4c99-9e2c-3772b0275937" providerId="AD"/>
  <p188:author id="{C7420A58-FFEF-B142-1EF1-53551330E2C5}" name="Mgomezulu, Angela" initials="KM" userId="S::0029504416@FEMA.DHS.GOV::f1b93af7-81ba-48a7-83b1-89b4b31dd666" providerId="AD"/>
  <p188:author id="{00DCD05D-7568-9799-8613-D5B521DB4B64}" name="James, Lavar" initials="LJ" userId="James, Lavar" providerId="None"/>
  <p188:author id="{73CB5474-A101-E931-6A88-6926B9310E58}" name="Shearer, Eugene" initials="SE" userId="S::0001173876@fema.dhs.gov::00dde6b5-c5b5-4927-bc00-f9fd8e5e4249" providerId="AD"/>
  <p188:author id="{A339FDD9-0570-F020-BAA7-5B354E4EACA1}" name="Brunson, Sammy" initials="BS" userId="S::0967199837@FEMA.DHS.GOV::4bb6211f-739a-414a-8713-40032136f3b0" providerId="AD"/>
  <p188:author id="{37DD52E3-FB9E-71C1-3690-1FE69E980482}" name="Catalla, Efren" initials="EC" userId="S::0325243933@FEMA.DHS.GOV::b1a6f5f8-795e-4eba-a928-07bab1ea019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188"/>
    <a:srgbClr val="1D1C1D"/>
    <a:srgbClr val="0000CD"/>
    <a:srgbClr val="FFD780"/>
    <a:srgbClr val="FFFFFF"/>
    <a:srgbClr val="621D14"/>
    <a:srgbClr val="2CA02C"/>
    <a:srgbClr val="FF7F0E"/>
    <a:srgbClr val="1F77B4"/>
    <a:srgbClr val="B0DC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E0D3D8-7951-4BB5-9955-CAC868483628}" v="91" dt="2026-05-13T18:47:08.014"/>
  </p1510:revLst>
</p1510:revInfo>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7" autoAdjust="0"/>
    <p:restoredTop sz="85109" autoAdjust="0"/>
  </p:normalViewPr>
  <p:slideViewPr>
    <p:cSldViewPr snapToGrid="0">
      <p:cViewPr>
        <p:scale>
          <a:sx n="71" d="100"/>
          <a:sy n="71" d="100"/>
        </p:scale>
        <p:origin x="773"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omments/modernComment_14B_EB6FDEE3.xml><?xml version="1.0" encoding="utf-8"?>
<p188:cmLst xmlns:a="http://schemas.openxmlformats.org/drawingml/2006/main" xmlns:r="http://schemas.openxmlformats.org/officeDocument/2006/relationships" xmlns:p188="http://schemas.microsoft.com/office/powerpoint/2018/8/main">
  <p188:cm id="{8D1E1AFF-51FE-40AC-8685-FB35B00B58A8}" authorId="{7B945035-C19E-AF0B-76FB-A1EEDEF218B4}" created="2026-05-13T17:59:52.486">
    <ac:txMkLst xmlns:ac="http://schemas.microsoft.com/office/drawing/2013/main/command">
      <pc:docMk xmlns:pc="http://schemas.microsoft.com/office/powerpoint/2013/main/command"/>
      <pc:sldMk xmlns:pc="http://schemas.microsoft.com/office/powerpoint/2013/main/command" cId="3949977315" sldId="331"/>
      <ac:spMk id="3" creationId="{D6F4E7FE-1136-B42E-3543-EC975D754B9C}"/>
      <ac:txMk cp="0" len="164">
        <ac:context len="165" hash="2404417627"/>
      </ac:txMk>
    </ac:txMkLst>
    <p188:pos x="4804756" y="179546"/>
    <p188:txBody>
      <a:bodyPr/>
      <a:lstStyle/>
      <a:p>
        <a:r>
          <a:rPr lang="en-US"/>
          <a:t>Order of these could change if desired/makes sense for narrative</a:t>
        </a:r>
      </a:p>
    </p188:txBody>
  </p188:cm>
  <p188:cm id="{7442093E-8D02-41FA-A170-5B9BC5F18E79}" authorId="{7B945035-C19E-AF0B-76FB-A1EEDEF218B4}" created="2026-05-13T18:32:15.265">
    <pc:sldMkLst xmlns:pc="http://schemas.microsoft.com/office/powerpoint/2013/main/command">
      <pc:docMk/>
      <pc:sldMk cId="3949977315" sldId="331"/>
    </pc:sldMkLst>
    <p188:txBody>
      <a:bodyPr/>
      <a:lstStyle/>
      <a:p>
        <a:r>
          <a:rPr lang="en-US"/>
          <a:t>They can ask for specific lifeline considerations - which are somewhat custom slides, but will follow a similar structure/style as all others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52E11B-D2B7-C6C7-911A-DC3FBB1E11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89196D9-E11B-4CC9-BA35-49F27DDF72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D40C2A-B002-4028-8803-6B891B4F8070}" type="datetimeFigureOut">
              <a:rPr lang="en-US" smtClean="0"/>
              <a:t>6/8/2026</a:t>
            </a:fld>
            <a:endParaRPr lang="en-US"/>
          </a:p>
        </p:txBody>
      </p:sp>
      <p:sp>
        <p:nvSpPr>
          <p:cNvPr id="4" name="Footer Placeholder 3">
            <a:extLst>
              <a:ext uri="{FF2B5EF4-FFF2-40B4-BE49-F238E27FC236}">
                <a16:creationId xmlns:a16="http://schemas.microsoft.com/office/drawing/2014/main" id="{F3CB9049-D4EE-07F8-AADB-C8F76F2558A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164EAC3-E438-1785-D1AF-8827E28FB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692E12-4762-4419-9405-D30B63040291}" type="slidenum">
              <a:rPr lang="en-US" smtClean="0"/>
              <a:t>‹#›</a:t>
            </a:fld>
            <a:endParaRPr lang="en-US"/>
          </a:p>
        </p:txBody>
      </p:sp>
    </p:spTree>
    <p:extLst>
      <p:ext uri="{BB962C8B-B14F-4D97-AF65-F5344CB8AC3E}">
        <p14:creationId xmlns:p14="http://schemas.microsoft.com/office/powerpoint/2010/main" val="10093281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E7B60-32ED-452A-B12B-2BA2154A076E}"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94F37-F4A9-4D68-A7DB-5587641BA7FC}" type="slidenum">
              <a:rPr lang="en-US" smtClean="0"/>
              <a:t>‹#›</a:t>
            </a:fld>
            <a:endParaRPr lang="en-US"/>
          </a:p>
        </p:txBody>
      </p:sp>
    </p:spTree>
    <p:extLst>
      <p:ext uri="{BB962C8B-B14F-4D97-AF65-F5344CB8AC3E}">
        <p14:creationId xmlns:p14="http://schemas.microsoft.com/office/powerpoint/2010/main" val="4248353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2A0609-AEBD-49E2-8FC3-E28FC0D8ECE2}" type="slidenum">
              <a:rPr lang="en-US" smtClean="0"/>
              <a:t>1</a:t>
            </a:fld>
            <a:endParaRPr lang="en-US"/>
          </a:p>
        </p:txBody>
      </p:sp>
    </p:spTree>
    <p:extLst>
      <p:ext uri="{BB962C8B-B14F-4D97-AF65-F5344CB8AC3E}">
        <p14:creationId xmlns:p14="http://schemas.microsoft.com/office/powerpoint/2010/main" val="1183049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ndParaRPr>
          </a:p>
          <a:p>
            <a:endParaRPr lang="en-US" dirty="0"/>
          </a:p>
        </p:txBody>
      </p:sp>
      <p:sp>
        <p:nvSpPr>
          <p:cNvPr id="4" name="Slide Number Placeholder 3"/>
          <p:cNvSpPr>
            <a:spLocks noGrp="1"/>
          </p:cNvSpPr>
          <p:nvPr>
            <p:ph type="sldNum" sz="quarter" idx="5"/>
          </p:nvPr>
        </p:nvSpPr>
        <p:spPr/>
        <p:txBody>
          <a:bodyPr/>
          <a:lstStyle/>
          <a:p>
            <a:fld id="{40E94F37-F4A9-4D68-A7DB-5587641BA7FC}" type="slidenum">
              <a:rPr lang="en-US" smtClean="0"/>
              <a:t>2</a:t>
            </a:fld>
            <a:endParaRPr lang="en-US"/>
          </a:p>
        </p:txBody>
      </p:sp>
    </p:spTree>
    <p:extLst>
      <p:ext uri="{BB962C8B-B14F-4D97-AF65-F5344CB8AC3E}">
        <p14:creationId xmlns:p14="http://schemas.microsoft.com/office/powerpoint/2010/main" val="1394240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F432-D911-EE00-E1CF-0E91657AE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62208-D868-63AC-5409-CBC56CD01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90C69-951F-3053-A68A-B9CC50F70B56}"/>
              </a:ext>
            </a:extLst>
          </p:cNvPr>
          <p:cNvSpPr>
            <a:spLocks noGrp="1"/>
          </p:cNvSpPr>
          <p:nvPr>
            <p:ph type="body" idx="1"/>
          </p:nvPr>
        </p:nvSpPr>
        <p:spPr/>
        <p:txBody>
          <a:bodyPr/>
          <a:lstStyle/>
          <a:p>
            <a:r>
              <a:rPr lang="en-US" dirty="0"/>
              <a:t>Should answer: </a:t>
            </a:r>
          </a:p>
          <a:p>
            <a:pPr marL="228600" indent="-228600">
              <a:buAutoNum type="arabicPeriod"/>
            </a:pPr>
            <a:r>
              <a:rPr lang="en-US" sz="1200" b="0" i="0" kern="1200" dirty="0">
                <a:solidFill>
                  <a:schemeClr val="tx1"/>
                </a:solidFill>
                <a:effectLst/>
                <a:latin typeface="+mn-lt"/>
                <a:ea typeface="+mn-ea"/>
                <a:cs typeface="+mn-cs"/>
              </a:rPr>
              <a:t>What are the national/global-level economic/supply chain impacts of an incident?</a:t>
            </a:r>
          </a:p>
          <a:p>
            <a:pPr marL="228600" indent="-228600">
              <a:buAutoNum type="arabicPeriod"/>
            </a:pPr>
            <a:r>
              <a:rPr lang="en-US" sz="1200" b="0" i="0" kern="1200" dirty="0">
                <a:solidFill>
                  <a:schemeClr val="tx1"/>
                </a:solidFill>
                <a:effectLst/>
                <a:latin typeface="+mn-lt"/>
                <a:ea typeface="+mn-ea"/>
                <a:cs typeface="+mn-cs"/>
              </a:rPr>
              <a:t>What national and global economic/supply chain impacts should FEMA senior-leadership be aware of resulting from this incident?</a:t>
            </a:r>
          </a:p>
          <a:p>
            <a:pPr marL="228600" indent="-228600">
              <a:buAutoNum type="arabicPeriod"/>
            </a:pPr>
            <a:r>
              <a:rPr lang="en-US" sz="1200" b="0" i="0" kern="1200" dirty="0">
                <a:solidFill>
                  <a:schemeClr val="tx1"/>
                </a:solidFill>
                <a:effectLst/>
                <a:latin typeface="+mn-lt"/>
                <a:ea typeface="+mn-ea"/>
                <a:cs typeface="+mn-cs"/>
              </a:rPr>
              <a:t>What are the economic/industry interdependencies of a threat/hazard situation?</a:t>
            </a:r>
          </a:p>
          <a:p>
            <a:pPr marL="0" indent="0">
              <a:buNone/>
            </a:pPr>
            <a:endParaRPr lang="en-US" dirty="0"/>
          </a:p>
        </p:txBody>
      </p:sp>
      <p:sp>
        <p:nvSpPr>
          <p:cNvPr id="4" name="Slide Number Placeholder 3">
            <a:extLst>
              <a:ext uri="{FF2B5EF4-FFF2-40B4-BE49-F238E27FC236}">
                <a16:creationId xmlns:a16="http://schemas.microsoft.com/office/drawing/2014/main" id="{2BC6069E-0157-B67D-5968-98736856674E}"/>
              </a:ext>
            </a:extLst>
          </p:cNvPr>
          <p:cNvSpPr>
            <a:spLocks noGrp="1"/>
          </p:cNvSpPr>
          <p:nvPr>
            <p:ph type="sldNum" sz="quarter" idx="5"/>
          </p:nvPr>
        </p:nvSpPr>
        <p:spPr/>
        <p:txBody>
          <a:bodyPr/>
          <a:lstStyle/>
          <a:p>
            <a:fld id="{40E94F37-F4A9-4D68-A7DB-5587641BA7FC}" type="slidenum">
              <a:rPr lang="en-US" smtClean="0"/>
              <a:t>3</a:t>
            </a:fld>
            <a:endParaRPr lang="en-US"/>
          </a:p>
        </p:txBody>
      </p:sp>
    </p:spTree>
    <p:extLst>
      <p:ext uri="{BB962C8B-B14F-4D97-AF65-F5344CB8AC3E}">
        <p14:creationId xmlns:p14="http://schemas.microsoft.com/office/powerpoint/2010/main" val="207636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4F540-6735-1F8E-9654-E7163BB5E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A0CC8-CF1F-9632-B705-382602C60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45823-D502-5FDA-0FE1-9D057B2A71E3}"/>
              </a:ext>
            </a:extLst>
          </p:cNvPr>
          <p:cNvSpPr>
            <a:spLocks noGrp="1"/>
          </p:cNvSpPr>
          <p:nvPr>
            <p:ph type="body" idx="1"/>
          </p:nvPr>
        </p:nvSpPr>
        <p:spPr/>
        <p:txBody>
          <a:bodyPr/>
          <a:lstStyle/>
          <a:p>
            <a:r>
              <a:rPr lang="en-US" dirty="0"/>
              <a:t>Should Answer: What is the footprint and severity of a hazard/disaster? – defines our AOI</a:t>
            </a:r>
          </a:p>
        </p:txBody>
      </p:sp>
      <p:sp>
        <p:nvSpPr>
          <p:cNvPr id="4" name="Slide Number Placeholder 3">
            <a:extLst>
              <a:ext uri="{FF2B5EF4-FFF2-40B4-BE49-F238E27FC236}">
                <a16:creationId xmlns:a16="http://schemas.microsoft.com/office/drawing/2014/main" id="{19593753-5407-8771-4644-BA9B3EDA9795}"/>
              </a:ext>
            </a:extLst>
          </p:cNvPr>
          <p:cNvSpPr>
            <a:spLocks noGrp="1"/>
          </p:cNvSpPr>
          <p:nvPr>
            <p:ph type="sldNum" sz="quarter" idx="5"/>
          </p:nvPr>
        </p:nvSpPr>
        <p:spPr/>
        <p:txBody>
          <a:bodyPr/>
          <a:lstStyle/>
          <a:p>
            <a:fld id="{40E94F37-F4A9-4D68-A7DB-5587641BA7FC}" type="slidenum">
              <a:rPr lang="en-US" smtClean="0"/>
              <a:t>4</a:t>
            </a:fld>
            <a:endParaRPr lang="en-US"/>
          </a:p>
        </p:txBody>
      </p:sp>
    </p:spTree>
    <p:extLst>
      <p:ext uri="{BB962C8B-B14F-4D97-AF65-F5344CB8AC3E}">
        <p14:creationId xmlns:p14="http://schemas.microsoft.com/office/powerpoint/2010/main" val="827815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F3BFF-DE12-BB75-2093-17C30EBA6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6AD8D-D2EE-1E16-E55F-507BB2030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582DB-35D0-219D-C16E-1015421A2CA9}"/>
              </a:ext>
            </a:extLst>
          </p:cNvPr>
          <p:cNvSpPr>
            <a:spLocks noGrp="1"/>
          </p:cNvSpPr>
          <p:nvPr>
            <p:ph type="body" idx="1"/>
          </p:nvPr>
        </p:nvSpPr>
        <p:spPr/>
        <p:txBody>
          <a:bodyPr/>
          <a:lstStyle/>
          <a:p>
            <a:pPr rtl="0"/>
            <a:endParaRPr lang="en-US" dirty="0">
              <a:highlight>
                <a:srgbClr val="FFFF00"/>
              </a:highlight>
            </a:endParaRPr>
          </a:p>
        </p:txBody>
      </p:sp>
      <p:sp>
        <p:nvSpPr>
          <p:cNvPr id="4" name="Slide Number Placeholder 3">
            <a:extLst>
              <a:ext uri="{FF2B5EF4-FFF2-40B4-BE49-F238E27FC236}">
                <a16:creationId xmlns:a16="http://schemas.microsoft.com/office/drawing/2014/main" id="{23F9B397-76CC-D1AF-3643-FB9E427FAF56}"/>
              </a:ext>
            </a:extLst>
          </p:cNvPr>
          <p:cNvSpPr>
            <a:spLocks noGrp="1"/>
          </p:cNvSpPr>
          <p:nvPr>
            <p:ph type="sldNum" sz="quarter" idx="5"/>
          </p:nvPr>
        </p:nvSpPr>
        <p:spPr/>
        <p:txBody>
          <a:bodyPr/>
          <a:lstStyle/>
          <a:p>
            <a:fld id="{40E94F37-F4A9-4D68-A7DB-5587641BA7FC}" type="slidenum">
              <a:rPr lang="en-US" smtClean="0"/>
              <a:t>6</a:t>
            </a:fld>
            <a:endParaRPr lang="en-US"/>
          </a:p>
        </p:txBody>
      </p:sp>
    </p:spTree>
    <p:extLst>
      <p:ext uri="{BB962C8B-B14F-4D97-AF65-F5344CB8AC3E}">
        <p14:creationId xmlns:p14="http://schemas.microsoft.com/office/powerpoint/2010/main" val="1303923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C1F35-600C-6449-49B2-2AC39B4E8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3C8EF-E7BF-6664-E477-13D7BF990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2AEF6-6F0F-1E1B-B487-074509B8F02F}"/>
              </a:ext>
            </a:extLst>
          </p:cNvPr>
          <p:cNvSpPr>
            <a:spLocks noGrp="1"/>
          </p:cNvSpPr>
          <p:nvPr>
            <p:ph type="body" idx="1"/>
          </p:nvPr>
        </p:nvSpPr>
        <p:spPr/>
        <p:txBody>
          <a:bodyPr/>
          <a:lstStyle/>
          <a:p>
            <a:r>
              <a:rPr lang="en-US" dirty="0"/>
              <a:t>Should Answer: </a:t>
            </a:r>
            <a:r>
              <a:rPr lang="en-US" sz="1200" b="0" i="0" kern="1200" dirty="0">
                <a:solidFill>
                  <a:schemeClr val="tx1"/>
                </a:solidFill>
                <a:effectLst/>
                <a:latin typeface="+mn-lt"/>
                <a:ea typeface="+mn-ea"/>
                <a:cs typeface="+mn-cs"/>
              </a:rPr>
              <a:t>What industries are concentrated in the area of impact that could have national security or widespread economic implications?</a:t>
            </a:r>
            <a:endParaRPr lang="en-US" dirty="0"/>
          </a:p>
        </p:txBody>
      </p:sp>
      <p:sp>
        <p:nvSpPr>
          <p:cNvPr id="4" name="Slide Number Placeholder 3">
            <a:extLst>
              <a:ext uri="{FF2B5EF4-FFF2-40B4-BE49-F238E27FC236}">
                <a16:creationId xmlns:a16="http://schemas.microsoft.com/office/drawing/2014/main" id="{CE9627F9-141E-40ED-6486-80E4E3973BF2}"/>
              </a:ext>
            </a:extLst>
          </p:cNvPr>
          <p:cNvSpPr>
            <a:spLocks noGrp="1"/>
          </p:cNvSpPr>
          <p:nvPr>
            <p:ph type="sldNum" sz="quarter" idx="5"/>
          </p:nvPr>
        </p:nvSpPr>
        <p:spPr/>
        <p:txBody>
          <a:bodyPr/>
          <a:lstStyle/>
          <a:p>
            <a:fld id="{40E94F37-F4A9-4D68-A7DB-5587641BA7FC}" type="slidenum">
              <a:rPr lang="en-US" smtClean="0"/>
              <a:t>7</a:t>
            </a:fld>
            <a:endParaRPr lang="en-US"/>
          </a:p>
        </p:txBody>
      </p:sp>
    </p:spTree>
    <p:extLst>
      <p:ext uri="{BB962C8B-B14F-4D97-AF65-F5344CB8AC3E}">
        <p14:creationId xmlns:p14="http://schemas.microsoft.com/office/powerpoint/2010/main" val="383824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4D952-C862-A18F-73C5-55177C6DC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9B732-EE87-BEEE-7152-74BEEFFC9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7411E-6A88-13FF-C569-5F537020EA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Should Answer: </a:t>
            </a:r>
            <a:r>
              <a:rPr lang="en-US" sz="1200" b="0" i="0" kern="1200" dirty="0">
                <a:solidFill>
                  <a:schemeClr val="tx1"/>
                </a:solidFill>
                <a:effectLst/>
                <a:latin typeface="+mn-lt"/>
                <a:ea typeface="+mn-ea"/>
                <a:cs typeface="+mn-cs"/>
              </a:rPr>
              <a:t>What industries are concentrated in the area of impact that could have national security or widespread economic implications?</a:t>
            </a:r>
            <a:endParaRPr lang="en-US" dirty="0"/>
          </a:p>
        </p:txBody>
      </p:sp>
      <p:sp>
        <p:nvSpPr>
          <p:cNvPr id="4" name="Slide Number Placeholder 3">
            <a:extLst>
              <a:ext uri="{FF2B5EF4-FFF2-40B4-BE49-F238E27FC236}">
                <a16:creationId xmlns:a16="http://schemas.microsoft.com/office/drawing/2014/main" id="{85BA8425-32E0-7B89-8590-EB947725855B}"/>
              </a:ext>
            </a:extLst>
          </p:cNvPr>
          <p:cNvSpPr>
            <a:spLocks noGrp="1"/>
          </p:cNvSpPr>
          <p:nvPr>
            <p:ph type="sldNum" sz="quarter" idx="5"/>
          </p:nvPr>
        </p:nvSpPr>
        <p:spPr/>
        <p:txBody>
          <a:bodyPr/>
          <a:lstStyle/>
          <a:p>
            <a:fld id="{40E94F37-F4A9-4D68-A7DB-5587641BA7FC}" type="slidenum">
              <a:rPr lang="en-US" smtClean="0"/>
              <a:t>8</a:t>
            </a:fld>
            <a:endParaRPr lang="en-US"/>
          </a:p>
        </p:txBody>
      </p:sp>
    </p:spTree>
    <p:extLst>
      <p:ext uri="{BB962C8B-B14F-4D97-AF65-F5344CB8AC3E}">
        <p14:creationId xmlns:p14="http://schemas.microsoft.com/office/powerpoint/2010/main" val="1252709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37321-1881-B5D3-547A-06B97EC79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9306D-D35E-56E3-2B2A-43672202D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780D9-1438-D3A4-19B9-804462F4EF2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Should Answer: What goods generally flow through (or originate and terminate in) the impacted area? What freight modes are used?</a:t>
            </a:r>
            <a:endParaRPr lang="en-US" dirty="0"/>
          </a:p>
        </p:txBody>
      </p:sp>
      <p:sp>
        <p:nvSpPr>
          <p:cNvPr id="4" name="Slide Number Placeholder 3">
            <a:extLst>
              <a:ext uri="{FF2B5EF4-FFF2-40B4-BE49-F238E27FC236}">
                <a16:creationId xmlns:a16="http://schemas.microsoft.com/office/drawing/2014/main" id="{BD564571-DAB2-68D1-4AD9-38ADEC7F5A22}"/>
              </a:ext>
            </a:extLst>
          </p:cNvPr>
          <p:cNvSpPr>
            <a:spLocks noGrp="1"/>
          </p:cNvSpPr>
          <p:nvPr>
            <p:ph type="sldNum" sz="quarter" idx="5"/>
          </p:nvPr>
        </p:nvSpPr>
        <p:spPr/>
        <p:txBody>
          <a:bodyPr/>
          <a:lstStyle/>
          <a:p>
            <a:fld id="{40E94F37-F4A9-4D68-A7DB-5587641BA7FC}" type="slidenum">
              <a:rPr lang="en-US" smtClean="0"/>
              <a:t>9</a:t>
            </a:fld>
            <a:endParaRPr lang="en-US"/>
          </a:p>
        </p:txBody>
      </p:sp>
    </p:spTree>
    <p:extLst>
      <p:ext uri="{BB962C8B-B14F-4D97-AF65-F5344CB8AC3E}">
        <p14:creationId xmlns:p14="http://schemas.microsoft.com/office/powerpoint/2010/main" val="763370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32A65-97F2-A2D8-0DDB-D13347293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03991-7D84-3263-A86F-7EC7E4963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03A64-39A0-0154-2FBE-6BE1F5A79F8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Should Answer: What forecasted impacts can the U.S. national economy expect over the next 3 days, 2 weeks, and 3 months as a result of this incident?</a:t>
            </a:r>
            <a:endParaRPr lang="en-US" dirty="0"/>
          </a:p>
        </p:txBody>
      </p:sp>
      <p:sp>
        <p:nvSpPr>
          <p:cNvPr id="4" name="Slide Number Placeholder 3">
            <a:extLst>
              <a:ext uri="{FF2B5EF4-FFF2-40B4-BE49-F238E27FC236}">
                <a16:creationId xmlns:a16="http://schemas.microsoft.com/office/drawing/2014/main" id="{365BB69C-298D-6390-7D1B-2B604F67AA39}"/>
              </a:ext>
            </a:extLst>
          </p:cNvPr>
          <p:cNvSpPr>
            <a:spLocks noGrp="1"/>
          </p:cNvSpPr>
          <p:nvPr>
            <p:ph type="sldNum" sz="quarter" idx="5"/>
          </p:nvPr>
        </p:nvSpPr>
        <p:spPr/>
        <p:txBody>
          <a:bodyPr/>
          <a:lstStyle/>
          <a:p>
            <a:fld id="{40E94F37-F4A9-4D68-A7DB-5587641BA7FC}" type="slidenum">
              <a:rPr lang="en-US" smtClean="0"/>
              <a:t>10</a:t>
            </a:fld>
            <a:endParaRPr lang="en-US"/>
          </a:p>
        </p:txBody>
      </p:sp>
    </p:spTree>
    <p:extLst>
      <p:ext uri="{BB962C8B-B14F-4D97-AF65-F5344CB8AC3E}">
        <p14:creationId xmlns:p14="http://schemas.microsoft.com/office/powerpoint/2010/main" val="2361360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D734D-5EC5-7A79-19AD-C2CCF14A5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12764-BE7E-20D3-8F84-412D290E9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EF1C9-808E-C2D7-7762-E019DD699C39}"/>
              </a:ext>
            </a:extLst>
          </p:cNvPr>
          <p:cNvSpPr>
            <a:spLocks noGrp="1"/>
          </p:cNvSpPr>
          <p:nvPr>
            <p:ph type="body" idx="1"/>
          </p:nvPr>
        </p:nvSpPr>
        <p:spPr/>
        <p:txBody>
          <a:bodyPr/>
          <a:lstStyle/>
          <a:p>
            <a:r>
              <a:rPr lang="en-US" dirty="0"/>
              <a:t>Should Answer: </a:t>
            </a:r>
            <a:r>
              <a:rPr lang="en-US" sz="1200" b="0" i="0" kern="1200" dirty="0">
                <a:solidFill>
                  <a:schemeClr val="tx1"/>
                </a:solidFill>
                <a:effectLst/>
                <a:latin typeface="+mn-lt"/>
                <a:ea typeface="+mn-ea"/>
                <a:cs typeface="+mn-cs"/>
              </a:rPr>
              <a:t>Are there any notable socio-economic indicators relevant to the population impacted by a given incident?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Need to look into updating demographic data &amp; name any limitations – especially with territories</a:t>
            </a:r>
            <a:endParaRPr lang="en-US" dirty="0"/>
          </a:p>
        </p:txBody>
      </p:sp>
      <p:sp>
        <p:nvSpPr>
          <p:cNvPr id="4" name="Slide Number Placeholder 3">
            <a:extLst>
              <a:ext uri="{FF2B5EF4-FFF2-40B4-BE49-F238E27FC236}">
                <a16:creationId xmlns:a16="http://schemas.microsoft.com/office/drawing/2014/main" id="{AC155A5B-017C-633A-00EF-41CC29FC513F}"/>
              </a:ext>
            </a:extLst>
          </p:cNvPr>
          <p:cNvSpPr>
            <a:spLocks noGrp="1"/>
          </p:cNvSpPr>
          <p:nvPr>
            <p:ph type="sldNum" sz="quarter" idx="5"/>
          </p:nvPr>
        </p:nvSpPr>
        <p:spPr/>
        <p:txBody>
          <a:bodyPr/>
          <a:lstStyle/>
          <a:p>
            <a:fld id="{40E94F37-F4A9-4D68-A7DB-5587641BA7FC}" type="slidenum">
              <a:rPr lang="en-US" smtClean="0"/>
              <a:t>11</a:t>
            </a:fld>
            <a:endParaRPr lang="en-US"/>
          </a:p>
        </p:txBody>
      </p:sp>
    </p:spTree>
    <p:extLst>
      <p:ext uri="{BB962C8B-B14F-4D97-AF65-F5344CB8AC3E}">
        <p14:creationId xmlns:p14="http://schemas.microsoft.com/office/powerpoint/2010/main" val="1577329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F4595-2BAD-F975-1555-FB151BC3C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7E183-622F-9BAA-8F2F-AF98FC7D6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5E948-22F6-7458-4661-C5798C68C1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3568B9-43B7-750D-085C-DC6D1F3674AE}"/>
              </a:ext>
            </a:extLst>
          </p:cNvPr>
          <p:cNvSpPr>
            <a:spLocks noGrp="1"/>
          </p:cNvSpPr>
          <p:nvPr>
            <p:ph type="sldNum" sz="quarter" idx="5"/>
          </p:nvPr>
        </p:nvSpPr>
        <p:spPr/>
        <p:txBody>
          <a:bodyPr/>
          <a:lstStyle/>
          <a:p>
            <a:fld id="{40E94F37-F4A9-4D68-A7DB-5587641BA7FC}" type="slidenum">
              <a:rPr lang="en-US" smtClean="0"/>
              <a:t>13</a:t>
            </a:fld>
            <a:endParaRPr lang="en-US"/>
          </a:p>
        </p:txBody>
      </p:sp>
    </p:spTree>
    <p:extLst>
      <p:ext uri="{BB962C8B-B14F-4D97-AF65-F5344CB8AC3E}">
        <p14:creationId xmlns:p14="http://schemas.microsoft.com/office/powerpoint/2010/main" val="608954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C7FA1-9BE6-EE91-2BD3-B603BAE36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965A74-2B80-4FE6-99BD-599F11540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D25547-67D9-EB16-531C-5008E55CAB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02E3B5-E578-5DBF-773F-6827CE1CCEFE}"/>
              </a:ext>
            </a:extLst>
          </p:cNvPr>
          <p:cNvSpPr>
            <a:spLocks noGrp="1"/>
          </p:cNvSpPr>
          <p:nvPr>
            <p:ph type="sldNum" sz="quarter" idx="5"/>
          </p:nvPr>
        </p:nvSpPr>
        <p:spPr/>
        <p:txBody>
          <a:bodyPr/>
          <a:lstStyle/>
          <a:p>
            <a:fld id="{812A0609-AEBD-49E2-8FC3-E28FC0D8ECE2}" type="slidenum">
              <a:rPr lang="en-US" smtClean="0"/>
              <a:t>15</a:t>
            </a:fld>
            <a:endParaRPr lang="en-US"/>
          </a:p>
        </p:txBody>
      </p:sp>
    </p:spTree>
    <p:extLst>
      <p:ext uri="{BB962C8B-B14F-4D97-AF65-F5344CB8AC3E}">
        <p14:creationId xmlns:p14="http://schemas.microsoft.com/office/powerpoint/2010/main" val="1785444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answer: </a:t>
            </a:r>
          </a:p>
          <a:p>
            <a:pPr marL="228600" indent="-228600">
              <a:buAutoNum type="arabicPeriod"/>
            </a:pPr>
            <a:r>
              <a:rPr lang="en-US" sz="1200" b="0" i="0" kern="1200" dirty="0">
                <a:solidFill>
                  <a:schemeClr val="tx1"/>
                </a:solidFill>
                <a:effectLst/>
                <a:latin typeface="+mn-lt"/>
                <a:ea typeface="+mn-ea"/>
                <a:cs typeface="+mn-cs"/>
              </a:rPr>
              <a:t>What are the national/global-level economic/supply chain impacts of an incident?</a:t>
            </a:r>
          </a:p>
          <a:p>
            <a:pPr marL="228600" indent="-228600">
              <a:buAutoNum type="arabicPeriod"/>
            </a:pPr>
            <a:r>
              <a:rPr lang="en-US" sz="1200" b="0" i="0" kern="1200" dirty="0">
                <a:solidFill>
                  <a:schemeClr val="tx1"/>
                </a:solidFill>
                <a:effectLst/>
                <a:latin typeface="+mn-lt"/>
                <a:ea typeface="+mn-ea"/>
                <a:cs typeface="+mn-cs"/>
              </a:rPr>
              <a:t>What national and global economic/supply chain impacts should FEMA senior-leadership be aware of resulting from this incident?</a:t>
            </a:r>
          </a:p>
          <a:p>
            <a:pPr marL="228600" indent="-228600">
              <a:buAutoNum type="arabicPeriod"/>
            </a:pPr>
            <a:r>
              <a:rPr lang="en-US" sz="1200" b="0" i="0" kern="1200" dirty="0">
                <a:solidFill>
                  <a:schemeClr val="tx1"/>
                </a:solidFill>
                <a:effectLst/>
                <a:latin typeface="+mn-lt"/>
                <a:ea typeface="+mn-ea"/>
                <a:cs typeface="+mn-cs"/>
              </a:rPr>
              <a:t>What are the economic/industry interdependencies of a threat/hazard situation?</a:t>
            </a:r>
          </a:p>
          <a:p>
            <a:pPr marL="0" indent="0">
              <a:buNone/>
            </a:pPr>
            <a:endParaRPr lang="en-US" dirty="0"/>
          </a:p>
        </p:txBody>
      </p:sp>
      <p:sp>
        <p:nvSpPr>
          <p:cNvPr id="4" name="Slide Number Placeholder 3"/>
          <p:cNvSpPr>
            <a:spLocks noGrp="1"/>
          </p:cNvSpPr>
          <p:nvPr>
            <p:ph type="sldNum" sz="quarter" idx="5"/>
          </p:nvPr>
        </p:nvSpPr>
        <p:spPr/>
        <p:txBody>
          <a:bodyPr/>
          <a:lstStyle/>
          <a:p>
            <a:fld id="{40E94F37-F4A9-4D68-A7DB-5587641BA7FC}" type="slidenum">
              <a:rPr lang="en-US" smtClean="0"/>
              <a:t>16</a:t>
            </a:fld>
            <a:endParaRPr lang="en-US"/>
          </a:p>
        </p:txBody>
      </p:sp>
    </p:spTree>
    <p:extLst>
      <p:ext uri="{BB962C8B-B14F-4D97-AF65-F5344CB8AC3E}">
        <p14:creationId xmlns:p14="http://schemas.microsoft.com/office/powerpoint/2010/main" val="821620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9B351-942C-1BB8-33F0-CD02F1681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F61F1-0C59-8700-9F17-84275F75E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755056-9A79-CA37-948E-B77E2A3EABB5}"/>
              </a:ext>
            </a:extLst>
          </p:cNvPr>
          <p:cNvSpPr>
            <a:spLocks noGrp="1"/>
          </p:cNvSpPr>
          <p:nvPr>
            <p:ph type="body" idx="1"/>
          </p:nvPr>
        </p:nvSpPr>
        <p:spPr/>
        <p:txBody>
          <a:bodyPr/>
          <a:lstStyle/>
          <a:p>
            <a:r>
              <a:rPr lang="en-US" dirty="0"/>
              <a:t>Should Answer: What is the footprint and severity of a hazard/disaster? – defines our AOI</a:t>
            </a:r>
          </a:p>
        </p:txBody>
      </p:sp>
      <p:sp>
        <p:nvSpPr>
          <p:cNvPr id="4" name="Slide Number Placeholder 3">
            <a:extLst>
              <a:ext uri="{FF2B5EF4-FFF2-40B4-BE49-F238E27FC236}">
                <a16:creationId xmlns:a16="http://schemas.microsoft.com/office/drawing/2014/main" id="{80A6DD5A-5EFF-4C22-9B00-E6D5449DBA49}"/>
              </a:ext>
            </a:extLst>
          </p:cNvPr>
          <p:cNvSpPr>
            <a:spLocks noGrp="1"/>
          </p:cNvSpPr>
          <p:nvPr>
            <p:ph type="sldNum" sz="quarter" idx="5"/>
          </p:nvPr>
        </p:nvSpPr>
        <p:spPr/>
        <p:txBody>
          <a:bodyPr/>
          <a:lstStyle/>
          <a:p>
            <a:fld id="{40E94F37-F4A9-4D68-A7DB-5587641BA7FC}" type="slidenum">
              <a:rPr lang="en-US" smtClean="0"/>
              <a:t>17</a:t>
            </a:fld>
            <a:endParaRPr lang="en-US"/>
          </a:p>
        </p:txBody>
      </p:sp>
    </p:spTree>
    <p:extLst>
      <p:ext uri="{BB962C8B-B14F-4D97-AF65-F5344CB8AC3E}">
        <p14:creationId xmlns:p14="http://schemas.microsoft.com/office/powerpoint/2010/main" val="34646381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E8625-C6CB-DD85-A7BF-C30F9030A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3141D-3044-467A-B19C-652B0B512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F864D-21E6-AAC3-233E-1F40376CD1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FE25BD-7ADB-69C6-4B0C-A6156955939A}"/>
              </a:ext>
            </a:extLst>
          </p:cNvPr>
          <p:cNvSpPr>
            <a:spLocks noGrp="1"/>
          </p:cNvSpPr>
          <p:nvPr>
            <p:ph type="sldNum" sz="quarter" idx="5"/>
          </p:nvPr>
        </p:nvSpPr>
        <p:spPr/>
        <p:txBody>
          <a:bodyPr/>
          <a:lstStyle/>
          <a:p>
            <a:fld id="{40E94F37-F4A9-4D68-A7DB-5587641BA7FC}" type="slidenum">
              <a:rPr lang="en-US" smtClean="0"/>
              <a:t>18</a:t>
            </a:fld>
            <a:endParaRPr lang="en-US"/>
          </a:p>
        </p:txBody>
      </p:sp>
    </p:spTree>
    <p:extLst>
      <p:ext uri="{BB962C8B-B14F-4D97-AF65-F5344CB8AC3E}">
        <p14:creationId xmlns:p14="http://schemas.microsoft.com/office/powerpoint/2010/main" val="2245497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kern="1200" dirty="0">
                <a:solidFill>
                  <a:schemeClr val="tx1"/>
                </a:solidFill>
                <a:effectLst/>
                <a:highlight>
                  <a:srgbClr val="FFFF00"/>
                </a:highlight>
                <a:latin typeface="+mn-lt"/>
                <a:ea typeface="+mn-ea"/>
                <a:cs typeface="+mn-cs"/>
              </a:rPr>
              <a:t>Should answer: Relative to the entire nation, how drastic will the impact be to the U.S. economy as a result of this incident?</a:t>
            </a:r>
            <a:endParaRPr lang="en-US" dirty="0">
              <a:highlight>
                <a:srgbClr val="FFFF00"/>
              </a:highlight>
            </a:endParaRPr>
          </a:p>
        </p:txBody>
      </p:sp>
      <p:sp>
        <p:nvSpPr>
          <p:cNvPr id="4" name="Slide Number Placeholder 3"/>
          <p:cNvSpPr>
            <a:spLocks noGrp="1"/>
          </p:cNvSpPr>
          <p:nvPr>
            <p:ph type="sldNum" sz="quarter" idx="5"/>
          </p:nvPr>
        </p:nvSpPr>
        <p:spPr/>
        <p:txBody>
          <a:bodyPr/>
          <a:lstStyle/>
          <a:p>
            <a:fld id="{40E94F37-F4A9-4D68-A7DB-5587641BA7FC}" type="slidenum">
              <a:rPr lang="en-US" smtClean="0"/>
              <a:t>20</a:t>
            </a:fld>
            <a:endParaRPr lang="en-US"/>
          </a:p>
        </p:txBody>
      </p:sp>
    </p:spTree>
    <p:extLst>
      <p:ext uri="{BB962C8B-B14F-4D97-AF65-F5344CB8AC3E}">
        <p14:creationId xmlns:p14="http://schemas.microsoft.com/office/powerpoint/2010/main" val="603503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Answer: </a:t>
            </a:r>
            <a:r>
              <a:rPr lang="en-US" sz="1200" b="0" i="0" kern="1200" dirty="0">
                <a:solidFill>
                  <a:schemeClr val="tx1"/>
                </a:solidFill>
                <a:effectLst/>
                <a:latin typeface="+mn-lt"/>
                <a:ea typeface="+mn-ea"/>
                <a:cs typeface="+mn-cs"/>
              </a:rPr>
              <a:t>What industries are concentrated in the area of impact that could have national security or widespread economic implications?</a:t>
            </a:r>
            <a:endParaRPr lang="en-US" dirty="0"/>
          </a:p>
        </p:txBody>
      </p:sp>
      <p:sp>
        <p:nvSpPr>
          <p:cNvPr id="4" name="Slide Number Placeholder 3"/>
          <p:cNvSpPr>
            <a:spLocks noGrp="1"/>
          </p:cNvSpPr>
          <p:nvPr>
            <p:ph type="sldNum" sz="quarter" idx="5"/>
          </p:nvPr>
        </p:nvSpPr>
        <p:spPr/>
        <p:txBody>
          <a:bodyPr/>
          <a:lstStyle/>
          <a:p>
            <a:fld id="{40E94F37-F4A9-4D68-A7DB-5587641BA7FC}" type="slidenum">
              <a:rPr lang="en-US" smtClean="0"/>
              <a:t>21</a:t>
            </a:fld>
            <a:endParaRPr lang="en-US"/>
          </a:p>
        </p:txBody>
      </p:sp>
    </p:spTree>
    <p:extLst>
      <p:ext uri="{BB962C8B-B14F-4D97-AF65-F5344CB8AC3E}">
        <p14:creationId xmlns:p14="http://schemas.microsoft.com/office/powerpoint/2010/main" val="8326366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Should Answer: </a:t>
            </a:r>
            <a:r>
              <a:rPr lang="en-US" sz="1200" b="0" i="0" kern="1200" dirty="0">
                <a:solidFill>
                  <a:schemeClr val="tx1"/>
                </a:solidFill>
                <a:effectLst/>
                <a:latin typeface="+mn-lt"/>
                <a:ea typeface="+mn-ea"/>
                <a:cs typeface="+mn-cs"/>
              </a:rPr>
              <a:t>What industries are concentrated in the area of impact that could have national security or widespread economic implications?</a:t>
            </a:r>
            <a:endParaRPr lang="en-US" dirty="0"/>
          </a:p>
        </p:txBody>
      </p:sp>
      <p:sp>
        <p:nvSpPr>
          <p:cNvPr id="4" name="Slide Number Placeholder 3"/>
          <p:cNvSpPr>
            <a:spLocks noGrp="1"/>
          </p:cNvSpPr>
          <p:nvPr>
            <p:ph type="sldNum" sz="quarter" idx="5"/>
          </p:nvPr>
        </p:nvSpPr>
        <p:spPr/>
        <p:txBody>
          <a:bodyPr/>
          <a:lstStyle/>
          <a:p>
            <a:fld id="{40E94F37-F4A9-4D68-A7DB-5587641BA7FC}" type="slidenum">
              <a:rPr lang="en-US" smtClean="0"/>
              <a:t>22</a:t>
            </a:fld>
            <a:endParaRPr lang="en-US"/>
          </a:p>
        </p:txBody>
      </p:sp>
    </p:spTree>
    <p:extLst>
      <p:ext uri="{BB962C8B-B14F-4D97-AF65-F5344CB8AC3E}">
        <p14:creationId xmlns:p14="http://schemas.microsoft.com/office/powerpoint/2010/main" val="4989826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Should Answer: What goods generally flow through (or originate and terminate in) the impacted area? What freight modes are used?</a:t>
            </a:r>
            <a:endParaRPr lang="en-US" dirty="0"/>
          </a:p>
        </p:txBody>
      </p:sp>
      <p:sp>
        <p:nvSpPr>
          <p:cNvPr id="4" name="Slide Number Placeholder 3"/>
          <p:cNvSpPr>
            <a:spLocks noGrp="1"/>
          </p:cNvSpPr>
          <p:nvPr>
            <p:ph type="sldNum" sz="quarter" idx="5"/>
          </p:nvPr>
        </p:nvSpPr>
        <p:spPr/>
        <p:txBody>
          <a:bodyPr/>
          <a:lstStyle/>
          <a:p>
            <a:fld id="{40E94F37-F4A9-4D68-A7DB-5587641BA7FC}" type="slidenum">
              <a:rPr lang="en-US" smtClean="0"/>
              <a:t>23</a:t>
            </a:fld>
            <a:endParaRPr lang="en-US"/>
          </a:p>
        </p:txBody>
      </p:sp>
    </p:spTree>
    <p:extLst>
      <p:ext uri="{BB962C8B-B14F-4D97-AF65-F5344CB8AC3E}">
        <p14:creationId xmlns:p14="http://schemas.microsoft.com/office/powerpoint/2010/main" val="29664417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42E70-B70B-8472-45FF-BD50C61B7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CDB11-406D-BC48-FE28-48A10B5AF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127F8-5560-4C0D-9214-67E27DEE894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Should Answer: What goods generally flow through (or originate and terminate in) the impacted area? What freight modes are used?</a:t>
            </a:r>
            <a:endParaRPr lang="en-US" dirty="0"/>
          </a:p>
          <a:p>
            <a:pPr rtl="0"/>
            <a:endParaRPr lang="en-US" dirty="0"/>
          </a:p>
        </p:txBody>
      </p:sp>
      <p:sp>
        <p:nvSpPr>
          <p:cNvPr id="4" name="Slide Number Placeholder 3">
            <a:extLst>
              <a:ext uri="{FF2B5EF4-FFF2-40B4-BE49-F238E27FC236}">
                <a16:creationId xmlns:a16="http://schemas.microsoft.com/office/drawing/2014/main" id="{1731BF29-6A6C-289E-7D96-24E474E18FFC}"/>
              </a:ext>
            </a:extLst>
          </p:cNvPr>
          <p:cNvSpPr>
            <a:spLocks noGrp="1"/>
          </p:cNvSpPr>
          <p:nvPr>
            <p:ph type="sldNum" sz="quarter" idx="5"/>
          </p:nvPr>
        </p:nvSpPr>
        <p:spPr/>
        <p:txBody>
          <a:bodyPr/>
          <a:lstStyle/>
          <a:p>
            <a:fld id="{40E94F37-F4A9-4D68-A7DB-5587641BA7FC}" type="slidenum">
              <a:rPr lang="en-US" smtClean="0"/>
              <a:t>24</a:t>
            </a:fld>
            <a:endParaRPr lang="en-US"/>
          </a:p>
        </p:txBody>
      </p:sp>
    </p:spTree>
    <p:extLst>
      <p:ext uri="{BB962C8B-B14F-4D97-AF65-F5344CB8AC3E}">
        <p14:creationId xmlns:p14="http://schemas.microsoft.com/office/powerpoint/2010/main" val="22975438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Should Answer: What forecasted impacts can the U.S. national economy expect over the next 3 days, 2 weeks, and 3 months as a result of this incident?</a:t>
            </a:r>
            <a:endParaRPr lang="en-US" dirty="0"/>
          </a:p>
        </p:txBody>
      </p:sp>
      <p:sp>
        <p:nvSpPr>
          <p:cNvPr id="4" name="Slide Number Placeholder 3"/>
          <p:cNvSpPr>
            <a:spLocks noGrp="1"/>
          </p:cNvSpPr>
          <p:nvPr>
            <p:ph type="sldNum" sz="quarter" idx="5"/>
          </p:nvPr>
        </p:nvSpPr>
        <p:spPr/>
        <p:txBody>
          <a:bodyPr/>
          <a:lstStyle/>
          <a:p>
            <a:fld id="{40E94F37-F4A9-4D68-A7DB-5587641BA7FC}" type="slidenum">
              <a:rPr lang="en-US" smtClean="0"/>
              <a:t>25</a:t>
            </a:fld>
            <a:endParaRPr lang="en-US"/>
          </a:p>
        </p:txBody>
      </p:sp>
    </p:spTree>
    <p:extLst>
      <p:ext uri="{BB962C8B-B14F-4D97-AF65-F5344CB8AC3E}">
        <p14:creationId xmlns:p14="http://schemas.microsoft.com/office/powerpoint/2010/main" val="6398932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Answer: </a:t>
            </a:r>
            <a:r>
              <a:rPr lang="en-US" sz="1200" b="0" i="0" kern="1200" dirty="0">
                <a:solidFill>
                  <a:schemeClr val="tx1"/>
                </a:solidFill>
                <a:effectLst/>
                <a:latin typeface="+mn-lt"/>
                <a:ea typeface="+mn-ea"/>
                <a:cs typeface="+mn-cs"/>
              </a:rPr>
              <a:t>Are there any notable socio-economic indicators relevant to the population impacted by a given incident?</a:t>
            </a:r>
            <a:endParaRPr lang="en-US" dirty="0"/>
          </a:p>
        </p:txBody>
      </p:sp>
      <p:sp>
        <p:nvSpPr>
          <p:cNvPr id="4" name="Slide Number Placeholder 3"/>
          <p:cNvSpPr>
            <a:spLocks noGrp="1"/>
          </p:cNvSpPr>
          <p:nvPr>
            <p:ph type="sldNum" sz="quarter" idx="5"/>
          </p:nvPr>
        </p:nvSpPr>
        <p:spPr/>
        <p:txBody>
          <a:bodyPr/>
          <a:lstStyle/>
          <a:p>
            <a:fld id="{40E94F37-F4A9-4D68-A7DB-5587641BA7FC}" type="slidenum">
              <a:rPr lang="en-US" smtClean="0"/>
              <a:t>26</a:t>
            </a:fld>
            <a:endParaRPr lang="en-US"/>
          </a:p>
        </p:txBody>
      </p:sp>
    </p:spTree>
    <p:extLst>
      <p:ext uri="{BB962C8B-B14F-4D97-AF65-F5344CB8AC3E}">
        <p14:creationId xmlns:p14="http://schemas.microsoft.com/office/powerpoint/2010/main" val="838572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E94F37-F4A9-4D68-A7DB-5587641BA7FC}" type="slidenum">
              <a:rPr lang="en-US" smtClean="0"/>
              <a:t>28</a:t>
            </a:fld>
            <a:endParaRPr lang="en-US"/>
          </a:p>
        </p:txBody>
      </p:sp>
    </p:spTree>
    <p:extLst>
      <p:ext uri="{BB962C8B-B14F-4D97-AF65-F5344CB8AC3E}">
        <p14:creationId xmlns:p14="http://schemas.microsoft.com/office/powerpoint/2010/main" val="31918678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0B9F23-FC0F-C3BD-202A-627C50EA2A35}"/>
              </a:ext>
            </a:extLst>
          </p:cNvPr>
          <p:cNvSpPr/>
          <p:nvPr userDrawn="1"/>
        </p:nvSpPr>
        <p:spPr>
          <a:xfrm>
            <a:off x="0" y="-2"/>
            <a:ext cx="12192000" cy="6858001"/>
          </a:xfrm>
          <a:prstGeom prst="rect">
            <a:avLst/>
          </a:prstGeom>
          <a:solidFill>
            <a:srgbClr val="003D6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9" name="Title 2">
            <a:extLst>
              <a:ext uri="{FF2B5EF4-FFF2-40B4-BE49-F238E27FC236}">
                <a16:creationId xmlns:a16="http://schemas.microsoft.com/office/drawing/2014/main" id="{725A2850-52BB-81ED-890C-DD762F25E87E}"/>
              </a:ext>
            </a:extLst>
          </p:cNvPr>
          <p:cNvSpPr>
            <a:spLocks noGrp="1"/>
          </p:cNvSpPr>
          <p:nvPr>
            <p:ph type="title" hasCustomPrompt="1"/>
          </p:nvPr>
        </p:nvSpPr>
        <p:spPr>
          <a:xfrm>
            <a:off x="685800" y="2083093"/>
            <a:ext cx="10820400" cy="1246472"/>
          </a:xfrm>
          <a:prstGeom prst="rect">
            <a:avLst/>
          </a:prstGeom>
        </p:spPr>
        <p:txBody>
          <a:bodyPr>
            <a:noAutofit/>
          </a:bodyPr>
          <a:lstStyle>
            <a:lvl1pPr>
              <a:lnSpc>
                <a:spcPts val="5400"/>
              </a:lnSpc>
              <a:defRPr sz="5400" b="0">
                <a:solidFill>
                  <a:schemeClr val="bg1"/>
                </a:solidFill>
                <a:latin typeface="Franklin Gothic Heavy" panose="020B0903020102020204" pitchFamily="34" charset="0"/>
                <a:cs typeface="Arial"/>
              </a:defRPr>
            </a:lvl1pPr>
          </a:lstStyle>
          <a:p>
            <a:r>
              <a:rPr lang="en-US" dirty="0"/>
              <a:t>UPDATE TITLE GOES HERE: Hazard &amp; AOI</a:t>
            </a:r>
          </a:p>
        </p:txBody>
      </p:sp>
      <p:cxnSp>
        <p:nvCxnSpPr>
          <p:cNvPr id="13" name="Straight Connector 12">
            <a:extLst>
              <a:ext uri="{FF2B5EF4-FFF2-40B4-BE49-F238E27FC236}">
                <a16:creationId xmlns:a16="http://schemas.microsoft.com/office/drawing/2014/main" id="{6B5201C8-7CAA-7C42-838D-C5DE0E04D695}"/>
              </a:ext>
            </a:extLst>
          </p:cNvPr>
          <p:cNvCxnSpPr>
            <a:cxnSpLocks/>
          </p:cNvCxnSpPr>
          <p:nvPr userDrawn="1"/>
        </p:nvCxnSpPr>
        <p:spPr>
          <a:xfrm>
            <a:off x="685799" y="3627842"/>
            <a:ext cx="10820401" cy="0"/>
          </a:xfrm>
          <a:prstGeom prst="line">
            <a:avLst/>
          </a:prstGeom>
          <a:ln w="76200">
            <a:solidFill>
              <a:srgbClr val="3D98C1"/>
            </a:solidFill>
          </a:ln>
          <a:effectLst/>
        </p:spPr>
        <p:style>
          <a:lnRef idx="2">
            <a:schemeClr val="accent1"/>
          </a:lnRef>
          <a:fillRef idx="0">
            <a:schemeClr val="accent1"/>
          </a:fillRef>
          <a:effectRef idx="1">
            <a:schemeClr val="accent1"/>
          </a:effectRef>
          <a:fontRef idx="minor">
            <a:schemeClr val="tx1"/>
          </a:fontRef>
        </p:style>
      </p:cxnSp>
      <p:pic>
        <p:nvPicPr>
          <p:cNvPr id="4" name="Picture 3" descr="A picture containing qr code&#10;&#10;Description automatically generated">
            <a:extLst>
              <a:ext uri="{FF2B5EF4-FFF2-40B4-BE49-F238E27FC236}">
                <a16:creationId xmlns:a16="http://schemas.microsoft.com/office/drawing/2014/main" id="{7FF45BEC-92F7-F6C6-B39B-3464B35D9482}"/>
              </a:ext>
            </a:extLst>
          </p:cNvPr>
          <p:cNvPicPr>
            <a:picLocks noChangeAspect="1"/>
          </p:cNvPicPr>
          <p:nvPr userDrawn="1"/>
        </p:nvPicPr>
        <p:blipFill>
          <a:blip r:embed="rId2"/>
          <a:stretch>
            <a:fillRect/>
          </a:stretch>
        </p:blipFill>
        <p:spPr>
          <a:xfrm>
            <a:off x="656393" y="5007043"/>
            <a:ext cx="3317421" cy="1174497"/>
          </a:xfrm>
          <a:prstGeom prst="rect">
            <a:avLst/>
          </a:prstGeom>
        </p:spPr>
      </p:pic>
      <p:sp>
        <p:nvSpPr>
          <p:cNvPr id="2" name="Rectangle 1">
            <a:extLst>
              <a:ext uri="{FF2B5EF4-FFF2-40B4-BE49-F238E27FC236}">
                <a16:creationId xmlns:a16="http://schemas.microsoft.com/office/drawing/2014/main" id="{93B3D32C-DE4D-73CB-751A-A5A1ECE540DA}"/>
              </a:ext>
            </a:extLst>
          </p:cNvPr>
          <p:cNvSpPr/>
          <p:nvPr userDrawn="1"/>
        </p:nvSpPr>
        <p:spPr>
          <a:xfrm rot="16200000">
            <a:off x="1737360" y="-1055493"/>
            <a:ext cx="457200" cy="2560320"/>
          </a:xfrm>
          <a:prstGeom prst="rect">
            <a:avLst/>
          </a:prstGeom>
          <a:solidFill>
            <a:srgbClr val="D24B6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Date Placeholder 2">
            <a:extLst>
              <a:ext uri="{FF2B5EF4-FFF2-40B4-BE49-F238E27FC236}">
                <a16:creationId xmlns:a16="http://schemas.microsoft.com/office/drawing/2014/main" id="{A35269F5-FAA3-C49C-62BD-8CAC4670103C}"/>
              </a:ext>
            </a:extLst>
          </p:cNvPr>
          <p:cNvSpPr>
            <a:spLocks noGrp="1"/>
          </p:cNvSpPr>
          <p:nvPr>
            <p:ph type="dt" sz="half" idx="13"/>
          </p:nvPr>
        </p:nvSpPr>
        <p:spPr>
          <a:xfrm>
            <a:off x="1155357" y="51218"/>
            <a:ext cx="1711412" cy="365125"/>
          </a:xfrm>
        </p:spPr>
        <p:txBody>
          <a:bodyPr/>
          <a:lstStyle>
            <a:lvl1pPr>
              <a:defRPr>
                <a:solidFill>
                  <a:schemeClr val="bg1"/>
                </a:solidFill>
              </a:defRPr>
            </a:lvl1pPr>
          </a:lstStyle>
          <a:p>
            <a:r>
              <a:rPr lang="en-US" dirty="0"/>
              <a:t>Date: Day Month Year</a:t>
            </a:r>
          </a:p>
        </p:txBody>
      </p:sp>
      <p:sp>
        <p:nvSpPr>
          <p:cNvPr id="6" name="Slide Number Placeholder 4">
            <a:extLst>
              <a:ext uri="{FF2B5EF4-FFF2-40B4-BE49-F238E27FC236}">
                <a16:creationId xmlns:a16="http://schemas.microsoft.com/office/drawing/2014/main" id="{49FD57AD-F56C-E94E-3C9D-4931F1628332}"/>
              </a:ext>
            </a:extLst>
          </p:cNvPr>
          <p:cNvSpPr txBox="1">
            <a:spLocks/>
          </p:cNvSpPr>
          <p:nvPr userDrawn="1"/>
        </p:nvSpPr>
        <p:spPr>
          <a:xfrm>
            <a:off x="8945882" y="8814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bg1"/>
              </a:solidFill>
            </a:endParaRPr>
          </a:p>
        </p:txBody>
      </p:sp>
      <p:sp>
        <p:nvSpPr>
          <p:cNvPr id="5" name="TextBox 4">
            <a:extLst>
              <a:ext uri="{FF2B5EF4-FFF2-40B4-BE49-F238E27FC236}">
                <a16:creationId xmlns:a16="http://schemas.microsoft.com/office/drawing/2014/main" id="{7210DA3E-A187-1A94-0578-187910C05BD7}"/>
              </a:ext>
            </a:extLst>
          </p:cNvPr>
          <p:cNvSpPr txBox="1"/>
          <p:nvPr userDrawn="1"/>
        </p:nvSpPr>
        <p:spPr>
          <a:xfrm>
            <a:off x="4694934" y="4960909"/>
            <a:ext cx="7186405" cy="1277273"/>
          </a:xfrm>
          <a:prstGeom prst="rect">
            <a:avLst/>
          </a:prstGeom>
          <a:noFill/>
        </p:spPr>
        <p:txBody>
          <a:bodyPr wrap="square">
            <a:spAutoFit/>
          </a:bodyPr>
          <a:lstStyle/>
          <a:p>
            <a:r>
              <a:rPr lang="en-US" sz="1100" dirty="0">
                <a:solidFill>
                  <a:schemeClr val="bg1"/>
                </a:solidFill>
              </a:rPr>
              <a:t>This document is FOR OFFICIAL USE ONLY (FOUO) and may contain PRIVACY SENSITIVE information. It is to be controlled, stored, handled, transmitted, distributed, and disposed of in accordance with DHS policy relating to FOUO information. This information shall not be distributed beyond the original addresses without prior authorization of the originator. This communication, along with any attachments, is covered by Federal and State law governing electronic communications and may contain restricted and legally privileged information. If the reader of this message is not the intended recipient, you are hereby notified that any dissemination, distribution, use or copying of this message is strictly prohibited. If you have received this in error, please reply immediately to the sender and delete this message.</a:t>
            </a:r>
          </a:p>
        </p:txBody>
      </p:sp>
      <p:sp>
        <p:nvSpPr>
          <p:cNvPr id="10" name="TextBox 9">
            <a:extLst>
              <a:ext uri="{FF2B5EF4-FFF2-40B4-BE49-F238E27FC236}">
                <a16:creationId xmlns:a16="http://schemas.microsoft.com/office/drawing/2014/main" id="{CDE4DE35-B9D8-EC70-52FD-5FD6C8C33243}"/>
              </a:ext>
            </a:extLst>
          </p:cNvPr>
          <p:cNvSpPr txBox="1"/>
          <p:nvPr userDrawn="1"/>
        </p:nvSpPr>
        <p:spPr>
          <a:xfrm>
            <a:off x="9241506" y="110357"/>
            <a:ext cx="2926079"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sz="1400" dirty="0">
                <a:latin typeface="+mn-lt"/>
              </a:rPr>
              <a:t>FOUO (For Official Use Only)</a:t>
            </a:r>
          </a:p>
        </p:txBody>
      </p:sp>
      <p:sp>
        <p:nvSpPr>
          <p:cNvPr id="12" name="Text Placeholder 5">
            <a:extLst>
              <a:ext uri="{FF2B5EF4-FFF2-40B4-BE49-F238E27FC236}">
                <a16:creationId xmlns:a16="http://schemas.microsoft.com/office/drawing/2014/main" id="{5FA99351-F209-DB90-E5EE-61BCB529044A}"/>
              </a:ext>
            </a:extLst>
          </p:cNvPr>
          <p:cNvSpPr>
            <a:spLocks noGrp="1"/>
          </p:cNvSpPr>
          <p:nvPr>
            <p:ph type="body" sz="quarter" idx="10" hasCustomPrompt="1"/>
          </p:nvPr>
        </p:nvSpPr>
        <p:spPr>
          <a:xfrm>
            <a:off x="685799" y="3809938"/>
            <a:ext cx="10820401" cy="410936"/>
          </a:xfrm>
          <a:prstGeom prst="rect">
            <a:avLst/>
          </a:prstGeom>
        </p:spPr>
        <p:txBody>
          <a:bodyPr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a:solidFill>
                  <a:schemeClr val="bg1"/>
                </a:solidFill>
                <a:latin typeface="+mj-lt"/>
                <a:cs typeface="Aria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latin typeface="Franklin Gothic Book" panose="020B0503020102020204" pitchFamily="34" charset="0"/>
              </a:rPr>
              <a:t>Office of Business, Industry, and Infrastructure Integration (OB3I)</a:t>
            </a:r>
          </a:p>
        </p:txBody>
      </p:sp>
      <p:sp>
        <p:nvSpPr>
          <p:cNvPr id="14" name="Text Placeholder 5">
            <a:extLst>
              <a:ext uri="{FF2B5EF4-FFF2-40B4-BE49-F238E27FC236}">
                <a16:creationId xmlns:a16="http://schemas.microsoft.com/office/drawing/2014/main" id="{5CCDB666-005D-1BF6-CF70-083F4BFB18F7}"/>
              </a:ext>
            </a:extLst>
          </p:cNvPr>
          <p:cNvSpPr>
            <a:spLocks noGrp="1"/>
          </p:cNvSpPr>
          <p:nvPr>
            <p:ph type="body" sz="quarter" idx="14" hasCustomPrompt="1"/>
          </p:nvPr>
        </p:nvSpPr>
        <p:spPr>
          <a:xfrm>
            <a:off x="685799" y="4298913"/>
            <a:ext cx="10820401" cy="410936"/>
          </a:xfrm>
          <a:prstGeom prst="rect">
            <a:avLst/>
          </a:prstGeom>
        </p:spPr>
        <p:txBody>
          <a:bodyPr anchor="ctr">
            <a:noAutofit/>
          </a:bodyPr>
          <a:lstStyle>
            <a:lvl1pPr marL="0" indent="0">
              <a:buNone/>
              <a:defRPr sz="2000">
                <a:solidFill>
                  <a:schemeClr val="bg1"/>
                </a:solidFill>
                <a:latin typeface="+mn-lt"/>
                <a:cs typeface="Arial"/>
              </a:defRPr>
            </a:lvl1pPr>
          </a:lstStyle>
          <a:p>
            <a:r>
              <a:rPr lang="en-US" sz="2000" dirty="0"/>
              <a:t>Business Economic Analysis Data (BEAD) Tier 1 Report</a:t>
            </a:r>
          </a:p>
        </p:txBody>
      </p:sp>
    </p:spTree>
    <p:extLst>
      <p:ext uri="{BB962C8B-B14F-4D97-AF65-F5344CB8AC3E}">
        <p14:creationId xmlns:p14="http://schemas.microsoft.com/office/powerpoint/2010/main" val="3690405603"/>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523CFB9-A605-D73C-14F7-65B35DE9543E}"/>
              </a:ext>
            </a:extLst>
          </p:cNvPr>
          <p:cNvSpPr/>
          <p:nvPr userDrawn="1"/>
        </p:nvSpPr>
        <p:spPr>
          <a:xfrm>
            <a:off x="-1" y="0"/>
            <a:ext cx="4165007" cy="6858000"/>
          </a:xfrm>
          <a:prstGeom prst="rect">
            <a:avLst/>
          </a:prstGeom>
          <a:solidFill>
            <a:srgbClr val="003D6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 name="Footer Placeholder 4">
            <a:extLst>
              <a:ext uri="{FF2B5EF4-FFF2-40B4-BE49-F238E27FC236}">
                <a16:creationId xmlns:a16="http://schemas.microsoft.com/office/drawing/2014/main" id="{3B90E6E7-8126-4EC3-7421-A11B87CF614D}"/>
              </a:ext>
            </a:extLst>
          </p:cNvPr>
          <p:cNvSpPr txBox="1">
            <a:spLocks/>
          </p:cNvSpPr>
          <p:nvPr userDrawn="1"/>
        </p:nvSpPr>
        <p:spPr>
          <a:xfrm>
            <a:off x="683237" y="6177180"/>
            <a:ext cx="3840481"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chemeClr val="bg1"/>
                </a:solidFill>
                <a:effectLst/>
                <a:latin typeface="+mj-lt"/>
              </a:rPr>
              <a:t>Helping people before, during and after disasters</a:t>
            </a:r>
            <a:endParaRPr lang="en-US">
              <a:solidFill>
                <a:schemeClr val="bg1"/>
              </a:solidFill>
              <a:latin typeface="+mj-lt"/>
            </a:endParaRPr>
          </a:p>
        </p:txBody>
      </p:sp>
      <p:sp>
        <p:nvSpPr>
          <p:cNvPr id="14" name="Slide Number Placeholder 5">
            <a:extLst>
              <a:ext uri="{FF2B5EF4-FFF2-40B4-BE49-F238E27FC236}">
                <a16:creationId xmlns:a16="http://schemas.microsoft.com/office/drawing/2014/main" id="{EFC3DFAA-635A-5426-C250-E4FBD1CFE1EF}"/>
              </a:ext>
            </a:extLst>
          </p:cNvPr>
          <p:cNvSpPr txBox="1">
            <a:spLocks/>
          </p:cNvSpPr>
          <p:nvPr userDrawn="1"/>
        </p:nvSpPr>
        <p:spPr>
          <a:xfrm>
            <a:off x="10591797" y="6177180"/>
            <a:ext cx="914404"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FEMA.GOV</a:t>
            </a:r>
          </a:p>
        </p:txBody>
      </p:sp>
      <p:cxnSp>
        <p:nvCxnSpPr>
          <p:cNvPr id="15" name="Straight Connector 14">
            <a:extLst>
              <a:ext uri="{FF2B5EF4-FFF2-40B4-BE49-F238E27FC236}">
                <a16:creationId xmlns:a16="http://schemas.microsoft.com/office/drawing/2014/main" id="{673D7143-B41A-9EBF-F743-B49CE0C0915D}"/>
              </a:ext>
            </a:extLst>
          </p:cNvPr>
          <p:cNvCxnSpPr>
            <a:cxnSpLocks/>
          </p:cNvCxnSpPr>
          <p:nvPr userDrawn="1"/>
        </p:nvCxnSpPr>
        <p:spPr>
          <a:xfrm>
            <a:off x="4397188" y="6312051"/>
            <a:ext cx="5962427" cy="0"/>
          </a:xfrm>
          <a:prstGeom prst="line">
            <a:avLst/>
          </a:prstGeom>
          <a:ln w="19050">
            <a:solidFill>
              <a:schemeClr val="bg1"/>
            </a:solidFill>
          </a:ln>
        </p:spPr>
        <p:style>
          <a:lnRef idx="1">
            <a:schemeClr val="accent3"/>
          </a:lnRef>
          <a:fillRef idx="0">
            <a:schemeClr val="accent3"/>
          </a:fillRef>
          <a:effectRef idx="0">
            <a:schemeClr val="accent3"/>
          </a:effectRef>
          <a:fontRef idx="minor">
            <a:schemeClr val="tx1"/>
          </a:fontRef>
        </p:style>
      </p:cxnSp>
      <p:sp>
        <p:nvSpPr>
          <p:cNvPr id="8" name="Title 2">
            <a:extLst>
              <a:ext uri="{FF2B5EF4-FFF2-40B4-BE49-F238E27FC236}">
                <a16:creationId xmlns:a16="http://schemas.microsoft.com/office/drawing/2014/main" id="{C5259B2E-2FEF-A64F-8760-8691A70A60EE}"/>
              </a:ext>
            </a:extLst>
          </p:cNvPr>
          <p:cNvSpPr>
            <a:spLocks noGrp="1"/>
          </p:cNvSpPr>
          <p:nvPr>
            <p:ph type="title" hasCustomPrompt="1"/>
          </p:nvPr>
        </p:nvSpPr>
        <p:spPr>
          <a:xfrm>
            <a:off x="4632799" y="2510103"/>
            <a:ext cx="6873401" cy="1477881"/>
          </a:xfrm>
          <a:prstGeom prst="rect">
            <a:avLst/>
          </a:prstGeom>
        </p:spPr>
        <p:txBody>
          <a:bodyPr>
            <a:noAutofit/>
          </a:bodyPr>
          <a:lstStyle>
            <a:lvl1pPr algn="l">
              <a:defRPr sz="4400" b="0">
                <a:solidFill>
                  <a:schemeClr val="bg1"/>
                </a:solidFill>
                <a:latin typeface="Franklin Gothic Heavy" panose="020B0903020102020204" pitchFamily="34" charset="0"/>
                <a:cs typeface="Arial"/>
              </a:defRPr>
            </a:lvl1pPr>
          </a:lstStyle>
          <a:p>
            <a:r>
              <a:rPr lang="en-US"/>
              <a:t>DIVIDER SLIDE FOR FEMA PRESENTATION</a:t>
            </a:r>
          </a:p>
        </p:txBody>
      </p:sp>
      <p:sp>
        <p:nvSpPr>
          <p:cNvPr id="9" name="Text Placeholder 5">
            <a:extLst>
              <a:ext uri="{FF2B5EF4-FFF2-40B4-BE49-F238E27FC236}">
                <a16:creationId xmlns:a16="http://schemas.microsoft.com/office/drawing/2014/main" id="{F0C131CE-4E30-DE4B-AB8A-A8FD12FA2819}"/>
              </a:ext>
            </a:extLst>
          </p:cNvPr>
          <p:cNvSpPr>
            <a:spLocks noGrp="1"/>
          </p:cNvSpPr>
          <p:nvPr>
            <p:ph type="body" sz="quarter" idx="10" hasCustomPrompt="1"/>
          </p:nvPr>
        </p:nvSpPr>
        <p:spPr>
          <a:xfrm>
            <a:off x="4632799" y="3987984"/>
            <a:ext cx="6873401" cy="359912"/>
          </a:xfrm>
          <a:prstGeom prst="rect">
            <a:avLst/>
          </a:prstGeom>
        </p:spPr>
        <p:txBody>
          <a:bodyPr>
            <a:noAutofit/>
          </a:bodyPr>
          <a:lstStyle>
            <a:lvl1pPr marL="0" indent="0" algn="l">
              <a:buNone/>
              <a:defRPr sz="1800">
                <a:solidFill>
                  <a:schemeClr val="bg1"/>
                </a:solidFill>
                <a:latin typeface="+mj-lt"/>
                <a:cs typeface="Arial"/>
              </a:defRPr>
            </a:lvl1pPr>
          </a:lstStyle>
          <a:p>
            <a:pPr lvl="0"/>
            <a:r>
              <a:rPr lang="en-US"/>
              <a:t>INSERT LOCATION</a:t>
            </a:r>
          </a:p>
        </p:txBody>
      </p:sp>
      <p:sp>
        <p:nvSpPr>
          <p:cNvPr id="16" name="Rectangle 15">
            <a:extLst>
              <a:ext uri="{FF2B5EF4-FFF2-40B4-BE49-F238E27FC236}">
                <a16:creationId xmlns:a16="http://schemas.microsoft.com/office/drawing/2014/main" id="{F315C4A2-142A-0F7E-6AC7-7EFBEB574A50}"/>
              </a:ext>
            </a:extLst>
          </p:cNvPr>
          <p:cNvSpPr/>
          <p:nvPr userDrawn="1"/>
        </p:nvSpPr>
        <p:spPr>
          <a:xfrm>
            <a:off x="4073566" y="2288097"/>
            <a:ext cx="91440" cy="2281806"/>
          </a:xfrm>
          <a:prstGeom prst="rect">
            <a:avLst/>
          </a:prstGeom>
          <a:solidFill>
            <a:srgbClr val="3D98C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Slide Number Placeholder 4">
            <a:extLst>
              <a:ext uri="{FF2B5EF4-FFF2-40B4-BE49-F238E27FC236}">
                <a16:creationId xmlns:a16="http://schemas.microsoft.com/office/drawing/2014/main" id="{C638D6CB-D719-44D8-F10C-3E850E7EC1E0}"/>
              </a:ext>
            </a:extLst>
          </p:cNvPr>
          <p:cNvSpPr txBox="1">
            <a:spLocks/>
          </p:cNvSpPr>
          <p:nvPr userDrawn="1"/>
        </p:nvSpPr>
        <p:spPr>
          <a:xfrm>
            <a:off x="9220197" y="64469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bg1"/>
                </a:solidFill>
              </a:rPr>
              <a:pPr/>
              <a:t>‹#›</a:t>
            </a:fld>
            <a:endParaRPr lang="en-US" dirty="0">
              <a:solidFill>
                <a:schemeClr val="bg1"/>
              </a:solidFill>
            </a:endParaRPr>
          </a:p>
        </p:txBody>
      </p:sp>
      <p:sp>
        <p:nvSpPr>
          <p:cNvPr id="6" name="Footer Placeholder 4">
            <a:extLst>
              <a:ext uri="{FF2B5EF4-FFF2-40B4-BE49-F238E27FC236}">
                <a16:creationId xmlns:a16="http://schemas.microsoft.com/office/drawing/2014/main" id="{34015EA2-284E-0563-AFD5-DA181A0A71D1}"/>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Federal Emergency Management Agency</a:t>
            </a:r>
          </a:p>
        </p:txBody>
      </p:sp>
      <p:sp>
        <p:nvSpPr>
          <p:cNvPr id="10" name="TextBox 9">
            <a:extLst>
              <a:ext uri="{FF2B5EF4-FFF2-40B4-BE49-F238E27FC236}">
                <a16:creationId xmlns:a16="http://schemas.microsoft.com/office/drawing/2014/main" id="{E4241DC2-A0D8-D2B6-6DBB-4157B576E7DE}"/>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latin typeface="+mn-lt"/>
              </a:rPr>
              <a:t>FOUO (For Official Use Only)</a:t>
            </a:r>
          </a:p>
        </p:txBody>
      </p:sp>
      <p:sp>
        <p:nvSpPr>
          <p:cNvPr id="11" name="Footer Placeholder 4">
            <a:extLst>
              <a:ext uri="{FF2B5EF4-FFF2-40B4-BE49-F238E27FC236}">
                <a16:creationId xmlns:a16="http://schemas.microsoft.com/office/drawing/2014/main" id="{5B0FE7AC-969C-56BD-20AD-FF3FB015B49D}"/>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Business Economic Analysis Data (BEAD) Tier 1 Report</a:t>
            </a:r>
          </a:p>
        </p:txBody>
      </p:sp>
    </p:spTree>
    <p:extLst>
      <p:ext uri="{BB962C8B-B14F-4D97-AF65-F5344CB8AC3E}">
        <p14:creationId xmlns:p14="http://schemas.microsoft.com/office/powerpoint/2010/main" val="3429932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D3C5BE45-D420-120C-6089-4A56A4E824C0}"/>
              </a:ext>
            </a:extLst>
          </p:cNvPr>
          <p:cNvSpPr txBox="1">
            <a:spLocks/>
          </p:cNvSpPr>
          <p:nvPr userDrawn="1"/>
        </p:nvSpPr>
        <p:spPr>
          <a:xfrm>
            <a:off x="683238"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8" name="Slide Number Placeholder 5">
            <a:extLst>
              <a:ext uri="{FF2B5EF4-FFF2-40B4-BE49-F238E27FC236}">
                <a16:creationId xmlns:a16="http://schemas.microsoft.com/office/drawing/2014/main" id="{747FDAE7-8CE7-1B0C-535C-792963A478BC}"/>
              </a:ext>
            </a:extLst>
          </p:cNvPr>
          <p:cNvSpPr txBox="1">
            <a:spLocks/>
          </p:cNvSpPr>
          <p:nvPr userDrawn="1"/>
        </p:nvSpPr>
        <p:spPr>
          <a:xfrm>
            <a:off x="10591797"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005188"/>
                </a:solidFill>
              </a:rPr>
              <a:t>FEMA.GOV</a:t>
            </a:r>
          </a:p>
        </p:txBody>
      </p:sp>
      <p:cxnSp>
        <p:nvCxnSpPr>
          <p:cNvPr id="9" name="Straight Connector 8">
            <a:extLst>
              <a:ext uri="{FF2B5EF4-FFF2-40B4-BE49-F238E27FC236}">
                <a16:creationId xmlns:a16="http://schemas.microsoft.com/office/drawing/2014/main" id="{EA74A72E-12C5-F283-185B-643140D40DC1}"/>
              </a:ext>
            </a:extLst>
          </p:cNvPr>
          <p:cNvCxnSpPr>
            <a:cxnSpLocks/>
          </p:cNvCxnSpPr>
          <p:nvPr userDrawn="1"/>
        </p:nvCxnSpPr>
        <p:spPr>
          <a:xfrm>
            <a:off x="4397188" y="6314340"/>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sp>
        <p:nvSpPr>
          <p:cNvPr id="10" name="Text Placeholder 9">
            <a:extLst>
              <a:ext uri="{FF2B5EF4-FFF2-40B4-BE49-F238E27FC236}">
                <a16:creationId xmlns:a16="http://schemas.microsoft.com/office/drawing/2014/main" id="{876DF1B8-08CB-095D-89E9-51EDBFB52ABD}"/>
              </a:ext>
            </a:extLst>
          </p:cNvPr>
          <p:cNvSpPr>
            <a:spLocks noGrp="1"/>
          </p:cNvSpPr>
          <p:nvPr>
            <p:ph type="body" sz="quarter" idx="15" hasCustomPrompt="1"/>
          </p:nvPr>
        </p:nvSpPr>
        <p:spPr>
          <a:xfrm>
            <a:off x="666750" y="2454275"/>
            <a:ext cx="10893425" cy="3130550"/>
          </a:xfrm>
        </p:spPr>
        <p:txBody>
          <a:bodyPr/>
          <a:lstStyle>
            <a:lvl1pPr marL="0" indent="0">
              <a:buFont typeface="Arial" panose="020B0604020202020204" pitchFamily="34" charset="0"/>
              <a:buNone/>
              <a:defRPr>
                <a:latin typeface="Franklin Gothic Book" panose="020B0503020102020204" pitchFamily="34" charset="0"/>
              </a:defRPr>
            </a:lvl1pPr>
            <a:lvl2pPr marL="742950" indent="-285750">
              <a:buFont typeface="Arial" panose="020B0604020202020204" pitchFamily="34" charset="0"/>
              <a:buChar char="•"/>
              <a:defRPr>
                <a:latin typeface="Franklin Gothic Book" panose="020B0503020102020204" pitchFamily="34" charset="0"/>
              </a:defRPr>
            </a:lvl2pPr>
          </a:lstStyle>
          <a:p>
            <a:pPr marL="285750" lvl="0" indent="-285750">
              <a:buFont typeface="Arial" panose="020B0604020202020204" pitchFamily="34" charset="0"/>
              <a:buChar char="•"/>
            </a:pPr>
            <a:r>
              <a:rPr lang="en-US" sz="1400" b="1"/>
              <a:t>Food, Hydration &amp; Shelter: </a:t>
            </a:r>
            <a:r>
              <a:rPr lang="en-US" sz="1200"/>
              <a:t>[INSERT OVERALL TAKE-AWAY]</a:t>
            </a:r>
          </a:p>
          <a:p>
            <a:pPr marL="742950" lvl="1" indent="-285750">
              <a:buFont typeface="Arial" panose="020B0604020202020204" pitchFamily="34" charset="0"/>
              <a:buChar char="•"/>
            </a:pPr>
            <a:r>
              <a:rPr lang="en-US" sz="1200" b="1"/>
              <a:t>Food Lifelines: </a:t>
            </a:r>
            <a:r>
              <a:rPr lang="en-US" sz="1200"/>
              <a:t>INSERT STAT (e.g., 35 (5%) [units] are at [risk level]. [INSERT OTHER KEY POINTS]</a:t>
            </a:r>
          </a:p>
          <a:p>
            <a:pPr marL="742950" lvl="1" indent="-285750">
              <a:buFont typeface="Arial" panose="020B0604020202020204" pitchFamily="34" charset="0"/>
              <a:buChar char="•"/>
            </a:pPr>
            <a:r>
              <a:rPr lang="en-US" sz="1200" b="1"/>
              <a:t>Shelter Lifelines:</a:t>
            </a:r>
          </a:p>
          <a:p>
            <a:pPr marL="285750" lvl="0" indent="-285750">
              <a:buFont typeface="Arial" panose="020B0604020202020204" pitchFamily="34" charset="0"/>
              <a:buChar char="•"/>
            </a:pPr>
            <a:r>
              <a:rPr lang="en-US" sz="1400" b="1"/>
              <a:t>Health &amp; Medical: </a:t>
            </a:r>
            <a:endParaRPr lang="en-US" sz="1200" b="1"/>
          </a:p>
          <a:p>
            <a:pPr marL="742950" lvl="1" indent="-285750">
              <a:buFont typeface="Arial" panose="020B0604020202020204" pitchFamily="34" charset="0"/>
              <a:buChar char="•"/>
            </a:pPr>
            <a:r>
              <a:rPr lang="en-US" sz="1200" b="1"/>
              <a:t>Dialysis Center:</a:t>
            </a:r>
          </a:p>
          <a:p>
            <a:pPr marL="742950" lvl="1" indent="-285750">
              <a:buFont typeface="Arial" panose="020B0604020202020204" pitchFamily="34" charset="0"/>
              <a:buChar char="•"/>
            </a:pPr>
            <a:r>
              <a:rPr lang="en-US" sz="1200" b="1"/>
              <a:t>Hospitals:</a:t>
            </a:r>
          </a:p>
          <a:p>
            <a:pPr marL="742950" lvl="1" indent="-285750">
              <a:buFont typeface="Arial" panose="020B0604020202020204" pitchFamily="34" charset="0"/>
              <a:buChar char="•"/>
            </a:pPr>
            <a:r>
              <a:rPr lang="en-US" sz="1400" b="1"/>
              <a:t>Long-term Care:</a:t>
            </a:r>
          </a:p>
          <a:p>
            <a:pPr marL="285750" lvl="0" indent="-285750">
              <a:buFont typeface="Arial" panose="020B0604020202020204" pitchFamily="34" charset="0"/>
              <a:buChar char="•"/>
            </a:pPr>
            <a:r>
              <a:rPr lang="en-US" sz="1400" b="1"/>
              <a:t>Power &amp; Energy:</a:t>
            </a:r>
            <a:endParaRPr lang="en-US" sz="1200" b="1"/>
          </a:p>
          <a:p>
            <a:pPr marL="742950" lvl="1" indent="-285750">
              <a:buFont typeface="Arial" panose="020B0604020202020204" pitchFamily="34" charset="0"/>
              <a:buChar char="•"/>
            </a:pPr>
            <a:r>
              <a:rPr lang="en-US" sz="1200" b="1"/>
              <a:t>Powerplant &amp; Substations:</a:t>
            </a:r>
          </a:p>
          <a:p>
            <a:pPr marL="742950" lvl="1" indent="-285750">
              <a:buFont typeface="Arial" panose="020B0604020202020204" pitchFamily="34" charset="0"/>
              <a:buChar char="•"/>
            </a:pPr>
            <a:r>
              <a:rPr lang="en-US" sz="1200" b="1"/>
              <a:t>Powerlines:</a:t>
            </a:r>
          </a:p>
          <a:p>
            <a:pPr marL="285750" lvl="0" indent="-285750">
              <a:buFont typeface="Arial" panose="020B0604020202020204" pitchFamily="34" charset="0"/>
              <a:buChar char="•"/>
            </a:pPr>
            <a:r>
              <a:rPr lang="en-US" sz="1400" b="1"/>
              <a:t>Communications:</a:t>
            </a:r>
            <a:endParaRPr lang="en-US" sz="1200" b="1"/>
          </a:p>
          <a:p>
            <a:pPr marL="742950" lvl="1" indent="-285750">
              <a:buFont typeface="Arial" panose="020B0604020202020204" pitchFamily="34" charset="0"/>
              <a:buChar char="•"/>
            </a:pPr>
            <a:r>
              <a:rPr lang="en-US" sz="1200" b="1"/>
              <a:t>Banking Services, Electronic payments system, and Wireless sites </a:t>
            </a:r>
            <a:r>
              <a:rPr lang="en-US" sz="1200"/>
              <a:t>…</a:t>
            </a:r>
          </a:p>
        </p:txBody>
      </p:sp>
      <p:sp>
        <p:nvSpPr>
          <p:cNvPr id="11" name="Title 1">
            <a:extLst>
              <a:ext uri="{FF2B5EF4-FFF2-40B4-BE49-F238E27FC236}">
                <a16:creationId xmlns:a16="http://schemas.microsoft.com/office/drawing/2014/main" id="{2C658D9E-D524-E0A0-B962-14EC6D3124DD}"/>
              </a:ext>
            </a:extLst>
          </p:cNvPr>
          <p:cNvSpPr>
            <a:spLocks noGrp="1"/>
          </p:cNvSpPr>
          <p:nvPr>
            <p:ph type="ctrTitle" hasCustomPrompt="1"/>
          </p:nvPr>
        </p:nvSpPr>
        <p:spPr>
          <a:xfrm>
            <a:off x="682625" y="733393"/>
            <a:ext cx="10877913" cy="400553"/>
          </a:xfrm>
          <a:prstGeom prst="rect">
            <a:avLst/>
          </a:prstGeom>
        </p:spPr>
        <p:txBody>
          <a:bodyPr vert="horz" lIns="64251" tIns="32125" rIns="64251" bIns="32125" anchor="t">
            <a:noAutofit/>
          </a:bodyPr>
          <a:lstStyle>
            <a:lvl1pPr algn="ctr">
              <a:lnSpc>
                <a:spcPct val="100000"/>
              </a:lnSpc>
              <a:spcBef>
                <a:spcPts val="0"/>
              </a:spcBef>
              <a:spcAft>
                <a:spcPts val="0"/>
              </a:spcAft>
              <a:defRPr sz="2200" baseline="0">
                <a:solidFill>
                  <a:srgbClr val="005288"/>
                </a:solidFill>
                <a:latin typeface="Franklin Gothic Heavy" panose="020B0903020102020204" pitchFamily="34" charset="0"/>
              </a:defRPr>
            </a:lvl1pPr>
          </a:lstStyle>
          <a:p>
            <a:r>
              <a:rPr lang="en-US"/>
              <a:t>Executive Summary: [Location] – [Disaster Name] [Year]</a:t>
            </a:r>
          </a:p>
        </p:txBody>
      </p:sp>
      <p:sp>
        <p:nvSpPr>
          <p:cNvPr id="16" name="TextBox 15">
            <a:extLst>
              <a:ext uri="{FF2B5EF4-FFF2-40B4-BE49-F238E27FC236}">
                <a16:creationId xmlns:a16="http://schemas.microsoft.com/office/drawing/2014/main" id="{4C865C73-62DF-570B-5C35-D930265417C8}"/>
              </a:ext>
            </a:extLst>
          </p:cNvPr>
          <p:cNvSpPr txBox="1"/>
          <p:nvPr userDrawn="1"/>
        </p:nvSpPr>
        <p:spPr>
          <a:xfrm>
            <a:off x="666750" y="1181445"/>
            <a:ext cx="2407702" cy="338554"/>
          </a:xfrm>
          <a:prstGeom prst="rect">
            <a:avLst/>
          </a:prstGeom>
          <a:noFill/>
        </p:spPr>
        <p:txBody>
          <a:bodyPr wrap="square" rtlCol="0">
            <a:spAutoFit/>
          </a:bodyPr>
          <a:lstStyle/>
          <a:p>
            <a:pPr lvl="0"/>
            <a:r>
              <a:rPr lang="en-US" sz="1600" b="1" i="1" u="sng">
                <a:latin typeface="Franklin Gothic Book" panose="020B0503020102020204" pitchFamily="34" charset="0"/>
              </a:rPr>
              <a:t>Bottom Line Up Front</a:t>
            </a:r>
            <a:r>
              <a:rPr lang="en-US" sz="1600" b="1" i="1" u="none">
                <a:latin typeface="Franklin Gothic Book" panose="020B0503020102020204" pitchFamily="34" charset="0"/>
              </a:rPr>
              <a:t>:</a:t>
            </a:r>
          </a:p>
        </p:txBody>
      </p:sp>
      <p:sp>
        <p:nvSpPr>
          <p:cNvPr id="18" name="Text Placeholder 17">
            <a:extLst>
              <a:ext uri="{FF2B5EF4-FFF2-40B4-BE49-F238E27FC236}">
                <a16:creationId xmlns:a16="http://schemas.microsoft.com/office/drawing/2014/main" id="{A30EF935-6CE8-9E87-CE5E-EDAFE02D84EB}"/>
              </a:ext>
            </a:extLst>
          </p:cNvPr>
          <p:cNvSpPr>
            <a:spLocks noGrp="1"/>
          </p:cNvSpPr>
          <p:nvPr>
            <p:ph type="body" sz="quarter" idx="16" hasCustomPrompt="1"/>
          </p:nvPr>
        </p:nvSpPr>
        <p:spPr>
          <a:xfrm>
            <a:off x="682625" y="1519238"/>
            <a:ext cx="10823575" cy="866775"/>
          </a:xfrm>
        </p:spPr>
        <p:txBody>
          <a:bodyPr>
            <a:normAutofit/>
          </a:bodyPr>
          <a:lstStyle>
            <a:lvl1pPr marL="0" indent="0">
              <a:buNone/>
              <a:defRPr sz="1200">
                <a:latin typeface="Franklin Gothic Book" panose="020B0503020102020204" pitchFamily="34" charset="0"/>
              </a:defRPr>
            </a:lvl1pPr>
          </a:lstStyle>
          <a:p>
            <a:pPr lvl="0"/>
            <a:r>
              <a:rPr lang="en-US"/>
              <a:t>Insert BLUF</a:t>
            </a:r>
          </a:p>
        </p:txBody>
      </p:sp>
      <p:sp>
        <p:nvSpPr>
          <p:cNvPr id="19" name="Slide Number Placeholder 4">
            <a:extLst>
              <a:ext uri="{FF2B5EF4-FFF2-40B4-BE49-F238E27FC236}">
                <a16:creationId xmlns:a16="http://schemas.microsoft.com/office/drawing/2014/main" id="{50176B27-0C49-7C00-9AB6-5D5CAF6A9D99}"/>
              </a:ext>
            </a:extLst>
          </p:cNvPr>
          <p:cNvSpPr txBox="1">
            <a:spLocks/>
          </p:cNvSpPr>
          <p:nvPr userDrawn="1"/>
        </p:nvSpPr>
        <p:spPr>
          <a:xfrm>
            <a:off x="9220197" y="64515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tx2">
                    <a:lumMod val="75000"/>
                    <a:lumOff val="25000"/>
                  </a:schemeClr>
                </a:solidFill>
              </a:rPr>
              <a:pPr/>
              <a:t>‹#›</a:t>
            </a:fld>
            <a:endParaRPr lang="en-US" dirty="0">
              <a:solidFill>
                <a:schemeClr val="tx2">
                  <a:lumMod val="75000"/>
                  <a:lumOff val="25000"/>
                </a:schemeClr>
              </a:solidFill>
            </a:endParaRPr>
          </a:p>
        </p:txBody>
      </p:sp>
      <p:sp>
        <p:nvSpPr>
          <p:cNvPr id="5" name="Footer Placeholder 4">
            <a:extLst>
              <a:ext uri="{FF2B5EF4-FFF2-40B4-BE49-F238E27FC236}">
                <a16:creationId xmlns:a16="http://schemas.microsoft.com/office/drawing/2014/main" id="{365F3EC4-E575-B382-0780-E0C5E970A0A7}"/>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Federal Emergency Management Agency</a:t>
            </a:r>
          </a:p>
        </p:txBody>
      </p:sp>
      <p:sp>
        <p:nvSpPr>
          <p:cNvPr id="6" name="TextBox 5">
            <a:extLst>
              <a:ext uri="{FF2B5EF4-FFF2-40B4-BE49-F238E27FC236}">
                <a16:creationId xmlns:a16="http://schemas.microsoft.com/office/drawing/2014/main" id="{7E2A17BA-5ED4-72B3-696F-CEA0D53C87BF}"/>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solidFill>
                  <a:srgbClr val="005188"/>
                </a:solidFill>
                <a:latin typeface="+mn-lt"/>
              </a:rPr>
              <a:t>FOUO (For Official Use Only)</a:t>
            </a:r>
          </a:p>
        </p:txBody>
      </p:sp>
      <p:sp>
        <p:nvSpPr>
          <p:cNvPr id="12" name="Footer Placeholder 4">
            <a:extLst>
              <a:ext uri="{FF2B5EF4-FFF2-40B4-BE49-F238E27FC236}">
                <a16:creationId xmlns:a16="http://schemas.microsoft.com/office/drawing/2014/main" id="{5527B87C-F0DE-B285-8257-FDF9437F9D58}"/>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Business Economic Analysis Data (BEAD) Tier 1 Report</a:t>
            </a:r>
          </a:p>
        </p:txBody>
      </p:sp>
    </p:spTree>
    <p:extLst>
      <p:ext uri="{BB962C8B-B14F-4D97-AF65-F5344CB8AC3E}">
        <p14:creationId xmlns:p14="http://schemas.microsoft.com/office/powerpoint/2010/main" val="98796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ic Section: Key Stats / Takeaway / Chart">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7AC7BAD-7820-55D5-D6AD-078844BA9F6E}"/>
              </a:ext>
            </a:extLst>
          </p:cNvPr>
          <p:cNvSpPr/>
          <p:nvPr userDrawn="1"/>
        </p:nvSpPr>
        <p:spPr>
          <a:xfrm>
            <a:off x="0" y="0"/>
            <a:ext cx="12192000" cy="1600297"/>
          </a:xfrm>
          <a:prstGeom prst="rect">
            <a:avLst/>
          </a:prstGeom>
          <a:solidFill>
            <a:srgbClr val="00518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noFill/>
            </a:endParaRPr>
          </a:p>
        </p:txBody>
      </p:sp>
      <p:sp>
        <p:nvSpPr>
          <p:cNvPr id="13" name="Title 12">
            <a:extLst>
              <a:ext uri="{FF2B5EF4-FFF2-40B4-BE49-F238E27FC236}">
                <a16:creationId xmlns:a16="http://schemas.microsoft.com/office/drawing/2014/main" id="{C5415B20-894C-9F4F-8C45-42C9CA8DDC43}"/>
              </a:ext>
            </a:extLst>
          </p:cNvPr>
          <p:cNvSpPr>
            <a:spLocks noGrp="1"/>
          </p:cNvSpPr>
          <p:nvPr>
            <p:ph type="title" hasCustomPrompt="1"/>
          </p:nvPr>
        </p:nvSpPr>
        <p:spPr>
          <a:xfrm>
            <a:off x="683238" y="723667"/>
            <a:ext cx="10822962" cy="457200"/>
          </a:xfrm>
          <a:prstGeom prst="rect">
            <a:avLst/>
          </a:prstGeom>
        </p:spPr>
        <p:txBody>
          <a:bodyPr anchor="ctr">
            <a:noAutofit/>
          </a:bodyPr>
          <a:lstStyle>
            <a:lvl1pPr>
              <a:lnSpc>
                <a:spcPts val="4400"/>
              </a:lnSpc>
              <a:defRPr sz="2800">
                <a:solidFill>
                  <a:schemeClr val="bg1"/>
                </a:solidFill>
                <a:latin typeface="Franklin Gothic Heavy" panose="020B0903020102020204" pitchFamily="34" charset="0"/>
              </a:defRPr>
            </a:lvl1pPr>
          </a:lstStyle>
          <a:p>
            <a:r>
              <a:rPr lang="en-US" dirty="0">
                <a:latin typeface="Franklin Gothic Heavy"/>
              </a:rPr>
              <a:t>[TITLE] </a:t>
            </a:r>
            <a:r>
              <a:rPr lang="en-US" dirty="0"/>
              <a:t>– [INSERT LOCATION]</a:t>
            </a:r>
          </a:p>
        </p:txBody>
      </p:sp>
      <p:sp>
        <p:nvSpPr>
          <p:cNvPr id="7" name="Footer Placeholder 4">
            <a:extLst>
              <a:ext uri="{FF2B5EF4-FFF2-40B4-BE49-F238E27FC236}">
                <a16:creationId xmlns:a16="http://schemas.microsoft.com/office/drawing/2014/main" id="{D5585C0B-1CC5-4DF6-E0D7-5EE3749B83EC}"/>
              </a:ext>
            </a:extLst>
          </p:cNvPr>
          <p:cNvSpPr txBox="1">
            <a:spLocks/>
          </p:cNvSpPr>
          <p:nvPr userDrawn="1"/>
        </p:nvSpPr>
        <p:spPr>
          <a:xfrm>
            <a:off x="3786634"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Federal Emergency Management Agency</a:t>
            </a:r>
          </a:p>
        </p:txBody>
      </p:sp>
      <p:sp>
        <p:nvSpPr>
          <p:cNvPr id="19" name="Footer Placeholder 4">
            <a:extLst>
              <a:ext uri="{FF2B5EF4-FFF2-40B4-BE49-F238E27FC236}">
                <a16:creationId xmlns:a16="http://schemas.microsoft.com/office/drawing/2014/main" id="{209B460A-EDE7-07F0-1661-D0EC7BD27687}"/>
              </a:ext>
            </a:extLst>
          </p:cNvPr>
          <p:cNvSpPr txBox="1">
            <a:spLocks/>
          </p:cNvSpPr>
          <p:nvPr userDrawn="1"/>
        </p:nvSpPr>
        <p:spPr>
          <a:xfrm>
            <a:off x="683238"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20" name="Slide Number Placeholder 5">
            <a:extLst>
              <a:ext uri="{FF2B5EF4-FFF2-40B4-BE49-F238E27FC236}">
                <a16:creationId xmlns:a16="http://schemas.microsoft.com/office/drawing/2014/main" id="{80B54882-2840-2604-9037-D75D4A7CE4CF}"/>
              </a:ext>
            </a:extLst>
          </p:cNvPr>
          <p:cNvSpPr txBox="1">
            <a:spLocks/>
          </p:cNvSpPr>
          <p:nvPr userDrawn="1"/>
        </p:nvSpPr>
        <p:spPr>
          <a:xfrm>
            <a:off x="10596414"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005188"/>
                </a:solidFill>
              </a:rPr>
              <a:t>FEMA.GOV</a:t>
            </a:r>
          </a:p>
        </p:txBody>
      </p:sp>
      <p:cxnSp>
        <p:nvCxnSpPr>
          <p:cNvPr id="21" name="Straight Connector 20">
            <a:extLst>
              <a:ext uri="{FF2B5EF4-FFF2-40B4-BE49-F238E27FC236}">
                <a16:creationId xmlns:a16="http://schemas.microsoft.com/office/drawing/2014/main" id="{DA4B131F-B9FF-70DF-DEDF-C0982BAEC01B}"/>
              </a:ext>
            </a:extLst>
          </p:cNvPr>
          <p:cNvCxnSpPr>
            <a:cxnSpLocks/>
          </p:cNvCxnSpPr>
          <p:nvPr userDrawn="1"/>
        </p:nvCxnSpPr>
        <p:spPr>
          <a:xfrm>
            <a:off x="4397188" y="6312051"/>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sp>
        <p:nvSpPr>
          <p:cNvPr id="23" name="Content Placeholder 22">
            <a:extLst>
              <a:ext uri="{FF2B5EF4-FFF2-40B4-BE49-F238E27FC236}">
                <a16:creationId xmlns:a16="http://schemas.microsoft.com/office/drawing/2014/main" id="{A766F6E7-ABA0-199F-224A-9DAF39CEC326}"/>
              </a:ext>
            </a:extLst>
          </p:cNvPr>
          <p:cNvSpPr>
            <a:spLocks noGrp="1"/>
          </p:cNvSpPr>
          <p:nvPr>
            <p:ph sz="quarter" idx="13" hasCustomPrompt="1"/>
          </p:nvPr>
        </p:nvSpPr>
        <p:spPr>
          <a:xfrm>
            <a:off x="5605669" y="1818045"/>
            <a:ext cx="5905293" cy="4141385"/>
          </a:xfrm>
          <a:prstGeom prst="rect">
            <a:avLst/>
          </a:prstGeom>
        </p:spPr>
        <p:txBody>
          <a:bodyPr/>
          <a:lstStyle>
            <a:lvl1pPr marL="0" indent="0">
              <a:buFont typeface="Arial" panose="020B0604020202020204" pitchFamily="34" charset="0"/>
              <a:buNone/>
              <a:defRPr sz="18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INSERT CHART OR MAP</a:t>
            </a:r>
          </a:p>
        </p:txBody>
      </p:sp>
      <p:sp>
        <p:nvSpPr>
          <p:cNvPr id="26" name="Rectangle 25">
            <a:extLst>
              <a:ext uri="{FF2B5EF4-FFF2-40B4-BE49-F238E27FC236}">
                <a16:creationId xmlns:a16="http://schemas.microsoft.com/office/drawing/2014/main" id="{D45A9768-47B8-7F5A-2E8C-1D8C598A0CC5}"/>
              </a:ext>
            </a:extLst>
          </p:cNvPr>
          <p:cNvSpPr/>
          <p:nvPr userDrawn="1"/>
        </p:nvSpPr>
        <p:spPr>
          <a:xfrm rot="16200000">
            <a:off x="11346177" y="845915"/>
            <a:ext cx="91440" cy="1600200"/>
          </a:xfrm>
          <a:prstGeom prst="rect">
            <a:avLst/>
          </a:prstGeom>
          <a:solidFill>
            <a:srgbClr val="3D98C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 Placeholder 3">
            <a:extLst>
              <a:ext uri="{FF2B5EF4-FFF2-40B4-BE49-F238E27FC236}">
                <a16:creationId xmlns:a16="http://schemas.microsoft.com/office/drawing/2014/main" id="{018DD0F3-545A-D500-B75B-BF1C28FF4F5C}"/>
              </a:ext>
            </a:extLst>
          </p:cNvPr>
          <p:cNvSpPr>
            <a:spLocks noGrp="1"/>
          </p:cNvSpPr>
          <p:nvPr>
            <p:ph type="body" sz="quarter" idx="14" hasCustomPrompt="1"/>
          </p:nvPr>
        </p:nvSpPr>
        <p:spPr>
          <a:xfrm>
            <a:off x="365125" y="1817688"/>
            <a:ext cx="5002213" cy="4141787"/>
          </a:xfrm>
        </p:spPr>
        <p:txBody>
          <a:bodyPr>
            <a:normAutofit/>
          </a:bodyPr>
          <a:lstStyle>
            <a:lvl1pPr marL="0" indent="0">
              <a:lnSpc>
                <a:spcPct val="100000"/>
              </a:lnSpc>
              <a:spcBef>
                <a:spcPts val="600"/>
              </a:spcBef>
              <a:buFont typeface="Arial" panose="020B0604020202020204" pitchFamily="34" charset="0"/>
              <a:buChar char="•"/>
              <a:defRPr sz="1600" b="1"/>
            </a:lvl1pPr>
            <a:lvl2pPr marL="457200" indent="0">
              <a:buNone/>
              <a:defRPr sz="1600"/>
            </a:lvl2pPr>
          </a:lstStyle>
          <a:p>
            <a:pPr marL="0" indent="0">
              <a:lnSpc>
                <a:spcPct val="100000"/>
              </a:lnSpc>
              <a:buFont typeface="Arial" panose="020B0604020202020204" pitchFamily="34" charset="0"/>
              <a:buNone/>
            </a:pPr>
            <a:r>
              <a:rPr lang="en-US" sz="1600" dirty="0"/>
              <a:t>Key BLUF/takeaway statement summarizing the most important information on this slide (bolded, no period, no bullet)</a:t>
            </a:r>
          </a:p>
          <a:p>
            <a:pPr>
              <a:lnSpc>
                <a:spcPct val="100000"/>
              </a:lnSpc>
            </a:pPr>
            <a:r>
              <a:rPr lang="en-US" sz="1600" b="0" dirty="0"/>
              <a:t>Supporting information or statistics </a:t>
            </a:r>
          </a:p>
          <a:p>
            <a:pPr>
              <a:lnSpc>
                <a:spcPct val="100000"/>
              </a:lnSpc>
            </a:pPr>
            <a:r>
              <a:rPr lang="en-US" sz="1600" b="0" dirty="0"/>
              <a:t>Never add periods to the end of bullets </a:t>
            </a:r>
          </a:p>
          <a:p>
            <a:pPr>
              <a:lnSpc>
                <a:spcPct val="100000"/>
              </a:lnSpc>
            </a:pPr>
            <a:r>
              <a:rPr lang="en-US" sz="1600" b="0" dirty="0"/>
              <a:t>Font should always be Franklin Gothic Book &amp; never smaller than size 12, ideally size 14</a:t>
            </a:r>
          </a:p>
        </p:txBody>
      </p:sp>
      <p:sp>
        <p:nvSpPr>
          <p:cNvPr id="3" name="TextBox 2">
            <a:extLst>
              <a:ext uri="{FF2B5EF4-FFF2-40B4-BE49-F238E27FC236}">
                <a16:creationId xmlns:a16="http://schemas.microsoft.com/office/drawing/2014/main" id="{1498B141-DAC7-C194-8389-389FF606BCEA}"/>
              </a:ext>
            </a:extLst>
          </p:cNvPr>
          <p:cNvSpPr txBox="1"/>
          <p:nvPr userDrawn="1"/>
        </p:nvSpPr>
        <p:spPr>
          <a:xfrm>
            <a:off x="667265"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latin typeface="+mn-lt"/>
              </a:rPr>
              <a:t>FOUO (For Official Use Only)</a:t>
            </a:r>
          </a:p>
        </p:txBody>
      </p:sp>
      <p:sp>
        <p:nvSpPr>
          <p:cNvPr id="5" name="Slide Number Placeholder 4">
            <a:extLst>
              <a:ext uri="{FF2B5EF4-FFF2-40B4-BE49-F238E27FC236}">
                <a16:creationId xmlns:a16="http://schemas.microsoft.com/office/drawing/2014/main" id="{6BD3DF57-0AEF-7216-7405-BB13D22C5BBB}"/>
              </a:ext>
            </a:extLst>
          </p:cNvPr>
          <p:cNvSpPr txBox="1">
            <a:spLocks/>
          </p:cNvSpPr>
          <p:nvPr userDrawn="1"/>
        </p:nvSpPr>
        <p:spPr>
          <a:xfrm>
            <a:off x="11490298" y="6355883"/>
            <a:ext cx="42525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rgbClr val="005188"/>
                </a:solidFill>
              </a:rPr>
              <a:pPr/>
              <a:t>‹#›</a:t>
            </a:fld>
            <a:endParaRPr lang="en-US">
              <a:solidFill>
                <a:srgbClr val="005188"/>
              </a:solidFill>
            </a:endParaRPr>
          </a:p>
        </p:txBody>
      </p:sp>
      <p:sp>
        <p:nvSpPr>
          <p:cNvPr id="11" name="Footer Placeholder 4">
            <a:extLst>
              <a:ext uri="{FF2B5EF4-FFF2-40B4-BE49-F238E27FC236}">
                <a16:creationId xmlns:a16="http://schemas.microsoft.com/office/drawing/2014/main" id="{05AD3E66-74A5-F13A-DDE1-38777CA0CB05}"/>
              </a:ext>
            </a:extLst>
          </p:cNvPr>
          <p:cNvSpPr txBox="1">
            <a:spLocks/>
          </p:cNvSpPr>
          <p:nvPr userDrawn="1"/>
        </p:nvSpPr>
        <p:spPr>
          <a:xfrm>
            <a:off x="7688239"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Business Economic Analysis Data (BEAD) Tier 1 Report</a:t>
            </a:r>
          </a:p>
        </p:txBody>
      </p:sp>
    </p:spTree>
    <p:extLst>
      <p:ext uri="{BB962C8B-B14F-4D97-AF65-F5344CB8AC3E}">
        <p14:creationId xmlns:p14="http://schemas.microsoft.com/office/powerpoint/2010/main" val="1788743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ta Sources">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7AC7BAD-7820-55D5-D6AD-078844BA9F6E}"/>
              </a:ext>
            </a:extLst>
          </p:cNvPr>
          <p:cNvSpPr/>
          <p:nvPr userDrawn="1"/>
        </p:nvSpPr>
        <p:spPr>
          <a:xfrm>
            <a:off x="0" y="0"/>
            <a:ext cx="12192000" cy="1600297"/>
          </a:xfrm>
          <a:prstGeom prst="rect">
            <a:avLst/>
          </a:prstGeom>
          <a:solidFill>
            <a:srgbClr val="00518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a:noFill/>
            </a:endParaRPr>
          </a:p>
        </p:txBody>
      </p:sp>
      <p:sp>
        <p:nvSpPr>
          <p:cNvPr id="13" name="Title 12">
            <a:extLst>
              <a:ext uri="{FF2B5EF4-FFF2-40B4-BE49-F238E27FC236}">
                <a16:creationId xmlns:a16="http://schemas.microsoft.com/office/drawing/2014/main" id="{C5415B20-894C-9F4F-8C45-42C9CA8DDC43}"/>
              </a:ext>
            </a:extLst>
          </p:cNvPr>
          <p:cNvSpPr>
            <a:spLocks noGrp="1"/>
          </p:cNvSpPr>
          <p:nvPr>
            <p:ph type="title" hasCustomPrompt="1"/>
          </p:nvPr>
        </p:nvSpPr>
        <p:spPr>
          <a:xfrm>
            <a:off x="683238" y="723667"/>
            <a:ext cx="10822962" cy="457200"/>
          </a:xfrm>
          <a:prstGeom prst="rect">
            <a:avLst/>
          </a:prstGeom>
        </p:spPr>
        <p:txBody>
          <a:bodyPr anchor="ctr">
            <a:noAutofit/>
          </a:bodyPr>
          <a:lstStyle>
            <a:lvl1pPr>
              <a:lnSpc>
                <a:spcPts val="4400"/>
              </a:lnSpc>
              <a:defRPr sz="2800">
                <a:solidFill>
                  <a:schemeClr val="bg1"/>
                </a:solidFill>
                <a:latin typeface="Franklin Gothic Heavy" panose="020B0903020102020204" pitchFamily="34" charset="0"/>
              </a:defRPr>
            </a:lvl1pPr>
          </a:lstStyle>
          <a:p>
            <a:r>
              <a:rPr lang="en-US" dirty="0">
                <a:latin typeface="Franklin Gothic Heavy"/>
              </a:rPr>
              <a:t>Data Sources</a:t>
            </a:r>
            <a:endParaRPr lang="en-US" dirty="0"/>
          </a:p>
        </p:txBody>
      </p:sp>
      <p:sp>
        <p:nvSpPr>
          <p:cNvPr id="19" name="Footer Placeholder 4">
            <a:extLst>
              <a:ext uri="{FF2B5EF4-FFF2-40B4-BE49-F238E27FC236}">
                <a16:creationId xmlns:a16="http://schemas.microsoft.com/office/drawing/2014/main" id="{209B460A-EDE7-07F0-1661-D0EC7BD27687}"/>
              </a:ext>
            </a:extLst>
          </p:cNvPr>
          <p:cNvSpPr txBox="1">
            <a:spLocks/>
          </p:cNvSpPr>
          <p:nvPr userDrawn="1"/>
        </p:nvSpPr>
        <p:spPr>
          <a:xfrm>
            <a:off x="683238"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20" name="Slide Number Placeholder 5">
            <a:extLst>
              <a:ext uri="{FF2B5EF4-FFF2-40B4-BE49-F238E27FC236}">
                <a16:creationId xmlns:a16="http://schemas.microsoft.com/office/drawing/2014/main" id="{80B54882-2840-2604-9037-D75D4A7CE4CF}"/>
              </a:ext>
            </a:extLst>
          </p:cNvPr>
          <p:cNvSpPr txBox="1">
            <a:spLocks/>
          </p:cNvSpPr>
          <p:nvPr userDrawn="1"/>
        </p:nvSpPr>
        <p:spPr>
          <a:xfrm>
            <a:off x="10596414"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005188"/>
                </a:solidFill>
              </a:rPr>
              <a:t>FEMA.GOV</a:t>
            </a:r>
          </a:p>
        </p:txBody>
      </p:sp>
      <p:cxnSp>
        <p:nvCxnSpPr>
          <p:cNvPr id="21" name="Straight Connector 20">
            <a:extLst>
              <a:ext uri="{FF2B5EF4-FFF2-40B4-BE49-F238E27FC236}">
                <a16:creationId xmlns:a16="http://schemas.microsoft.com/office/drawing/2014/main" id="{DA4B131F-B9FF-70DF-DEDF-C0982BAEC01B}"/>
              </a:ext>
            </a:extLst>
          </p:cNvPr>
          <p:cNvCxnSpPr>
            <a:cxnSpLocks/>
          </p:cNvCxnSpPr>
          <p:nvPr userDrawn="1"/>
        </p:nvCxnSpPr>
        <p:spPr>
          <a:xfrm>
            <a:off x="4397188" y="6312051"/>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sp>
        <p:nvSpPr>
          <p:cNvPr id="26" name="Rectangle 25">
            <a:extLst>
              <a:ext uri="{FF2B5EF4-FFF2-40B4-BE49-F238E27FC236}">
                <a16:creationId xmlns:a16="http://schemas.microsoft.com/office/drawing/2014/main" id="{D45A9768-47B8-7F5A-2E8C-1D8C598A0CC5}"/>
              </a:ext>
            </a:extLst>
          </p:cNvPr>
          <p:cNvSpPr/>
          <p:nvPr userDrawn="1"/>
        </p:nvSpPr>
        <p:spPr>
          <a:xfrm rot="16200000">
            <a:off x="11346177" y="845915"/>
            <a:ext cx="91440" cy="1600200"/>
          </a:xfrm>
          <a:prstGeom prst="rect">
            <a:avLst/>
          </a:prstGeom>
          <a:solidFill>
            <a:srgbClr val="3D98C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Footer Placeholder 4">
            <a:extLst>
              <a:ext uri="{FF2B5EF4-FFF2-40B4-BE49-F238E27FC236}">
                <a16:creationId xmlns:a16="http://schemas.microsoft.com/office/drawing/2014/main" id="{8F731F1A-AB40-59B6-24BB-25176CD89904}"/>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Federal Emergency Management Agency</a:t>
            </a:r>
          </a:p>
        </p:txBody>
      </p:sp>
      <p:sp>
        <p:nvSpPr>
          <p:cNvPr id="5" name="TextBox 4">
            <a:extLst>
              <a:ext uri="{FF2B5EF4-FFF2-40B4-BE49-F238E27FC236}">
                <a16:creationId xmlns:a16="http://schemas.microsoft.com/office/drawing/2014/main" id="{22C71C06-AD87-10A9-B041-2500EFBE3D42}"/>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latin typeface="+mn-lt"/>
              </a:rPr>
              <a:t>FOUO (For Official Use Only)</a:t>
            </a:r>
          </a:p>
        </p:txBody>
      </p:sp>
      <p:sp>
        <p:nvSpPr>
          <p:cNvPr id="6" name="Footer Placeholder 4">
            <a:extLst>
              <a:ext uri="{FF2B5EF4-FFF2-40B4-BE49-F238E27FC236}">
                <a16:creationId xmlns:a16="http://schemas.microsoft.com/office/drawing/2014/main" id="{578742F2-4F4A-B23D-48B2-70F0E0C787F6}"/>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Business Economic Analysis Data (BEAD) Tier 1 Report</a:t>
            </a:r>
          </a:p>
        </p:txBody>
      </p:sp>
      <p:sp>
        <p:nvSpPr>
          <p:cNvPr id="8" name="Slide Number Placeholder 4">
            <a:extLst>
              <a:ext uri="{FF2B5EF4-FFF2-40B4-BE49-F238E27FC236}">
                <a16:creationId xmlns:a16="http://schemas.microsoft.com/office/drawing/2014/main" id="{E3E3D5B1-4BC8-2A7D-C9A9-79B6280308FE}"/>
              </a:ext>
            </a:extLst>
          </p:cNvPr>
          <p:cNvSpPr txBox="1">
            <a:spLocks/>
          </p:cNvSpPr>
          <p:nvPr userDrawn="1"/>
        </p:nvSpPr>
        <p:spPr>
          <a:xfrm>
            <a:off x="9220197" y="64515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tx2">
                    <a:lumMod val="75000"/>
                    <a:lumOff val="25000"/>
                  </a:schemeClr>
                </a:solidFill>
              </a:rPr>
              <a:pPr/>
              <a:t>‹#›</a:t>
            </a:fld>
            <a:endParaRPr lang="en-US" dirty="0">
              <a:solidFill>
                <a:schemeClr val="tx2">
                  <a:lumMod val="75000"/>
                  <a:lumOff val="25000"/>
                </a:schemeClr>
              </a:solidFill>
            </a:endParaRPr>
          </a:p>
        </p:txBody>
      </p:sp>
    </p:spTree>
    <p:extLst>
      <p:ext uri="{BB962C8B-B14F-4D97-AF65-F5344CB8AC3E}">
        <p14:creationId xmlns:p14="http://schemas.microsoft.com/office/powerpoint/2010/main" val="252456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able of Conten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A748126-777C-5CE9-8208-25F07E61DBF9}"/>
              </a:ext>
            </a:extLst>
          </p:cNvPr>
          <p:cNvSpPr/>
          <p:nvPr userDrawn="1"/>
        </p:nvSpPr>
        <p:spPr>
          <a:xfrm>
            <a:off x="5210174" y="1138020"/>
            <a:ext cx="6981825" cy="5719980"/>
          </a:xfrm>
          <a:prstGeom prst="rect">
            <a:avLst/>
          </a:prstGeom>
          <a:solidFill>
            <a:srgbClr val="00518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 Placeholder 2"/>
          <p:cNvSpPr>
            <a:spLocks noGrp="1"/>
          </p:cNvSpPr>
          <p:nvPr>
            <p:ph idx="1"/>
          </p:nvPr>
        </p:nvSpPr>
        <p:spPr>
          <a:xfrm>
            <a:off x="5431699" y="1380966"/>
            <a:ext cx="6559175" cy="4562835"/>
          </a:xfrm>
          <a:prstGeom prst="rect">
            <a:avLst/>
          </a:prstGeom>
        </p:spPr>
        <p:txBody>
          <a:bodyPr vert="horz" lIns="91440" tIns="45720" rIns="91440" bIns="45720" rtlCol="0">
            <a:normAutofit/>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16" name="Picture Placeholder 15">
            <a:extLst>
              <a:ext uri="{FF2B5EF4-FFF2-40B4-BE49-F238E27FC236}">
                <a16:creationId xmlns:a16="http://schemas.microsoft.com/office/drawing/2014/main" id="{83F2EFF1-E97C-2A0D-25D9-679E7335D922}"/>
              </a:ext>
            </a:extLst>
          </p:cNvPr>
          <p:cNvSpPr>
            <a:spLocks noGrp="1"/>
          </p:cNvSpPr>
          <p:nvPr>
            <p:ph type="pic" sz="quarter" idx="13"/>
          </p:nvPr>
        </p:nvSpPr>
        <p:spPr>
          <a:xfrm>
            <a:off x="0" y="2281021"/>
            <a:ext cx="5210175" cy="3662780"/>
          </a:xfrm>
          <a:prstGeom prst="rect">
            <a:avLst/>
          </a:prstGeom>
          <a:solidFill>
            <a:srgbClr val="EDEEEE"/>
          </a:solidFill>
        </p:spPr>
        <p:txBody>
          <a:bodyPr/>
          <a:lstStyle>
            <a:lvl1pPr>
              <a:defRPr sz="1800"/>
            </a:lvl1pPr>
          </a:lstStyle>
          <a:p>
            <a:endParaRPr lang="en-US"/>
          </a:p>
        </p:txBody>
      </p:sp>
      <p:sp>
        <p:nvSpPr>
          <p:cNvPr id="13" name="Title 12">
            <a:extLst>
              <a:ext uri="{FF2B5EF4-FFF2-40B4-BE49-F238E27FC236}">
                <a16:creationId xmlns:a16="http://schemas.microsoft.com/office/drawing/2014/main" id="{C5415B20-894C-9F4F-8C45-42C9CA8DDC43}"/>
              </a:ext>
            </a:extLst>
          </p:cNvPr>
          <p:cNvSpPr>
            <a:spLocks noGrp="1"/>
          </p:cNvSpPr>
          <p:nvPr>
            <p:ph type="title" hasCustomPrompt="1"/>
          </p:nvPr>
        </p:nvSpPr>
        <p:spPr>
          <a:xfrm>
            <a:off x="683238" y="1138020"/>
            <a:ext cx="4298335" cy="914400"/>
          </a:xfrm>
          <a:prstGeom prst="rect">
            <a:avLst/>
          </a:prstGeom>
        </p:spPr>
        <p:txBody>
          <a:bodyPr anchor="t"/>
          <a:lstStyle>
            <a:lvl1pPr>
              <a:lnSpc>
                <a:spcPts val="3600"/>
              </a:lnSpc>
              <a:defRPr sz="3600">
                <a:solidFill>
                  <a:srgbClr val="005288"/>
                </a:solidFill>
                <a:latin typeface="Franklin Gothic Heavy" panose="020B0903020102020204" pitchFamily="34" charset="0"/>
              </a:defRPr>
            </a:lvl1pPr>
          </a:lstStyle>
          <a:p>
            <a:r>
              <a:rPr lang="en-US"/>
              <a:t>TABLE OF </a:t>
            </a:r>
            <a:br>
              <a:rPr lang="en-US"/>
            </a:br>
            <a:r>
              <a:rPr lang="en-US"/>
              <a:t>CONTENT</a:t>
            </a:r>
          </a:p>
        </p:txBody>
      </p:sp>
      <p:sp>
        <p:nvSpPr>
          <p:cNvPr id="9" name="Footer Placeholder 4">
            <a:extLst>
              <a:ext uri="{FF2B5EF4-FFF2-40B4-BE49-F238E27FC236}">
                <a16:creationId xmlns:a16="http://schemas.microsoft.com/office/drawing/2014/main" id="{4F22C56A-106C-0E5F-1D4F-7E175AD10A3C}"/>
              </a:ext>
            </a:extLst>
          </p:cNvPr>
          <p:cNvSpPr txBox="1">
            <a:spLocks/>
          </p:cNvSpPr>
          <p:nvPr userDrawn="1"/>
        </p:nvSpPr>
        <p:spPr>
          <a:xfrm>
            <a:off x="738189"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10" name="Slide Number Placeholder 5">
            <a:extLst>
              <a:ext uri="{FF2B5EF4-FFF2-40B4-BE49-F238E27FC236}">
                <a16:creationId xmlns:a16="http://schemas.microsoft.com/office/drawing/2014/main" id="{9E19CA39-588F-8A10-B614-E723AB88A4C1}"/>
              </a:ext>
            </a:extLst>
          </p:cNvPr>
          <p:cNvSpPr txBox="1">
            <a:spLocks/>
          </p:cNvSpPr>
          <p:nvPr userDrawn="1"/>
        </p:nvSpPr>
        <p:spPr>
          <a:xfrm>
            <a:off x="10646748"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chemeClr val="bg1"/>
                </a:solidFill>
              </a:rPr>
              <a:t>FEMA.GOV</a:t>
            </a:r>
          </a:p>
        </p:txBody>
      </p:sp>
      <p:cxnSp>
        <p:nvCxnSpPr>
          <p:cNvPr id="11" name="Straight Connector 10">
            <a:extLst>
              <a:ext uri="{FF2B5EF4-FFF2-40B4-BE49-F238E27FC236}">
                <a16:creationId xmlns:a16="http://schemas.microsoft.com/office/drawing/2014/main" id="{AE0306DA-98AD-A0E2-B943-F4F33785C7E5}"/>
              </a:ext>
            </a:extLst>
          </p:cNvPr>
          <p:cNvCxnSpPr>
            <a:cxnSpLocks/>
          </p:cNvCxnSpPr>
          <p:nvPr userDrawn="1"/>
        </p:nvCxnSpPr>
        <p:spPr>
          <a:xfrm>
            <a:off x="4397188" y="6312051"/>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cxnSp>
        <p:nvCxnSpPr>
          <p:cNvPr id="4" name="Straight Connector 3">
            <a:extLst>
              <a:ext uri="{FF2B5EF4-FFF2-40B4-BE49-F238E27FC236}">
                <a16:creationId xmlns:a16="http://schemas.microsoft.com/office/drawing/2014/main" id="{B4EEF33D-DAFF-8C23-22A4-72E086FB7CE0}"/>
              </a:ext>
            </a:extLst>
          </p:cNvPr>
          <p:cNvCxnSpPr>
            <a:cxnSpLocks/>
          </p:cNvCxnSpPr>
          <p:nvPr userDrawn="1"/>
        </p:nvCxnSpPr>
        <p:spPr>
          <a:xfrm>
            <a:off x="5210175" y="6312051"/>
            <a:ext cx="5149440" cy="0"/>
          </a:xfrm>
          <a:prstGeom prst="line">
            <a:avLst/>
          </a:prstGeom>
          <a:ln w="19050">
            <a:solidFill>
              <a:schemeClr val="bg1"/>
            </a:solidFill>
          </a:ln>
        </p:spPr>
        <p:style>
          <a:lnRef idx="1">
            <a:schemeClr val="accent3"/>
          </a:lnRef>
          <a:fillRef idx="0">
            <a:schemeClr val="accent3"/>
          </a:fillRef>
          <a:effectRef idx="0">
            <a:schemeClr val="accent3"/>
          </a:effectRef>
          <a:fontRef idx="minor">
            <a:schemeClr val="tx1"/>
          </a:fontRef>
        </p:style>
      </p:cxnSp>
      <p:sp>
        <p:nvSpPr>
          <p:cNvPr id="3" name="Rectangle 2">
            <a:extLst>
              <a:ext uri="{FF2B5EF4-FFF2-40B4-BE49-F238E27FC236}">
                <a16:creationId xmlns:a16="http://schemas.microsoft.com/office/drawing/2014/main" id="{8C5310AB-8CEC-0439-AA42-00BCD3439538}"/>
              </a:ext>
            </a:extLst>
          </p:cNvPr>
          <p:cNvSpPr/>
          <p:nvPr userDrawn="1"/>
        </p:nvSpPr>
        <p:spPr>
          <a:xfrm>
            <a:off x="-2562" y="1138020"/>
            <a:ext cx="228600" cy="914400"/>
          </a:xfrm>
          <a:prstGeom prst="rect">
            <a:avLst/>
          </a:prstGeom>
          <a:solidFill>
            <a:srgbClr val="D24B6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Footer Placeholder 4">
            <a:extLst>
              <a:ext uri="{FF2B5EF4-FFF2-40B4-BE49-F238E27FC236}">
                <a16:creationId xmlns:a16="http://schemas.microsoft.com/office/drawing/2014/main" id="{A587D2DB-9953-1A34-EEB8-8029C343D3C2}"/>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Federal Emergency Management Agency</a:t>
            </a:r>
          </a:p>
        </p:txBody>
      </p:sp>
      <p:sp>
        <p:nvSpPr>
          <p:cNvPr id="14" name="TextBox 13">
            <a:extLst>
              <a:ext uri="{FF2B5EF4-FFF2-40B4-BE49-F238E27FC236}">
                <a16:creationId xmlns:a16="http://schemas.microsoft.com/office/drawing/2014/main" id="{48CA6B8D-786C-8916-991E-92FC63720774}"/>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solidFill>
                  <a:srgbClr val="005188"/>
                </a:solidFill>
                <a:latin typeface="+mn-lt"/>
              </a:rPr>
              <a:t>FOUO (For Official Use Only)</a:t>
            </a:r>
          </a:p>
        </p:txBody>
      </p:sp>
      <p:sp>
        <p:nvSpPr>
          <p:cNvPr id="15" name="Footer Placeholder 4">
            <a:extLst>
              <a:ext uri="{FF2B5EF4-FFF2-40B4-BE49-F238E27FC236}">
                <a16:creationId xmlns:a16="http://schemas.microsoft.com/office/drawing/2014/main" id="{6242C11A-2549-0DD2-3E3A-5ED08F4B79D3}"/>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Business Economic Analysis Data (BEAD) Tier 1 Report</a:t>
            </a:r>
          </a:p>
        </p:txBody>
      </p:sp>
      <p:sp>
        <p:nvSpPr>
          <p:cNvPr id="17" name="Slide Number Placeholder 4">
            <a:extLst>
              <a:ext uri="{FF2B5EF4-FFF2-40B4-BE49-F238E27FC236}">
                <a16:creationId xmlns:a16="http://schemas.microsoft.com/office/drawing/2014/main" id="{21719BFD-D741-DC3B-E52E-F7F725446AF3}"/>
              </a:ext>
            </a:extLst>
          </p:cNvPr>
          <p:cNvSpPr txBox="1">
            <a:spLocks/>
          </p:cNvSpPr>
          <p:nvPr userDrawn="1"/>
        </p:nvSpPr>
        <p:spPr>
          <a:xfrm>
            <a:off x="9220197" y="64515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bg1"/>
                </a:solidFill>
              </a:rPr>
              <a:pPr/>
              <a:t>‹#›</a:t>
            </a:fld>
            <a:endParaRPr lang="en-US" dirty="0">
              <a:solidFill>
                <a:schemeClr val="bg1"/>
              </a:solidFill>
            </a:endParaRPr>
          </a:p>
        </p:txBody>
      </p:sp>
    </p:spTree>
    <p:extLst>
      <p:ext uri="{BB962C8B-B14F-4D97-AF65-F5344CB8AC3E}">
        <p14:creationId xmlns:p14="http://schemas.microsoft.com/office/powerpoint/2010/main" val="1490340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0B9F23-FC0F-C3BD-202A-627C50EA2A35}"/>
              </a:ext>
            </a:extLst>
          </p:cNvPr>
          <p:cNvSpPr/>
          <p:nvPr userDrawn="1"/>
        </p:nvSpPr>
        <p:spPr>
          <a:xfrm>
            <a:off x="0" y="0"/>
            <a:ext cx="12192000" cy="6858001"/>
          </a:xfrm>
          <a:prstGeom prst="rect">
            <a:avLst/>
          </a:prstGeom>
          <a:solidFill>
            <a:srgbClr val="003D6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9" name="Title 2">
            <a:extLst>
              <a:ext uri="{FF2B5EF4-FFF2-40B4-BE49-F238E27FC236}">
                <a16:creationId xmlns:a16="http://schemas.microsoft.com/office/drawing/2014/main" id="{725A2850-52BB-81ED-890C-DD762F25E87E}"/>
              </a:ext>
            </a:extLst>
          </p:cNvPr>
          <p:cNvSpPr>
            <a:spLocks noGrp="1"/>
          </p:cNvSpPr>
          <p:nvPr>
            <p:ph type="title" hasCustomPrompt="1"/>
          </p:nvPr>
        </p:nvSpPr>
        <p:spPr>
          <a:xfrm>
            <a:off x="685800" y="2083093"/>
            <a:ext cx="10820400" cy="1246472"/>
          </a:xfrm>
          <a:prstGeom prst="rect">
            <a:avLst/>
          </a:prstGeom>
        </p:spPr>
        <p:txBody>
          <a:bodyPr>
            <a:noAutofit/>
          </a:bodyPr>
          <a:lstStyle>
            <a:lvl1pPr>
              <a:lnSpc>
                <a:spcPts val="5400"/>
              </a:lnSpc>
              <a:defRPr sz="5400" b="0">
                <a:solidFill>
                  <a:schemeClr val="bg1"/>
                </a:solidFill>
                <a:latin typeface="Franklin Gothic Heavy" panose="020B0903020102020204" pitchFamily="34" charset="0"/>
                <a:cs typeface="Arial"/>
              </a:defRPr>
            </a:lvl1pPr>
          </a:lstStyle>
          <a:p>
            <a:r>
              <a:rPr lang="en-US" dirty="0"/>
              <a:t>UPDATE TITLE GOES HERE: Hazard &amp; AOI</a:t>
            </a:r>
          </a:p>
        </p:txBody>
      </p:sp>
      <p:sp>
        <p:nvSpPr>
          <p:cNvPr id="11" name="Text Placeholder 5">
            <a:extLst>
              <a:ext uri="{FF2B5EF4-FFF2-40B4-BE49-F238E27FC236}">
                <a16:creationId xmlns:a16="http://schemas.microsoft.com/office/drawing/2014/main" id="{142E9A10-C261-AC17-40D3-568668A5F77E}"/>
              </a:ext>
            </a:extLst>
          </p:cNvPr>
          <p:cNvSpPr>
            <a:spLocks noGrp="1"/>
          </p:cNvSpPr>
          <p:nvPr>
            <p:ph type="body" sz="quarter" idx="10" hasCustomPrompt="1"/>
          </p:nvPr>
        </p:nvSpPr>
        <p:spPr>
          <a:xfrm>
            <a:off x="685799" y="3809935"/>
            <a:ext cx="10820401" cy="410936"/>
          </a:xfrm>
          <a:prstGeom prst="rect">
            <a:avLst/>
          </a:prstGeom>
        </p:spPr>
        <p:txBody>
          <a:bodyPr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a:solidFill>
                  <a:schemeClr val="bg1"/>
                </a:solidFill>
                <a:latin typeface="+mj-lt"/>
                <a:cs typeface="Aria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latin typeface="Franklin Gothic Book" panose="020B0503020102020204" pitchFamily="34" charset="0"/>
              </a:rPr>
              <a:t>Office of Business, Industry, and Infrastructure Integration (OB3I)</a:t>
            </a:r>
          </a:p>
        </p:txBody>
      </p:sp>
      <p:cxnSp>
        <p:nvCxnSpPr>
          <p:cNvPr id="13" name="Straight Connector 12">
            <a:extLst>
              <a:ext uri="{FF2B5EF4-FFF2-40B4-BE49-F238E27FC236}">
                <a16:creationId xmlns:a16="http://schemas.microsoft.com/office/drawing/2014/main" id="{6B5201C8-7CAA-7C42-838D-C5DE0E04D695}"/>
              </a:ext>
            </a:extLst>
          </p:cNvPr>
          <p:cNvCxnSpPr>
            <a:cxnSpLocks/>
          </p:cNvCxnSpPr>
          <p:nvPr userDrawn="1"/>
        </p:nvCxnSpPr>
        <p:spPr>
          <a:xfrm>
            <a:off x="685799" y="3627842"/>
            <a:ext cx="10820401" cy="0"/>
          </a:xfrm>
          <a:prstGeom prst="line">
            <a:avLst/>
          </a:prstGeom>
          <a:ln w="76200">
            <a:solidFill>
              <a:srgbClr val="3D98C1"/>
            </a:solidFill>
          </a:ln>
          <a:effectLst/>
        </p:spPr>
        <p:style>
          <a:lnRef idx="2">
            <a:schemeClr val="accent1"/>
          </a:lnRef>
          <a:fillRef idx="0">
            <a:schemeClr val="accent1"/>
          </a:fillRef>
          <a:effectRef idx="1">
            <a:schemeClr val="accent1"/>
          </a:effectRef>
          <a:fontRef idx="minor">
            <a:schemeClr val="tx1"/>
          </a:fontRef>
        </p:style>
      </p:cxnSp>
      <p:pic>
        <p:nvPicPr>
          <p:cNvPr id="4" name="Picture 3" descr="A picture containing qr code&#10;&#10;Description automatically generated">
            <a:extLst>
              <a:ext uri="{FF2B5EF4-FFF2-40B4-BE49-F238E27FC236}">
                <a16:creationId xmlns:a16="http://schemas.microsoft.com/office/drawing/2014/main" id="{7FF45BEC-92F7-F6C6-B39B-3464B35D9482}"/>
              </a:ext>
            </a:extLst>
          </p:cNvPr>
          <p:cNvPicPr>
            <a:picLocks noChangeAspect="1"/>
          </p:cNvPicPr>
          <p:nvPr userDrawn="1"/>
        </p:nvPicPr>
        <p:blipFill>
          <a:blip r:embed="rId2"/>
          <a:stretch>
            <a:fillRect/>
          </a:stretch>
        </p:blipFill>
        <p:spPr>
          <a:xfrm>
            <a:off x="656393" y="5007043"/>
            <a:ext cx="3317421" cy="1174497"/>
          </a:xfrm>
          <a:prstGeom prst="rect">
            <a:avLst/>
          </a:prstGeom>
        </p:spPr>
      </p:pic>
      <p:sp>
        <p:nvSpPr>
          <p:cNvPr id="2" name="Rectangle 1">
            <a:extLst>
              <a:ext uri="{FF2B5EF4-FFF2-40B4-BE49-F238E27FC236}">
                <a16:creationId xmlns:a16="http://schemas.microsoft.com/office/drawing/2014/main" id="{93B3D32C-DE4D-73CB-751A-A5A1ECE540DA}"/>
              </a:ext>
            </a:extLst>
          </p:cNvPr>
          <p:cNvSpPr/>
          <p:nvPr userDrawn="1"/>
        </p:nvSpPr>
        <p:spPr>
          <a:xfrm rot="16200000">
            <a:off x="1737360" y="-1055493"/>
            <a:ext cx="457200" cy="2560320"/>
          </a:xfrm>
          <a:prstGeom prst="rect">
            <a:avLst/>
          </a:prstGeom>
          <a:solidFill>
            <a:srgbClr val="D24B6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Date Placeholder 2">
            <a:extLst>
              <a:ext uri="{FF2B5EF4-FFF2-40B4-BE49-F238E27FC236}">
                <a16:creationId xmlns:a16="http://schemas.microsoft.com/office/drawing/2014/main" id="{A35269F5-FAA3-C49C-62BD-8CAC4670103C}"/>
              </a:ext>
            </a:extLst>
          </p:cNvPr>
          <p:cNvSpPr>
            <a:spLocks noGrp="1"/>
          </p:cNvSpPr>
          <p:nvPr>
            <p:ph type="dt" sz="half" idx="13"/>
          </p:nvPr>
        </p:nvSpPr>
        <p:spPr>
          <a:xfrm>
            <a:off x="1155357" y="51218"/>
            <a:ext cx="1711412" cy="365125"/>
          </a:xfrm>
        </p:spPr>
        <p:txBody>
          <a:bodyPr/>
          <a:lstStyle>
            <a:lvl1pPr>
              <a:defRPr>
                <a:solidFill>
                  <a:schemeClr val="bg1"/>
                </a:solidFill>
              </a:defRPr>
            </a:lvl1pPr>
          </a:lstStyle>
          <a:p>
            <a:r>
              <a:rPr lang="en-US" dirty="0"/>
              <a:t>Date: Day Month Year</a:t>
            </a:r>
          </a:p>
        </p:txBody>
      </p:sp>
      <p:sp>
        <p:nvSpPr>
          <p:cNvPr id="6" name="Slide Number Placeholder 4">
            <a:extLst>
              <a:ext uri="{FF2B5EF4-FFF2-40B4-BE49-F238E27FC236}">
                <a16:creationId xmlns:a16="http://schemas.microsoft.com/office/drawing/2014/main" id="{49FD57AD-F56C-E94E-3C9D-4931F1628332}"/>
              </a:ext>
            </a:extLst>
          </p:cNvPr>
          <p:cNvSpPr txBox="1">
            <a:spLocks/>
          </p:cNvSpPr>
          <p:nvPr userDrawn="1"/>
        </p:nvSpPr>
        <p:spPr>
          <a:xfrm>
            <a:off x="9247808" y="644097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bg1"/>
                </a:solidFill>
              </a:rPr>
              <a:pPr/>
              <a:t>‹#›</a:t>
            </a:fld>
            <a:endParaRPr lang="en-US">
              <a:solidFill>
                <a:schemeClr val="bg1"/>
              </a:solidFill>
            </a:endParaRPr>
          </a:p>
        </p:txBody>
      </p:sp>
      <p:sp>
        <p:nvSpPr>
          <p:cNvPr id="5" name="Text Placeholder 5">
            <a:extLst>
              <a:ext uri="{FF2B5EF4-FFF2-40B4-BE49-F238E27FC236}">
                <a16:creationId xmlns:a16="http://schemas.microsoft.com/office/drawing/2014/main" id="{EF2FFABC-F877-BBFA-5287-E2CE3A3815CB}"/>
              </a:ext>
            </a:extLst>
          </p:cNvPr>
          <p:cNvSpPr>
            <a:spLocks noGrp="1"/>
          </p:cNvSpPr>
          <p:nvPr>
            <p:ph type="body" sz="quarter" idx="14" hasCustomPrompt="1"/>
          </p:nvPr>
        </p:nvSpPr>
        <p:spPr>
          <a:xfrm>
            <a:off x="685799" y="4298910"/>
            <a:ext cx="10820401" cy="410936"/>
          </a:xfrm>
          <a:prstGeom prst="rect">
            <a:avLst/>
          </a:prstGeom>
        </p:spPr>
        <p:txBody>
          <a:bodyPr anchor="ctr">
            <a:noAutofit/>
          </a:bodyPr>
          <a:lstStyle>
            <a:lvl1pPr marL="0" indent="0">
              <a:buNone/>
              <a:defRPr sz="2000">
                <a:solidFill>
                  <a:schemeClr val="bg1"/>
                </a:solidFill>
                <a:latin typeface="+mn-lt"/>
                <a:cs typeface="Arial"/>
              </a:defRPr>
            </a:lvl1pPr>
          </a:lstStyle>
          <a:p>
            <a:r>
              <a:rPr lang="en-US" sz="2000" dirty="0"/>
              <a:t>Business Economic Analysis Data (BEAD) Tier 1 Report</a:t>
            </a:r>
          </a:p>
        </p:txBody>
      </p:sp>
      <p:sp>
        <p:nvSpPr>
          <p:cNvPr id="12" name="TextBox 11">
            <a:extLst>
              <a:ext uri="{FF2B5EF4-FFF2-40B4-BE49-F238E27FC236}">
                <a16:creationId xmlns:a16="http://schemas.microsoft.com/office/drawing/2014/main" id="{CCFE0FCA-1439-5FEB-5E4A-F56B7E9DF9CE}"/>
              </a:ext>
            </a:extLst>
          </p:cNvPr>
          <p:cNvSpPr txBox="1"/>
          <p:nvPr userDrawn="1"/>
        </p:nvSpPr>
        <p:spPr>
          <a:xfrm>
            <a:off x="4694934" y="4960909"/>
            <a:ext cx="7186405" cy="1277273"/>
          </a:xfrm>
          <a:prstGeom prst="rect">
            <a:avLst/>
          </a:prstGeom>
          <a:noFill/>
        </p:spPr>
        <p:txBody>
          <a:bodyPr wrap="square">
            <a:spAutoFit/>
          </a:bodyPr>
          <a:lstStyle/>
          <a:p>
            <a:r>
              <a:rPr lang="en-US" sz="1100" dirty="0">
                <a:solidFill>
                  <a:schemeClr val="bg1"/>
                </a:solidFill>
              </a:rPr>
              <a:t>This document is FOR OFFICIAL USE ONLY (FOUO) and may contain PRIVACY SENSITIVE information. It is to be controlled, stored, handled, transmitted, distributed, and disposed of in accordance with DHS policy relating to FOUO information. This information shall not be distributed beyond the original addresses without prior authorization of the originator. This communication, along with any attachments, is covered by Federal and State law governing electronic communications and may contain restricted and legally privileged information. If the reader of this message is not the intended recipient, you are hereby notified that any dissemination, distribution, use or copying of this message is strictly prohibited. If you have received this in error, please reply immediately to the sender and delete this message.</a:t>
            </a:r>
          </a:p>
        </p:txBody>
      </p:sp>
      <p:sp>
        <p:nvSpPr>
          <p:cNvPr id="14" name="TextBox 13">
            <a:extLst>
              <a:ext uri="{FF2B5EF4-FFF2-40B4-BE49-F238E27FC236}">
                <a16:creationId xmlns:a16="http://schemas.microsoft.com/office/drawing/2014/main" id="{2F111547-210B-47FC-878E-63ABCB799C6B}"/>
              </a:ext>
            </a:extLst>
          </p:cNvPr>
          <p:cNvSpPr txBox="1"/>
          <p:nvPr userDrawn="1"/>
        </p:nvSpPr>
        <p:spPr>
          <a:xfrm>
            <a:off x="9241506" y="110357"/>
            <a:ext cx="2926079"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sz="1400" dirty="0">
                <a:latin typeface="+mn-lt"/>
              </a:rPr>
              <a:t>FOUO (For Official Use Only)</a:t>
            </a:r>
          </a:p>
        </p:txBody>
      </p:sp>
    </p:spTree>
    <p:extLst>
      <p:ext uri="{BB962C8B-B14F-4D97-AF65-F5344CB8AC3E}">
        <p14:creationId xmlns:p14="http://schemas.microsoft.com/office/powerpoint/2010/main" val="139569687"/>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9CDC4B-449B-89E4-5473-200FC3A37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57C795-C47C-4524-E53F-336DDA4BE6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447A85-7FF5-28D9-615F-345BC78FA6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9B7345-590C-4F19-81E5-122970C30103}" type="datetimeFigureOut">
              <a:rPr lang="en-US" smtClean="0"/>
              <a:t>6/8/2026</a:t>
            </a:fld>
            <a:endParaRPr lang="en-US"/>
          </a:p>
        </p:txBody>
      </p:sp>
      <p:sp>
        <p:nvSpPr>
          <p:cNvPr id="5" name="Footer Placeholder 4">
            <a:extLst>
              <a:ext uri="{FF2B5EF4-FFF2-40B4-BE49-F238E27FC236}">
                <a16:creationId xmlns:a16="http://schemas.microsoft.com/office/drawing/2014/main" id="{745B6814-26A5-3C55-C0F9-6B52A5A5EB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4986F6-38D4-27F1-B4C6-282C72430D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99E832-C02A-4732-84CE-1F7AB8D91DC6}" type="slidenum">
              <a:rPr lang="en-US" smtClean="0"/>
              <a:t>‹#›</a:t>
            </a:fld>
            <a:endParaRPr lang="en-US"/>
          </a:p>
        </p:txBody>
      </p:sp>
    </p:spTree>
    <p:extLst>
      <p:ext uri="{BB962C8B-B14F-4D97-AF65-F5344CB8AC3E}">
        <p14:creationId xmlns:p14="http://schemas.microsoft.com/office/powerpoint/2010/main" val="338898532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720" r:id="rId3"/>
    <p:sldLayoutId id="2147483656" r:id="rId4"/>
    <p:sldLayoutId id="2147483657" r:id="rId5"/>
    <p:sldLayoutId id="2147483721" r:id="rId6"/>
    <p:sldLayoutId id="2147483722"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4B_EB6FDEE3.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93D5-1AD4-51E5-497A-0D387E5874A8}"/>
              </a:ext>
            </a:extLst>
          </p:cNvPr>
          <p:cNvSpPr>
            <a:spLocks noGrp="1"/>
          </p:cNvSpPr>
          <p:nvPr>
            <p:ph type="title"/>
          </p:nvPr>
        </p:nvSpPr>
        <p:spPr>
          <a:xfrm>
            <a:off x="576072" y="2267988"/>
            <a:ext cx="10820400" cy="1246472"/>
          </a:xfrm>
        </p:spPr>
        <p:txBody>
          <a:bodyPr/>
          <a:lstStyle/>
          <a:p>
            <a:endParaRPr lang="en-US" sz="4000" dirty="0"/>
          </a:p>
        </p:txBody>
      </p:sp>
      <p:sp>
        <p:nvSpPr>
          <p:cNvPr id="3" name="Text Placeholder 2">
            <a:extLst>
              <a:ext uri="{FF2B5EF4-FFF2-40B4-BE49-F238E27FC236}">
                <a16:creationId xmlns:a16="http://schemas.microsoft.com/office/drawing/2014/main" id="{DA87D42E-C3AD-73A8-A0F2-C4954D6891D9}"/>
              </a:ext>
            </a:extLst>
          </p:cNvPr>
          <p:cNvSpPr>
            <a:spLocks noGrp="1"/>
          </p:cNvSpPr>
          <p:nvPr>
            <p:ph type="body" sz="quarter" idx="10"/>
          </p:nvPr>
        </p:nvSpPr>
        <p:spPr>
          <a:xfrm>
            <a:off x="649943" y="3738632"/>
            <a:ext cx="10820401" cy="410936"/>
          </a:xfrm>
        </p:spPr>
        <p:txBody>
          <a:bodyPr/>
          <a:lstStyle/>
          <a:p>
            <a:r>
              <a:rPr lang="en-US" dirty="0">
                <a:latin typeface="Franklin Gothic Book" panose="020B0503020102020204" pitchFamily="34" charset="0"/>
              </a:rPr>
              <a:t>Office of Business, Industry, and Infrastructure Integration (OB3I)</a:t>
            </a:r>
          </a:p>
        </p:txBody>
      </p:sp>
      <p:sp>
        <p:nvSpPr>
          <p:cNvPr id="4" name="Date Placeholder 3">
            <a:extLst>
              <a:ext uri="{FF2B5EF4-FFF2-40B4-BE49-F238E27FC236}">
                <a16:creationId xmlns:a16="http://schemas.microsoft.com/office/drawing/2014/main" id="{07D474A2-3D4E-BEED-EDCF-D42E6C4B86A8}"/>
              </a:ext>
            </a:extLst>
          </p:cNvPr>
          <p:cNvSpPr>
            <a:spLocks noGrp="1"/>
          </p:cNvSpPr>
          <p:nvPr>
            <p:ph type="dt" sz="half" idx="13"/>
          </p:nvPr>
        </p:nvSpPr>
        <p:spPr>
          <a:xfrm>
            <a:off x="1262934" y="51218"/>
            <a:ext cx="1711412" cy="365125"/>
          </a:xfrm>
        </p:spPr>
        <p:txBody>
          <a:bodyPr/>
          <a:lstStyle/>
          <a:p>
            <a:fld id="{9D4E5F88-D89E-4A97-821C-88B10228614E}" type="datetime1">
              <a:rPr lang="en-US" smtClean="0"/>
              <a:t>6/8/2026</a:t>
            </a:fld>
            <a:endParaRPr lang="en-US" dirty="0"/>
          </a:p>
        </p:txBody>
      </p:sp>
      <p:sp>
        <p:nvSpPr>
          <p:cNvPr id="8" name="Text Placeholder 2">
            <a:extLst>
              <a:ext uri="{FF2B5EF4-FFF2-40B4-BE49-F238E27FC236}">
                <a16:creationId xmlns:a16="http://schemas.microsoft.com/office/drawing/2014/main" id="{D4112081-D721-04F7-D3DD-DB66E4D27A28}"/>
              </a:ext>
            </a:extLst>
          </p:cNvPr>
          <p:cNvSpPr txBox="1">
            <a:spLocks/>
          </p:cNvSpPr>
          <p:nvPr/>
        </p:nvSpPr>
        <p:spPr>
          <a:xfrm>
            <a:off x="685799" y="4156074"/>
            <a:ext cx="10820401" cy="410936"/>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mj-lt"/>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mn-lt"/>
              </a:rPr>
              <a:t>Business Economic Analysis Data (BEAD) Tier 1 Report</a:t>
            </a:r>
          </a:p>
        </p:txBody>
      </p:sp>
    </p:spTree>
    <p:extLst>
      <p:ext uri="{BB962C8B-B14F-4D97-AF65-F5344CB8AC3E}">
        <p14:creationId xmlns:p14="http://schemas.microsoft.com/office/powerpoint/2010/main" val="3098244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DA4DFC-637B-503B-A1BD-EA9027B7BAF9}"/>
              </a:ext>
            </a:extLst>
          </p:cNvPr>
          <p:cNvSpPr>
            <a:spLocks noGrp="1"/>
          </p:cNvSpPr>
          <p:nvPr>
            <p:ph idx="1"/>
          </p:nvPr>
        </p:nvSpPr>
        <p:spPr>
          <a:xfrm>
            <a:off x="5431699" y="1380966"/>
            <a:ext cx="6559175" cy="4860177"/>
          </a:xfrm>
        </p:spPr>
        <p:txBody>
          <a:bodyPr vert="horz" lIns="91440" tIns="45720" rIns="91440" bIns="45720" rtlCol="0" anchor="t">
            <a:normAutofit/>
          </a:bodyPr>
          <a:lstStyle/>
          <a:p>
            <a:r>
              <a:rPr lang="en-US" sz="2000" b="1" dirty="0">
                <a:latin typeface="Franklin Gothic Book" panose="020B0503020102020204" pitchFamily="34" charset="0"/>
              </a:rPr>
              <a:t>Purpose of the BEAD Tier 1 Report:</a:t>
            </a:r>
          </a:p>
          <a:p>
            <a:r>
              <a:rPr lang="en-US" dirty="0">
                <a:latin typeface="Franklin Gothic Book"/>
              </a:rPr>
              <a:t>The intent of this report is to provide FEMA leadership with a high-level view of the potential economic and supply chain risks from the </a:t>
            </a:r>
            <a:r>
              <a:rPr lang="en-US" dirty="0">
                <a:solidFill>
                  <a:srgbClr val="FFFF00"/>
                </a:solidFill>
                <a:latin typeface="Franklin Gothic Book"/>
              </a:rPr>
              <a:t>[Name of event/disaster]</a:t>
            </a:r>
            <a:r>
              <a:rPr lang="en-US" dirty="0">
                <a:latin typeface="Franklin Gothic Book"/>
              </a:rPr>
              <a:t>.</a:t>
            </a:r>
          </a:p>
          <a:p>
            <a:r>
              <a:rPr lang="en-US" dirty="0">
                <a:latin typeface="Franklin Gothic Book" panose="020B0503020102020204" pitchFamily="34" charset="0"/>
              </a:rPr>
              <a:t>The report aims to highlight critical infrastructure and industries that may be at risk, outline possible cascading impacts to industries, and consider the broader economic consequences of disruption. </a:t>
            </a:r>
          </a:p>
          <a:p>
            <a:r>
              <a:rPr lang="en-US" dirty="0">
                <a:latin typeface="Franklin Gothic Book"/>
              </a:rPr>
              <a:t>The goal is to support decision-making by identifying where local damage could create national effects and what priorities may guide response and recovery.</a:t>
            </a:r>
          </a:p>
          <a:p>
            <a:br>
              <a:rPr lang="en-US" sz="2000" b="1" dirty="0">
                <a:latin typeface="Franklin Gothic Book" panose="020B0503020102020204" pitchFamily="34" charset="0"/>
              </a:rPr>
            </a:br>
            <a:r>
              <a:rPr lang="en-US" sz="2000" b="1" u="sng" dirty="0">
                <a:latin typeface="Franklin Gothic Book"/>
              </a:rPr>
              <a:t>Area of Interest</a:t>
            </a:r>
            <a:r>
              <a:rPr lang="en-US" sz="2000" b="1" dirty="0">
                <a:latin typeface="Franklin Gothic Book"/>
              </a:rPr>
              <a:t>: </a:t>
            </a:r>
            <a:r>
              <a:rPr lang="en-US" sz="2000" b="1" dirty="0">
                <a:solidFill>
                  <a:srgbClr val="FFFF00"/>
                </a:solidFill>
                <a:latin typeface="Franklin Gothic Book"/>
              </a:rPr>
              <a:t>AOI(s)</a:t>
            </a:r>
            <a:br>
              <a:rPr lang="en-US" sz="2000" b="1" dirty="0">
                <a:latin typeface="Franklin Gothic Book" panose="020B0503020102020204" pitchFamily="34" charset="0"/>
              </a:rPr>
            </a:br>
            <a:br>
              <a:rPr lang="en-US" sz="2000" b="1" dirty="0">
                <a:latin typeface="Franklin Gothic Book" panose="020B0503020102020204" pitchFamily="34" charset="0"/>
              </a:rPr>
            </a:br>
            <a:r>
              <a:rPr lang="en-US" sz="2000" b="1" u="sng" dirty="0">
                <a:latin typeface="Franklin Gothic Book"/>
              </a:rPr>
              <a:t>Hazard</a:t>
            </a:r>
            <a:r>
              <a:rPr lang="en-US" sz="2000" b="1" dirty="0">
                <a:latin typeface="Franklin Gothic Book"/>
              </a:rPr>
              <a:t>: </a:t>
            </a:r>
            <a:r>
              <a:rPr lang="en-US" sz="2000" b="1" dirty="0">
                <a:solidFill>
                  <a:srgbClr val="FFFF00"/>
                </a:solidFill>
                <a:latin typeface="Franklin Gothic Book"/>
              </a:rPr>
              <a:t>Name of Disaster</a:t>
            </a:r>
          </a:p>
        </p:txBody>
      </p:sp>
      <p:sp>
        <p:nvSpPr>
          <p:cNvPr id="3" name="Picture Placeholder 2">
            <a:extLst>
              <a:ext uri="{FF2B5EF4-FFF2-40B4-BE49-F238E27FC236}">
                <a16:creationId xmlns:a16="http://schemas.microsoft.com/office/drawing/2014/main" id="{D6F4E7FE-1136-B42E-3543-EC975D754B9C}"/>
              </a:ext>
            </a:extLst>
          </p:cNvPr>
          <p:cNvSpPr>
            <a:spLocks noGrp="1"/>
          </p:cNvSpPr>
          <p:nvPr>
            <p:ph type="pic" sz="quarter" idx="13"/>
          </p:nvPr>
        </p:nvSpPr>
        <p:spPr/>
        <p:txBody>
          <a:bodyPr>
            <a:normAutofit/>
          </a:bodyPr>
          <a:lstStyle/>
          <a:p>
            <a:r>
              <a:rPr lang="en-US" dirty="0"/>
              <a:t>Executive Summary </a:t>
            </a:r>
          </a:p>
          <a:p>
            <a:r>
              <a:rPr lang="en-US" dirty="0"/>
              <a:t>Hazard Overview </a:t>
            </a:r>
          </a:p>
          <a:p>
            <a:r>
              <a:rPr lang="en-US" dirty="0"/>
              <a:t>Event Footprint vs. U.S. Economy </a:t>
            </a:r>
          </a:p>
          <a:p>
            <a:r>
              <a:rPr lang="en-US" dirty="0"/>
              <a:t>Headliner Industries</a:t>
            </a:r>
          </a:p>
          <a:p>
            <a:r>
              <a:rPr lang="en-US" dirty="0"/>
              <a:t>Critical Infrastructure </a:t>
            </a:r>
          </a:p>
          <a:p>
            <a:r>
              <a:rPr lang="en-US" dirty="0"/>
              <a:t>Ripple Forecast</a:t>
            </a:r>
          </a:p>
          <a:p>
            <a:r>
              <a:rPr lang="en-US" dirty="0"/>
              <a:t>Socio-Economic Profile </a:t>
            </a:r>
          </a:p>
          <a:p>
            <a:r>
              <a:rPr lang="en-US" dirty="0"/>
              <a:t>Appendix</a:t>
            </a:r>
          </a:p>
        </p:txBody>
      </p:sp>
      <p:sp>
        <p:nvSpPr>
          <p:cNvPr id="4" name="Title 3">
            <a:extLst>
              <a:ext uri="{FF2B5EF4-FFF2-40B4-BE49-F238E27FC236}">
                <a16:creationId xmlns:a16="http://schemas.microsoft.com/office/drawing/2014/main" id="{6C8E8FEB-7AD1-F466-B57A-539DD1B5E63F}"/>
              </a:ext>
            </a:extLst>
          </p:cNvPr>
          <p:cNvSpPr>
            <a:spLocks noGrp="1"/>
          </p:cNvSpPr>
          <p:nvPr>
            <p:ph type="title"/>
          </p:nvPr>
        </p:nvSpPr>
        <p:spPr/>
        <p:txBody>
          <a:bodyPr>
            <a:normAutofit fontScale="90000"/>
          </a:bodyPr>
          <a:lstStyle/>
          <a:p>
            <a:r>
              <a:rPr lang="en-US"/>
              <a:t>TABLE OF</a:t>
            </a:r>
            <a:br>
              <a:rPr lang="en-US"/>
            </a:br>
            <a:r>
              <a:rPr lang="en-US"/>
              <a:t>CONTENTS</a:t>
            </a:r>
          </a:p>
        </p:txBody>
      </p:sp>
      <p:sp>
        <p:nvSpPr>
          <p:cNvPr id="6" name="Slide Number Placeholder 5">
            <a:extLst>
              <a:ext uri="{FF2B5EF4-FFF2-40B4-BE49-F238E27FC236}">
                <a16:creationId xmlns:a16="http://schemas.microsoft.com/office/drawing/2014/main" id="{0B254D91-3C98-618C-977D-6E0B4B18303D}"/>
              </a:ext>
            </a:extLst>
          </p:cNvPr>
          <p:cNvSpPr>
            <a:spLocks noGrp="1"/>
          </p:cNvSpPr>
          <p:nvPr>
            <p:ph type="sldNum" sz="quarter" idx="4294967295"/>
          </p:nvPr>
        </p:nvSpPr>
        <p:spPr>
          <a:xfrm>
            <a:off x="11142130" y="6465777"/>
            <a:ext cx="914403" cy="274320"/>
          </a:xfrm>
        </p:spPr>
        <p:txBody>
          <a:bodyPr/>
          <a:lstStyle/>
          <a:p>
            <a:fld id="{8FCC257D-A786-9244-9E17-CE618C8B9275}" type="slidenum">
              <a:rPr lang="en-US" smtClean="0">
                <a:solidFill>
                  <a:schemeClr val="bg1"/>
                </a:solidFill>
              </a:rPr>
              <a:pPr/>
              <a:t>2</a:t>
            </a:fld>
            <a:endParaRPr lang="en-US">
              <a:solidFill>
                <a:schemeClr val="bg1"/>
              </a:solidFill>
            </a:endParaRPr>
          </a:p>
        </p:txBody>
      </p:sp>
      <p:sp>
        <p:nvSpPr>
          <p:cNvPr id="7" name="Rectangle 6">
            <a:extLst>
              <a:ext uri="{FF2B5EF4-FFF2-40B4-BE49-F238E27FC236}">
                <a16:creationId xmlns:a16="http://schemas.microsoft.com/office/drawing/2014/main" id="{EEF1F8DE-D00B-C323-9CA2-F03E050FB30C}"/>
              </a:ext>
            </a:extLst>
          </p:cNvPr>
          <p:cNvSpPr/>
          <p:nvPr/>
        </p:nvSpPr>
        <p:spPr>
          <a:xfrm>
            <a:off x="5336419" y="4837958"/>
            <a:ext cx="6720114" cy="1262743"/>
          </a:xfrm>
          <a:prstGeom prst="rect">
            <a:avLst/>
          </a:prstGeom>
          <a:noFill/>
          <a:ln w="38100">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9977315"/>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34813-2202-0D4D-C94A-AF24775767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BF4FC66-2BCA-BFE2-20E0-038CB0BFBABD}"/>
              </a:ext>
            </a:extLst>
          </p:cNvPr>
          <p:cNvSpPr>
            <a:spLocks noGrp="1"/>
          </p:cNvSpPr>
          <p:nvPr>
            <p:ph type="body" sz="quarter" idx="15"/>
          </p:nvPr>
        </p:nvSpPr>
        <p:spPr>
          <a:xfrm>
            <a:off x="507999" y="2346476"/>
            <a:ext cx="10927471" cy="3713314"/>
          </a:xfrm>
        </p:spPr>
        <p:txBody>
          <a:bodyPr vert="horz" lIns="91440" tIns="45720" rIns="91440" bIns="45720" rtlCol="0" anchor="t">
            <a:noAutofit/>
          </a:bodyPr>
          <a:lstStyle/>
          <a:p>
            <a:r>
              <a:rPr lang="en-US" sz="1400" dirty="0"/>
              <a:t>Should answer: </a:t>
            </a:r>
          </a:p>
          <a:p>
            <a:pPr marL="228600" indent="-228600">
              <a:buAutoNum type="arabicPeriod"/>
            </a:pPr>
            <a:r>
              <a:rPr lang="en-US" sz="1400" dirty="0"/>
              <a:t>What are the national/global-level economic/supply chain impacts of an incident?</a:t>
            </a:r>
          </a:p>
          <a:p>
            <a:pPr marL="228600" indent="-228600">
              <a:buAutoNum type="arabicPeriod"/>
            </a:pPr>
            <a:r>
              <a:rPr lang="en-US" sz="1400" dirty="0"/>
              <a:t>What national and global economic/supply chain impacts should FEMA senior-leadership be aware of resulting from this incident?</a:t>
            </a:r>
          </a:p>
          <a:p>
            <a:pPr marL="228600" indent="-228600">
              <a:buAutoNum type="arabicPeriod"/>
            </a:pPr>
            <a:r>
              <a:rPr lang="en-US" sz="1400" dirty="0"/>
              <a:t>What are the economic/industry interdependencies of a threat/hazard situation?</a:t>
            </a:r>
          </a:p>
          <a:p>
            <a:pPr marL="228600" indent="-228600">
              <a:buAutoNum type="arabicPeriod"/>
            </a:pPr>
            <a:endParaRPr lang="en-US" sz="1400" dirty="0"/>
          </a:p>
          <a:p>
            <a:r>
              <a:rPr lang="en-US" sz="1400" dirty="0"/>
              <a:t>Notes:</a:t>
            </a:r>
          </a:p>
          <a:p>
            <a:pPr marL="228600" indent="-228600">
              <a:buAutoNum type="arabicPeriod"/>
            </a:pPr>
            <a:r>
              <a:rPr lang="en-US" sz="1400" dirty="0"/>
              <a:t>The BLUF is a one or 2 sentence summary of the MOST IMPORTANT takeaways from this report.</a:t>
            </a:r>
            <a:endParaRPr lang="en-US" sz="1300" dirty="0">
              <a:latin typeface="Franklin Gothic Book"/>
            </a:endParaRPr>
          </a:p>
          <a:p>
            <a:pPr marL="228600" indent="-228600">
              <a:buAutoNum type="arabicPeriod"/>
            </a:pPr>
            <a:r>
              <a:rPr lang="en-US" sz="1300" dirty="0">
                <a:latin typeface="Franklin Gothic Book"/>
              </a:rPr>
              <a:t>Supporting bullets should summarize key takeaways from each of the slides, starting with the most important information at the top</a:t>
            </a:r>
          </a:p>
          <a:p>
            <a:pPr marL="228600" indent="-228600">
              <a:buAutoNum type="arabicPeriod"/>
            </a:pPr>
            <a:r>
              <a:rPr lang="en-US" sz="1300" dirty="0">
                <a:latin typeface="Franklin Gothic Book"/>
              </a:rPr>
              <a:t>Font should always be Franklin Gothic Book &amp; never smaller than size 12, ideally size 14</a:t>
            </a:r>
          </a:p>
          <a:p>
            <a:pPr marL="228600" indent="-228600">
              <a:buAutoNum type="arabicPeriod"/>
            </a:pPr>
            <a:r>
              <a:rPr lang="en-US" sz="1300" b="1" dirty="0">
                <a:latin typeface="Franklin Gothic Book"/>
              </a:rPr>
              <a:t>BLUF can be one font size larger if there is room, but should always be bolded – needs to answer the “So what”</a:t>
            </a:r>
            <a:endParaRPr lang="en-US" sz="1400" b="1" dirty="0"/>
          </a:p>
        </p:txBody>
      </p:sp>
      <p:sp>
        <p:nvSpPr>
          <p:cNvPr id="3" name="Title 2">
            <a:extLst>
              <a:ext uri="{FF2B5EF4-FFF2-40B4-BE49-F238E27FC236}">
                <a16:creationId xmlns:a16="http://schemas.microsoft.com/office/drawing/2014/main" id="{8E41C69A-33C3-7C29-1D4F-44BCCA395A0F}"/>
              </a:ext>
            </a:extLst>
          </p:cNvPr>
          <p:cNvSpPr>
            <a:spLocks noGrp="1"/>
          </p:cNvSpPr>
          <p:nvPr>
            <p:ph type="ctrTitle"/>
          </p:nvPr>
        </p:nvSpPr>
        <p:spPr>
          <a:xfrm>
            <a:off x="579423" y="733393"/>
            <a:ext cx="10981116" cy="400553"/>
          </a:xfrm>
        </p:spPr>
        <p:txBody>
          <a:bodyPr/>
          <a:lstStyle/>
          <a:p>
            <a:r>
              <a:rPr lang="en-US" dirty="0">
                <a:latin typeface="Franklin Gothic Heavy"/>
              </a:rPr>
              <a:t>Executive Summary – </a:t>
            </a:r>
            <a:r>
              <a:rPr lang="en-US" dirty="0">
                <a:highlight>
                  <a:srgbClr val="FFFF00"/>
                </a:highlight>
                <a:latin typeface="Franklin Gothic Heavy"/>
              </a:rPr>
              <a:t>[AOI] | [Hazard/Event Name]</a:t>
            </a:r>
          </a:p>
        </p:txBody>
      </p:sp>
      <p:sp>
        <p:nvSpPr>
          <p:cNvPr id="4" name="Text Placeholder 3">
            <a:extLst>
              <a:ext uri="{FF2B5EF4-FFF2-40B4-BE49-F238E27FC236}">
                <a16:creationId xmlns:a16="http://schemas.microsoft.com/office/drawing/2014/main" id="{16237560-255A-F0D0-6F51-85597BE2921D}"/>
              </a:ext>
            </a:extLst>
          </p:cNvPr>
          <p:cNvSpPr>
            <a:spLocks noGrp="1"/>
          </p:cNvSpPr>
          <p:nvPr>
            <p:ph type="body" sz="quarter" idx="16"/>
          </p:nvPr>
        </p:nvSpPr>
        <p:spPr>
          <a:xfrm>
            <a:off x="422030" y="1519239"/>
            <a:ext cx="11416402" cy="725638"/>
          </a:xfrm>
        </p:spPr>
        <p:txBody>
          <a:bodyPr vert="horz" lIns="91440" tIns="45720" rIns="91440" bIns="45720" rtlCol="0" anchor="t">
            <a:normAutofit/>
          </a:bodyPr>
          <a:lstStyle/>
          <a:p>
            <a:endParaRPr lang="en-US" sz="1600" b="1" dirty="0"/>
          </a:p>
        </p:txBody>
      </p:sp>
      <p:sp>
        <p:nvSpPr>
          <p:cNvPr id="6" name="TextBox 5">
            <a:extLst>
              <a:ext uri="{FF2B5EF4-FFF2-40B4-BE49-F238E27FC236}">
                <a16:creationId xmlns:a16="http://schemas.microsoft.com/office/drawing/2014/main" id="{B4E9168B-4E90-3B6D-52C1-F212517C1A36}"/>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641671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C8EAA-AF7A-74C3-1050-19295B739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B9142-9082-F294-F9AC-1278A8C1145B}"/>
              </a:ext>
            </a:extLst>
          </p:cNvPr>
          <p:cNvSpPr>
            <a:spLocks noGrp="1"/>
          </p:cNvSpPr>
          <p:nvPr>
            <p:ph type="title"/>
          </p:nvPr>
        </p:nvSpPr>
        <p:spPr>
          <a:xfrm>
            <a:off x="607320" y="820410"/>
            <a:ext cx="11329752" cy="457200"/>
          </a:xfrm>
        </p:spPr>
        <p:txBody>
          <a:bodyPr/>
          <a:lstStyle/>
          <a:p>
            <a:r>
              <a:rPr lang="en-US" sz="2800" dirty="0">
                <a:latin typeface="Franklin Gothic Heavy"/>
              </a:rPr>
              <a:t>Hazard Overview – </a:t>
            </a:r>
            <a:r>
              <a:rPr lang="en-US" sz="2800" dirty="0">
                <a:solidFill>
                  <a:srgbClr val="FFFF00"/>
                </a:solidFill>
                <a:latin typeface="Franklin Gothic Heavy"/>
              </a:rPr>
              <a:t>[Type of Hazard Information Shown]</a:t>
            </a:r>
          </a:p>
        </p:txBody>
      </p:sp>
      <p:sp>
        <p:nvSpPr>
          <p:cNvPr id="10" name="Text Placeholder 3">
            <a:extLst>
              <a:ext uri="{FF2B5EF4-FFF2-40B4-BE49-F238E27FC236}">
                <a16:creationId xmlns:a16="http://schemas.microsoft.com/office/drawing/2014/main" id="{B66A41AF-6E55-565A-6CDD-9F5E891DE260}"/>
              </a:ext>
            </a:extLst>
          </p:cNvPr>
          <p:cNvSpPr txBox="1">
            <a:spLocks/>
          </p:cNvSpPr>
          <p:nvPr/>
        </p:nvSpPr>
        <p:spPr>
          <a:xfrm>
            <a:off x="336378" y="1744858"/>
            <a:ext cx="3972875" cy="431520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Key BLUF/takeaway statement summarizing the most important information on this slide (bolded, no period, no bullet) – needs to answer the “So what”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t>Map comes from analysts - </a:t>
            </a:r>
            <a:r>
              <a:rPr lang="en-US" sz="1800" b="0" dirty="0" err="1"/>
              <a:t>GeoCube</a:t>
            </a:r>
            <a:r>
              <a:rPr lang="en-US" sz="1800" b="0" dirty="0"/>
              <a:t>/QGIS or authoritative weather source</a:t>
            </a:r>
          </a:p>
          <a:p>
            <a:pPr>
              <a:lnSpc>
                <a:spcPct val="100000"/>
              </a:lnSpc>
            </a:pPr>
            <a:r>
              <a:rPr lang="en-US" sz="1800" b="0" dirty="0"/>
              <a:t>Can be multiple slides if multiple hazard considerations – flood, wind, landslide, etc.</a:t>
            </a:r>
          </a:p>
          <a:p>
            <a:pPr>
              <a:lnSpc>
                <a:spcPct val="100000"/>
              </a:lnSpc>
            </a:pPr>
            <a:endParaRPr lang="en-US" sz="1800" b="0" dirty="0"/>
          </a:p>
        </p:txBody>
      </p:sp>
      <p:sp>
        <p:nvSpPr>
          <p:cNvPr id="16" name="TextBox 15">
            <a:extLst>
              <a:ext uri="{FF2B5EF4-FFF2-40B4-BE49-F238E27FC236}">
                <a16:creationId xmlns:a16="http://schemas.microsoft.com/office/drawing/2014/main" id="{3099FD5A-CB4E-918A-8C33-BDC38D24A1C2}"/>
              </a:ext>
            </a:extLst>
          </p:cNvPr>
          <p:cNvSpPr txBox="1"/>
          <p:nvPr/>
        </p:nvSpPr>
        <p:spPr>
          <a:xfrm>
            <a:off x="4368420" y="5968868"/>
            <a:ext cx="5944557" cy="253916"/>
          </a:xfrm>
          <a:prstGeom prst="rect">
            <a:avLst/>
          </a:prstGeom>
          <a:noFill/>
        </p:spPr>
        <p:txBody>
          <a:bodyPr wrap="square">
            <a:spAutoFit/>
          </a:bodyPr>
          <a:lstStyle/>
          <a:p>
            <a:r>
              <a:rPr lang="en-US" sz="1050" b="1" dirty="0"/>
              <a:t>Timestamp information when we pulled hazard data.</a:t>
            </a:r>
          </a:p>
        </p:txBody>
      </p:sp>
      <p:sp>
        <p:nvSpPr>
          <p:cNvPr id="3" name="Content Placeholder 2">
            <a:extLst>
              <a:ext uri="{FF2B5EF4-FFF2-40B4-BE49-F238E27FC236}">
                <a16:creationId xmlns:a16="http://schemas.microsoft.com/office/drawing/2014/main" id="{88CC745F-7583-9457-A116-C48F8E73A814}"/>
              </a:ext>
            </a:extLst>
          </p:cNvPr>
          <p:cNvSpPr>
            <a:spLocks noGrp="1"/>
          </p:cNvSpPr>
          <p:nvPr>
            <p:ph sz="quarter" idx="13"/>
          </p:nvPr>
        </p:nvSpPr>
        <p:spPr>
          <a:xfrm>
            <a:off x="4448287" y="1818045"/>
            <a:ext cx="7062675" cy="4141385"/>
          </a:xfrm>
        </p:spPr>
        <p:txBody>
          <a:bodyPr/>
          <a:lstStyle/>
          <a:p>
            <a:endParaRPr lang="en-US" dirty="0"/>
          </a:p>
        </p:txBody>
      </p:sp>
      <p:sp>
        <p:nvSpPr>
          <p:cNvPr id="12" name="TextBox 11">
            <a:extLst>
              <a:ext uri="{FF2B5EF4-FFF2-40B4-BE49-F238E27FC236}">
                <a16:creationId xmlns:a16="http://schemas.microsoft.com/office/drawing/2014/main" id="{1BB9A924-F7FF-6EF1-BDD3-27FCB2416FD9}"/>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1483550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F5B73-2C3C-CD11-C5BF-732BE1FBA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CD923-FAA4-52C7-C926-6419C9DF398D}"/>
              </a:ext>
            </a:extLst>
          </p:cNvPr>
          <p:cNvSpPr>
            <a:spLocks noGrp="1"/>
          </p:cNvSpPr>
          <p:nvPr>
            <p:ph type="title"/>
          </p:nvPr>
        </p:nvSpPr>
        <p:spPr>
          <a:xfrm>
            <a:off x="4632799" y="2045889"/>
            <a:ext cx="6721549" cy="1942096"/>
          </a:xfrm>
        </p:spPr>
        <p:txBody>
          <a:bodyPr/>
          <a:lstStyle/>
          <a:p>
            <a:r>
              <a:rPr lang="en-US" dirty="0">
                <a:solidFill>
                  <a:srgbClr val="FFFF00"/>
                </a:solidFill>
              </a:rPr>
              <a:t>Area of Interest (Aggregation Levels)</a:t>
            </a:r>
          </a:p>
        </p:txBody>
      </p:sp>
    </p:spTree>
    <p:extLst>
      <p:ext uri="{BB962C8B-B14F-4D97-AF65-F5344CB8AC3E}">
        <p14:creationId xmlns:p14="http://schemas.microsoft.com/office/powerpoint/2010/main" val="77757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928C-D754-A4C8-C5A1-19160D770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B641C-DFB2-E57D-0FFA-5205D73A0DB3}"/>
              </a:ext>
            </a:extLst>
          </p:cNvPr>
          <p:cNvSpPr>
            <a:spLocks noGrp="1"/>
          </p:cNvSpPr>
          <p:nvPr>
            <p:ph type="title"/>
          </p:nvPr>
        </p:nvSpPr>
        <p:spPr>
          <a:xfrm>
            <a:off x="684519" y="890224"/>
            <a:ext cx="10822962" cy="457200"/>
          </a:xfrm>
        </p:spPr>
        <p:txBody>
          <a:bodyPr/>
          <a:lstStyle/>
          <a:p>
            <a:r>
              <a:rPr lang="en-US" sz="3200" dirty="0">
                <a:latin typeface="Franklin Gothic Heavy"/>
              </a:rPr>
              <a:t>Event Footprint vs. U.S. Economy: </a:t>
            </a:r>
            <a:r>
              <a:rPr lang="en-US" sz="3200" dirty="0">
                <a:solidFill>
                  <a:srgbClr val="FFFF00"/>
                </a:solidFill>
                <a:latin typeface="Franklin Gothic Heavy"/>
              </a:rPr>
              <a:t>[AOI]</a:t>
            </a:r>
            <a:endParaRPr lang="en-US" sz="3200" dirty="0">
              <a:solidFill>
                <a:srgbClr val="FFFF00"/>
              </a:solidFill>
            </a:endParaRPr>
          </a:p>
        </p:txBody>
      </p:sp>
      <p:sp>
        <p:nvSpPr>
          <p:cNvPr id="6" name="TextBox 5">
            <a:extLst>
              <a:ext uri="{FF2B5EF4-FFF2-40B4-BE49-F238E27FC236}">
                <a16:creationId xmlns:a16="http://schemas.microsoft.com/office/drawing/2014/main" id="{F4EF3259-0C8A-0AEA-D8C0-59AED1553752}"/>
              </a:ext>
            </a:extLst>
          </p:cNvPr>
          <p:cNvSpPr txBox="1"/>
          <p:nvPr/>
        </p:nvSpPr>
        <p:spPr>
          <a:xfrm>
            <a:off x="5981799" y="1799276"/>
            <a:ext cx="5967193" cy="18364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Key Takeaway(s): </a:t>
            </a:r>
            <a:endParaRPr lang="en-US" sz="1600" dirty="0"/>
          </a:p>
          <a:p>
            <a:pPr marL="228600" indent="-228600">
              <a:lnSpc>
                <a:spcPct val="80000"/>
              </a:lnSpc>
              <a:spcBef>
                <a:spcPts val="1000"/>
              </a:spcBef>
              <a:buFont typeface="Arial" panose="020B0604020202020204" pitchFamily="34" charset="0"/>
              <a:buChar char="•"/>
            </a:pPr>
            <a:r>
              <a:rPr lang="en-US" sz="1600" dirty="0">
                <a:ea typeface="+mn-lt"/>
                <a:cs typeface="+mn-lt"/>
              </a:rPr>
              <a:t>Supporting information or statistics </a:t>
            </a:r>
          </a:p>
          <a:p>
            <a:pPr marL="228600" indent="-228600">
              <a:lnSpc>
                <a:spcPct val="80000"/>
              </a:lnSpc>
              <a:spcBef>
                <a:spcPts val="1000"/>
              </a:spcBef>
              <a:buFont typeface="Arial" panose="020B0604020202020204" pitchFamily="34" charset="0"/>
              <a:buChar char="•"/>
            </a:pPr>
            <a:r>
              <a:rPr lang="en-US" sz="1600" dirty="0">
                <a:ea typeface="+mn-lt"/>
                <a:cs typeface="+mn-lt"/>
              </a:rPr>
              <a:t>Never add periods to the end of bullets </a:t>
            </a:r>
          </a:p>
          <a:p>
            <a:pPr marL="228600" indent="-228600">
              <a:lnSpc>
                <a:spcPct val="80000"/>
              </a:lnSpc>
              <a:spcBef>
                <a:spcPts val="1000"/>
              </a:spcBef>
              <a:buFont typeface="Arial" panose="020B0604020202020204" pitchFamily="34" charset="0"/>
              <a:buChar char="•"/>
            </a:pPr>
            <a:r>
              <a:rPr lang="en-US" sz="1600" dirty="0">
                <a:ea typeface="+mn-lt"/>
                <a:cs typeface="+mn-lt"/>
              </a:rPr>
              <a:t>Font should always be Franklin Gothic Book &amp; never smaller than size 12, ideally size 14</a:t>
            </a:r>
          </a:p>
          <a:p>
            <a:pPr marL="228600" indent="-228600">
              <a:lnSpc>
                <a:spcPct val="80000"/>
              </a:lnSpc>
              <a:spcBef>
                <a:spcPts val="1000"/>
              </a:spcBef>
              <a:buFont typeface="Arial" panose="020B0604020202020204" pitchFamily="34" charset="0"/>
              <a:buChar char="•"/>
            </a:pPr>
            <a:r>
              <a:rPr lang="en-US" sz="1600" dirty="0">
                <a:ea typeface="+mn-lt"/>
                <a:cs typeface="+mn-lt"/>
              </a:rPr>
              <a:t>Table comes from running python notebook: _event_footprint.py</a:t>
            </a:r>
          </a:p>
        </p:txBody>
      </p:sp>
      <p:graphicFrame>
        <p:nvGraphicFramePr>
          <p:cNvPr id="8" name="Table 7">
            <a:extLst>
              <a:ext uri="{FF2B5EF4-FFF2-40B4-BE49-F238E27FC236}">
                <a16:creationId xmlns:a16="http://schemas.microsoft.com/office/drawing/2014/main" id="{5CF29A41-C172-E2B7-5768-BFAF486DC45A}"/>
              </a:ext>
            </a:extLst>
          </p:cNvPr>
          <p:cNvGraphicFramePr>
            <a:graphicFrameLocks noGrp="1"/>
          </p:cNvGraphicFramePr>
          <p:nvPr>
            <p:extLst>
              <p:ext uri="{D42A27DB-BD31-4B8C-83A1-F6EECF244321}">
                <p14:modId xmlns:p14="http://schemas.microsoft.com/office/powerpoint/2010/main" val="1034842052"/>
              </p:ext>
            </p:extLst>
          </p:nvPr>
        </p:nvGraphicFramePr>
        <p:xfrm>
          <a:off x="493933" y="4399877"/>
          <a:ext cx="5396291" cy="1459668"/>
        </p:xfrm>
        <a:graphic>
          <a:graphicData uri="http://schemas.openxmlformats.org/drawingml/2006/table">
            <a:tbl>
              <a:tblPr bandRow="1">
                <a:tableStyleId>{69012ECD-51FC-41F1-AA8D-1B2483CD663E}</a:tableStyleId>
              </a:tblPr>
              <a:tblGrid>
                <a:gridCol w="2004600">
                  <a:extLst>
                    <a:ext uri="{9D8B030D-6E8A-4147-A177-3AD203B41FA5}">
                      <a16:colId xmlns:a16="http://schemas.microsoft.com/office/drawing/2014/main" val="2264177730"/>
                    </a:ext>
                  </a:extLst>
                </a:gridCol>
                <a:gridCol w="1818716">
                  <a:extLst>
                    <a:ext uri="{9D8B030D-6E8A-4147-A177-3AD203B41FA5}">
                      <a16:colId xmlns:a16="http://schemas.microsoft.com/office/drawing/2014/main" val="2521575143"/>
                    </a:ext>
                  </a:extLst>
                </a:gridCol>
                <a:gridCol w="1572975">
                  <a:extLst>
                    <a:ext uri="{9D8B030D-6E8A-4147-A177-3AD203B41FA5}">
                      <a16:colId xmlns:a16="http://schemas.microsoft.com/office/drawing/2014/main" val="623568642"/>
                    </a:ext>
                  </a:extLst>
                </a:gridCol>
              </a:tblGrid>
              <a:tr h="421852">
                <a:tc gridSpan="3">
                  <a:txBody>
                    <a:bodyPr/>
                    <a:lstStyle/>
                    <a:p>
                      <a:pPr algn="ctr" fontAlgn="base">
                        <a:lnSpc>
                          <a:spcPts val="2175"/>
                        </a:lnSpc>
                        <a:buNone/>
                      </a:pPr>
                      <a:r>
                        <a:rPr lang="en-US" sz="1800" b="1" dirty="0">
                          <a:solidFill>
                            <a:srgbClr val="FFFFFF"/>
                          </a:solidFill>
                          <a:effectLst/>
                        </a:rPr>
                        <a:t>Share of Total US GDP</a:t>
                      </a:r>
                    </a:p>
                  </a:txBody>
                  <a:tcPr marL="4877" marR="4877" marT="3896" marB="3896" anchor="ctr">
                    <a:solidFill>
                      <a:srgbClr val="00518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88061391"/>
                  </a:ext>
                </a:extLst>
              </a:tr>
              <a:tr h="287868">
                <a:tc>
                  <a:txBody>
                    <a:bodyPr/>
                    <a:lstStyle/>
                    <a:p>
                      <a:pPr fontAlgn="b">
                        <a:buNone/>
                      </a:pPr>
                      <a:endParaRPr lang="en-US" sz="1200" dirty="0">
                        <a:effectLst/>
                      </a:endParaRPr>
                    </a:p>
                  </a:txBody>
                  <a:tcPr marL="4877" marR="4877" marT="4877" marB="4877" anchor="b">
                    <a:solidFill>
                      <a:srgbClr val="005188"/>
                    </a:solidFill>
                  </a:tcPr>
                </a:tc>
                <a:tc>
                  <a:txBody>
                    <a:bodyPr/>
                    <a:lstStyle/>
                    <a:p>
                      <a:pPr algn="r" fontAlgn="base">
                        <a:lnSpc>
                          <a:spcPts val="2175"/>
                        </a:lnSpc>
                        <a:buNone/>
                      </a:pPr>
                      <a:r>
                        <a:rPr lang="en-US" sz="1400" b="1" dirty="0">
                          <a:solidFill>
                            <a:srgbClr val="FFFFFF"/>
                          </a:solidFill>
                          <a:effectLst/>
                        </a:rPr>
                        <a:t>GDP (USD)</a:t>
                      </a:r>
                      <a:endParaRPr lang="en-US" sz="1400" b="0" i="0" dirty="0">
                        <a:solidFill>
                          <a:srgbClr val="000000"/>
                        </a:solidFill>
                        <a:effectLst/>
                      </a:endParaRPr>
                    </a:p>
                  </a:txBody>
                  <a:tcPr marL="4877" marR="182880" marT="4877" marB="4877" anchor="b">
                    <a:solidFill>
                      <a:srgbClr val="005188"/>
                    </a:solidFill>
                  </a:tcPr>
                </a:tc>
                <a:tc>
                  <a:txBody>
                    <a:bodyPr/>
                    <a:lstStyle/>
                    <a:p>
                      <a:pPr algn="r" fontAlgn="base">
                        <a:lnSpc>
                          <a:spcPts val="2175"/>
                        </a:lnSpc>
                        <a:buNone/>
                      </a:pPr>
                      <a:r>
                        <a:rPr lang="en-US" sz="1400" b="1" dirty="0">
                          <a:solidFill>
                            <a:srgbClr val="FFFFFF"/>
                          </a:solidFill>
                          <a:effectLst/>
                        </a:rPr>
                        <a:t>% of Total US GDP</a:t>
                      </a:r>
                      <a:endParaRPr lang="en-US" sz="1400" b="0" i="0" dirty="0">
                        <a:solidFill>
                          <a:srgbClr val="000000"/>
                        </a:solidFill>
                        <a:effectLst/>
                      </a:endParaRPr>
                    </a:p>
                  </a:txBody>
                  <a:tcPr marL="4877" marR="182880" marT="4877" marB="4877" anchor="b">
                    <a:solidFill>
                      <a:srgbClr val="005188"/>
                    </a:solidFill>
                  </a:tcPr>
                </a:tc>
                <a:extLst>
                  <a:ext uri="{0D108BD9-81ED-4DB2-BD59-A6C34878D82A}">
                    <a16:rowId xmlns:a16="http://schemas.microsoft.com/office/drawing/2014/main" val="455503944"/>
                  </a:ext>
                </a:extLst>
              </a:tr>
              <a:tr h="374974">
                <a:tc>
                  <a:txBody>
                    <a:bodyPr/>
                    <a:lstStyle/>
                    <a:p>
                      <a:pPr lvl="0" algn="l">
                        <a:lnSpc>
                          <a:spcPts val="2175"/>
                        </a:lnSpc>
                        <a:buNone/>
                      </a:pPr>
                      <a:r>
                        <a:rPr lang="en-US" sz="1800" b="0" i="0" u="none" strike="noStrike" noProof="0" dirty="0">
                          <a:solidFill>
                            <a:srgbClr val="000000"/>
                          </a:solidFill>
                          <a:effectLst/>
                          <a:highlight>
                            <a:srgbClr val="FFFF00"/>
                          </a:highlight>
                          <a:latin typeface="Franklin Gothic Book"/>
                        </a:rPr>
                        <a:t>AOI (State/Territory)</a:t>
                      </a:r>
                      <a:endParaRPr lang="en-US" dirty="0">
                        <a:highlight>
                          <a:srgbClr val="FFFF00"/>
                        </a:highlight>
                      </a:endParaRPr>
                    </a:p>
                  </a:txBody>
                  <a:tcPr marL="26708" marR="26708" marT="42739" marB="42739" anchor="ctr"/>
                </a:tc>
                <a:tc>
                  <a:txBody>
                    <a:bodyPr/>
                    <a:lstStyle/>
                    <a:p>
                      <a:pPr lvl="0" algn="r">
                        <a:lnSpc>
                          <a:spcPts val="2175"/>
                        </a:lnSpc>
                        <a:buNone/>
                      </a:pPr>
                      <a:r>
                        <a:rPr lang="en-US" sz="1800" b="0" i="0" u="none" strike="noStrike" noProof="0" dirty="0">
                          <a:solidFill>
                            <a:srgbClr val="000000"/>
                          </a:solidFill>
                          <a:effectLst/>
                          <a:highlight>
                            <a:srgbClr val="FFFF00"/>
                          </a:highlight>
                        </a:rPr>
                        <a:t>$X.XB (Yr of Data)</a:t>
                      </a:r>
                      <a:endParaRPr lang="en-US" dirty="0">
                        <a:highlight>
                          <a:srgbClr val="FFFF00"/>
                        </a:highlight>
                      </a:endParaRPr>
                    </a:p>
                  </a:txBody>
                  <a:tcPr marL="26708" marR="26708" marT="42739" marB="42739" anchor="ctr"/>
                </a:tc>
                <a:tc>
                  <a:txBody>
                    <a:bodyPr/>
                    <a:lstStyle/>
                    <a:p>
                      <a:pPr lvl="0" algn="r">
                        <a:lnSpc>
                          <a:spcPts val="2175"/>
                        </a:lnSpc>
                        <a:buNone/>
                      </a:pPr>
                      <a:r>
                        <a:rPr lang="en-US" sz="1800" b="0" i="0" u="none" strike="noStrike" dirty="0">
                          <a:solidFill>
                            <a:srgbClr val="000000"/>
                          </a:solidFill>
                          <a:effectLst/>
                          <a:highlight>
                            <a:srgbClr val="FFFF00"/>
                          </a:highlight>
                          <a:latin typeface="Franklin Gothic Book"/>
                        </a:rPr>
                        <a:t>X.XX%</a:t>
                      </a:r>
                      <a:endParaRPr lang="en-US" b="0" i="0" dirty="0">
                        <a:solidFill>
                          <a:srgbClr val="000000"/>
                        </a:solidFill>
                        <a:effectLst/>
                        <a:highlight>
                          <a:srgbClr val="FFFF00"/>
                        </a:highlight>
                        <a:latin typeface="Franklin Gothic Book"/>
                      </a:endParaRPr>
                    </a:p>
                  </a:txBody>
                  <a:tcPr marL="26708" marR="26708" marT="42739" marB="42739" anchor="ctr"/>
                </a:tc>
                <a:extLst>
                  <a:ext uri="{0D108BD9-81ED-4DB2-BD59-A6C34878D82A}">
                    <a16:rowId xmlns:a16="http://schemas.microsoft.com/office/drawing/2014/main" val="3982282628"/>
                  </a:ext>
                </a:extLst>
              </a:tr>
              <a:tr h="374974">
                <a:tc>
                  <a:txBody>
                    <a:bodyPr/>
                    <a:lstStyle/>
                    <a:p>
                      <a:pPr lvl="0" algn="l">
                        <a:lnSpc>
                          <a:spcPts val="2175"/>
                        </a:lnSpc>
                        <a:buNone/>
                      </a:pPr>
                      <a:r>
                        <a:rPr lang="en-US" sz="1800" b="0" i="0" u="none" strike="noStrike" dirty="0">
                          <a:solidFill>
                            <a:srgbClr val="000000"/>
                          </a:solidFill>
                          <a:effectLst/>
                          <a:latin typeface="Franklin Gothic Book"/>
                        </a:rPr>
                        <a:t>United States</a:t>
                      </a:r>
                      <a:endParaRPr lang="en-US" b="0" i="0" dirty="0">
                        <a:solidFill>
                          <a:srgbClr val="000000"/>
                        </a:solidFill>
                        <a:effectLst/>
                        <a:latin typeface="Franklin Gothic Book"/>
                      </a:endParaRPr>
                    </a:p>
                  </a:txBody>
                  <a:tcPr marL="26708" marR="26708" marT="42739" marB="42739" anchor="ctr">
                    <a:solidFill>
                      <a:schemeClr val="tx2">
                        <a:lumMod val="10000"/>
                        <a:lumOff val="90000"/>
                      </a:schemeClr>
                    </a:solidFill>
                  </a:tcPr>
                </a:tc>
                <a:tc>
                  <a:txBody>
                    <a:bodyPr/>
                    <a:lstStyle/>
                    <a:p>
                      <a:pPr lvl="0" algn="r">
                        <a:lnSpc>
                          <a:spcPts val="2175"/>
                        </a:lnSpc>
                        <a:buNone/>
                      </a:pPr>
                      <a:r>
                        <a:rPr lang="en-US" sz="1800" b="0" i="0" u="none" strike="noStrike" noProof="0" dirty="0">
                          <a:solidFill>
                            <a:srgbClr val="000000"/>
                          </a:solidFill>
                          <a:effectLst/>
                        </a:rPr>
                        <a:t>$29T (2024)</a:t>
                      </a:r>
                      <a:endParaRPr lang="en-US" dirty="0"/>
                    </a:p>
                  </a:txBody>
                  <a:tcPr marL="26708" marR="26708" marT="42739" marB="42739" anchor="ctr">
                    <a:solidFill>
                      <a:schemeClr val="tx2">
                        <a:lumMod val="10000"/>
                        <a:lumOff val="90000"/>
                      </a:schemeClr>
                    </a:solidFill>
                  </a:tcPr>
                </a:tc>
                <a:tc>
                  <a:txBody>
                    <a:bodyPr/>
                    <a:lstStyle/>
                    <a:p>
                      <a:pPr lvl="0" algn="r">
                        <a:lnSpc>
                          <a:spcPts val="2175"/>
                        </a:lnSpc>
                        <a:buNone/>
                      </a:pPr>
                      <a:r>
                        <a:rPr lang="en-US" sz="1800" b="0" i="0" u="none" strike="noStrike" dirty="0">
                          <a:solidFill>
                            <a:srgbClr val="000000"/>
                          </a:solidFill>
                          <a:effectLst/>
                          <a:latin typeface="Franklin Gothic Book"/>
                        </a:rPr>
                        <a:t>100%</a:t>
                      </a:r>
                      <a:endParaRPr lang="en-US" b="0" i="0" dirty="0">
                        <a:solidFill>
                          <a:srgbClr val="000000"/>
                        </a:solidFill>
                        <a:effectLst/>
                        <a:latin typeface="Franklin Gothic Book"/>
                      </a:endParaRPr>
                    </a:p>
                  </a:txBody>
                  <a:tcPr marL="26708" marR="26708" marT="42739" marB="42739" anchor="ctr">
                    <a:solidFill>
                      <a:schemeClr val="tx2">
                        <a:lumMod val="10000"/>
                        <a:lumOff val="90000"/>
                      </a:schemeClr>
                    </a:solidFill>
                  </a:tcPr>
                </a:tc>
                <a:extLst>
                  <a:ext uri="{0D108BD9-81ED-4DB2-BD59-A6C34878D82A}">
                    <a16:rowId xmlns:a16="http://schemas.microsoft.com/office/drawing/2014/main" val="928929574"/>
                  </a:ext>
                </a:extLst>
              </a:tr>
            </a:tbl>
          </a:graphicData>
        </a:graphic>
      </p:graphicFrame>
      <p:sp>
        <p:nvSpPr>
          <p:cNvPr id="9" name="Text Placeholder 8">
            <a:extLst>
              <a:ext uri="{FF2B5EF4-FFF2-40B4-BE49-F238E27FC236}">
                <a16:creationId xmlns:a16="http://schemas.microsoft.com/office/drawing/2014/main" id="{D5E40E2A-06FB-C203-2E7B-D45780383218}"/>
              </a:ext>
            </a:extLst>
          </p:cNvPr>
          <p:cNvSpPr>
            <a:spLocks noGrp="1"/>
          </p:cNvSpPr>
          <p:nvPr>
            <p:ph type="body" sz="quarter" idx="14"/>
          </p:nvPr>
        </p:nvSpPr>
        <p:spPr>
          <a:xfrm>
            <a:off x="444405" y="1839558"/>
            <a:ext cx="5230254" cy="2205317"/>
          </a:xfrm>
        </p:spPr>
        <p:txBody>
          <a:bodyPr/>
          <a:lstStyle/>
          <a:p>
            <a:pPr>
              <a:buNone/>
            </a:pPr>
            <a:r>
              <a:rPr lang="en-US" dirty="0"/>
              <a:t>Key BLUF/takeaway statement summarizing the most important information on this slide (bolded, no period, no bullet) – needs to answer the “So what”</a:t>
            </a:r>
          </a:p>
          <a:p>
            <a:pPr>
              <a:buNone/>
            </a:pPr>
            <a:endParaRPr lang="en-US" dirty="0"/>
          </a:p>
        </p:txBody>
      </p:sp>
      <p:sp>
        <p:nvSpPr>
          <p:cNvPr id="10" name="TextBox 9">
            <a:extLst>
              <a:ext uri="{FF2B5EF4-FFF2-40B4-BE49-F238E27FC236}">
                <a16:creationId xmlns:a16="http://schemas.microsoft.com/office/drawing/2014/main" id="{C58F552A-E68D-FF76-5C74-7ADCBCAE914B}"/>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2674218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6FDD5-2A3E-B492-3C95-37F6B5287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B62FD-A7D0-E577-5985-6049262F2156}"/>
              </a:ext>
            </a:extLst>
          </p:cNvPr>
          <p:cNvSpPr>
            <a:spLocks noGrp="1"/>
          </p:cNvSpPr>
          <p:nvPr>
            <p:ph type="title"/>
          </p:nvPr>
        </p:nvSpPr>
        <p:spPr>
          <a:xfrm>
            <a:off x="684519" y="966450"/>
            <a:ext cx="10822962" cy="457200"/>
          </a:xfrm>
        </p:spPr>
        <p:txBody>
          <a:bodyPr/>
          <a:lstStyle/>
          <a:p>
            <a:r>
              <a:rPr lang="en-US" sz="3200" dirty="0">
                <a:latin typeface="Franklin Gothic Heavy"/>
              </a:rPr>
              <a:t>Headliner Industries (Total GDP): Guam</a:t>
            </a:r>
          </a:p>
        </p:txBody>
      </p:sp>
      <p:graphicFrame>
        <p:nvGraphicFramePr>
          <p:cNvPr id="3" name="Table 2">
            <a:extLst>
              <a:ext uri="{FF2B5EF4-FFF2-40B4-BE49-F238E27FC236}">
                <a16:creationId xmlns:a16="http://schemas.microsoft.com/office/drawing/2014/main" id="{34322E39-1DF8-094A-9CF8-1F0D5AC9B1F6}"/>
              </a:ext>
            </a:extLst>
          </p:cNvPr>
          <p:cNvGraphicFramePr>
            <a:graphicFrameLocks noGrp="1"/>
          </p:cNvGraphicFramePr>
          <p:nvPr>
            <p:extLst>
              <p:ext uri="{D42A27DB-BD31-4B8C-83A1-F6EECF244321}">
                <p14:modId xmlns:p14="http://schemas.microsoft.com/office/powerpoint/2010/main" val="243260178"/>
              </p:ext>
            </p:extLst>
          </p:nvPr>
        </p:nvGraphicFramePr>
        <p:xfrm>
          <a:off x="5686806" y="1905375"/>
          <a:ext cx="6308911" cy="3926655"/>
        </p:xfrm>
        <a:graphic>
          <a:graphicData uri="http://schemas.openxmlformats.org/drawingml/2006/table">
            <a:tbl>
              <a:tblPr bandRow="1">
                <a:tableStyleId>{69012ECD-51FC-41F1-AA8D-1B2483CD663E}</a:tableStyleId>
              </a:tblPr>
              <a:tblGrid>
                <a:gridCol w="3639312">
                  <a:extLst>
                    <a:ext uri="{9D8B030D-6E8A-4147-A177-3AD203B41FA5}">
                      <a16:colId xmlns:a16="http://schemas.microsoft.com/office/drawing/2014/main" val="2264177730"/>
                    </a:ext>
                  </a:extLst>
                </a:gridCol>
                <a:gridCol w="2669599">
                  <a:extLst>
                    <a:ext uri="{9D8B030D-6E8A-4147-A177-3AD203B41FA5}">
                      <a16:colId xmlns:a16="http://schemas.microsoft.com/office/drawing/2014/main" val="2521575143"/>
                    </a:ext>
                  </a:extLst>
                </a:gridCol>
              </a:tblGrid>
              <a:tr h="421109">
                <a:tc gridSpan="2">
                  <a:txBody>
                    <a:bodyPr/>
                    <a:lstStyle/>
                    <a:p>
                      <a:pPr algn="ctr" fontAlgn="base">
                        <a:lnSpc>
                          <a:spcPts val="2175"/>
                        </a:lnSpc>
                        <a:buNone/>
                      </a:pPr>
                      <a:r>
                        <a:rPr lang="en-US" sz="1800" b="1" dirty="0">
                          <a:solidFill>
                            <a:srgbClr val="FFFFFF"/>
                          </a:solidFill>
                          <a:effectLst/>
                        </a:rPr>
                        <a:t>Top 10 Industries by GDP </a:t>
                      </a:r>
                      <a:r>
                        <a:rPr lang="en-US" sz="1800" b="1" dirty="0">
                          <a:solidFill>
                            <a:srgbClr val="FFFF00"/>
                          </a:solidFill>
                          <a:effectLst/>
                        </a:rPr>
                        <a:t>(Year of Data): [AOI]</a:t>
                      </a:r>
                    </a:p>
                  </a:txBody>
                  <a:tcPr marL="4877" marR="4877" marT="3896" marB="3896" anchor="ctr">
                    <a:solidFill>
                      <a:srgbClr val="005188"/>
                    </a:solidFill>
                  </a:tcPr>
                </a:tc>
                <a:tc hMerge="1">
                  <a:txBody>
                    <a:bodyPr/>
                    <a:lstStyle/>
                    <a:p>
                      <a:endParaRPr lang="en-US"/>
                    </a:p>
                  </a:txBody>
                  <a:tcPr/>
                </a:tc>
                <a:extLst>
                  <a:ext uri="{0D108BD9-81ED-4DB2-BD59-A6C34878D82A}">
                    <a16:rowId xmlns:a16="http://schemas.microsoft.com/office/drawing/2014/main" val="2288061391"/>
                  </a:ext>
                </a:extLst>
              </a:tr>
              <a:tr h="227454">
                <a:tc>
                  <a:txBody>
                    <a:bodyPr/>
                    <a:lstStyle/>
                    <a:p>
                      <a:pPr algn="ctr" fontAlgn="b">
                        <a:buNone/>
                      </a:pPr>
                      <a:r>
                        <a:rPr lang="en-US" sz="1600" b="1" dirty="0">
                          <a:solidFill>
                            <a:schemeClr val="bg1"/>
                          </a:solidFill>
                          <a:effectLst/>
                        </a:rPr>
                        <a:t>Industry</a:t>
                      </a:r>
                    </a:p>
                  </a:txBody>
                  <a:tcPr marL="4877" marR="4877" marT="4877" marB="4877" anchor="b">
                    <a:solidFill>
                      <a:srgbClr val="005188"/>
                    </a:solidFill>
                  </a:tcPr>
                </a:tc>
                <a:tc>
                  <a:txBody>
                    <a:bodyPr/>
                    <a:lstStyle/>
                    <a:p>
                      <a:pPr algn="r" fontAlgn="base">
                        <a:lnSpc>
                          <a:spcPts val="2175"/>
                        </a:lnSpc>
                        <a:buNone/>
                      </a:pPr>
                      <a:r>
                        <a:rPr lang="en-US" sz="1400" b="1" dirty="0">
                          <a:solidFill>
                            <a:srgbClr val="FFFFFF"/>
                          </a:solidFill>
                          <a:effectLst/>
                        </a:rPr>
                        <a:t>GDP in USD (% of total GDP)</a:t>
                      </a:r>
                      <a:endParaRPr lang="en-US" sz="1400" b="0" i="0" dirty="0">
                        <a:solidFill>
                          <a:srgbClr val="000000"/>
                        </a:solidFill>
                        <a:effectLst/>
                      </a:endParaRPr>
                    </a:p>
                  </a:txBody>
                  <a:tcPr marL="4877" marR="182880" marT="4877" marB="4877" anchor="b">
                    <a:solidFill>
                      <a:srgbClr val="005188"/>
                    </a:solidFill>
                  </a:tcPr>
                </a:tc>
                <a:extLst>
                  <a:ext uri="{0D108BD9-81ED-4DB2-BD59-A6C34878D82A}">
                    <a16:rowId xmlns:a16="http://schemas.microsoft.com/office/drawing/2014/main" val="455503944"/>
                  </a:ext>
                </a:extLst>
              </a:tr>
              <a:tr h="266305">
                <a:tc>
                  <a:txBody>
                    <a:bodyPr/>
                    <a:lstStyle/>
                    <a:p>
                      <a:pPr lvl="0" algn="l">
                        <a:lnSpc>
                          <a:spcPct val="100000"/>
                        </a:lnSpc>
                        <a:spcBef>
                          <a:spcPts val="0"/>
                        </a:spcBef>
                        <a:spcAft>
                          <a:spcPts val="0"/>
                        </a:spcAft>
                        <a:buNone/>
                      </a:pPr>
                      <a:r>
                        <a:rPr lang="en-US" sz="1400" b="0" i="0" u="none" strike="noStrike" noProof="0" dirty="0">
                          <a:solidFill>
                            <a:srgbClr val="000000"/>
                          </a:solidFill>
                          <a:effectLst/>
                          <a:highlight>
                            <a:srgbClr val="FFFF00"/>
                          </a:highlight>
                        </a:rPr>
                        <a:t>Hotels and motels (incl. casino hotels) </a:t>
                      </a:r>
                      <a:endParaRPr lang="en-US" dirty="0">
                        <a:highlight>
                          <a:srgbClr val="FFFF00"/>
                        </a:highlight>
                      </a:endParaRPr>
                    </a:p>
                  </a:txBody>
                  <a:tcPr anchor="ctr"/>
                </a:tc>
                <a:tc>
                  <a:txBody>
                    <a:bodyPr/>
                    <a:lstStyle/>
                    <a:p>
                      <a:pPr lvl="0" algn="r">
                        <a:lnSpc>
                          <a:spcPct val="100000"/>
                        </a:lnSpc>
                        <a:spcBef>
                          <a:spcPts val="0"/>
                        </a:spcBef>
                        <a:spcAft>
                          <a:spcPts val="0"/>
                        </a:spcAft>
                        <a:buNone/>
                      </a:pPr>
                      <a:r>
                        <a:rPr lang="en-US" sz="1400" b="0" i="0" u="none" strike="noStrike" kern="1200" noProof="0" dirty="0">
                          <a:solidFill>
                            <a:srgbClr val="000000"/>
                          </a:solidFill>
                          <a:effectLst/>
                          <a:highlight>
                            <a:srgbClr val="FFFF00"/>
                          </a:highlight>
                        </a:rPr>
                        <a:t>$594M (7.62%)</a:t>
                      </a:r>
                      <a:endParaRPr lang="en-US" dirty="0">
                        <a:highlight>
                          <a:srgbClr val="FFFF00"/>
                        </a:highlight>
                      </a:endParaRPr>
                    </a:p>
                  </a:txBody>
                  <a:tcPr anchor="ctr"/>
                </a:tc>
                <a:extLst>
                  <a:ext uri="{0D108BD9-81ED-4DB2-BD59-A6C34878D82A}">
                    <a16:rowId xmlns:a16="http://schemas.microsoft.com/office/drawing/2014/main" val="3982282628"/>
                  </a:ext>
                </a:extLst>
              </a:tr>
              <a:tr h="266305">
                <a:tc>
                  <a:txBody>
                    <a:bodyPr/>
                    <a:lstStyle/>
                    <a:p>
                      <a:pPr lvl="0" algn="l">
                        <a:lnSpc>
                          <a:spcPts val="1650"/>
                        </a:lnSpc>
                        <a:buNone/>
                      </a:pPr>
                      <a:r>
                        <a:rPr lang="en-US" sz="1400" b="0" i="0" u="none" strike="noStrike" noProof="0" dirty="0">
                          <a:solidFill>
                            <a:srgbClr val="000000"/>
                          </a:solidFill>
                          <a:effectLst/>
                          <a:highlight>
                            <a:srgbClr val="FFFF00"/>
                          </a:highlight>
                        </a:rPr>
                        <a:t>Air transportation </a:t>
                      </a:r>
                      <a:endParaRPr lang="en-US" dirty="0">
                        <a:highlight>
                          <a:srgbClr val="FFFF00"/>
                        </a:highlight>
                      </a:endParaRPr>
                    </a:p>
                  </a:txBody>
                  <a:tcPr anchor="ctr">
                    <a:solidFill>
                      <a:schemeClr val="tx2">
                        <a:lumMod val="10000"/>
                        <a:lumOff val="90000"/>
                      </a:schemeClr>
                    </a:solidFill>
                  </a:tcPr>
                </a:tc>
                <a:tc>
                  <a:txBody>
                    <a:bodyPr/>
                    <a:lstStyle/>
                    <a:p>
                      <a:pPr lvl="0" algn="r">
                        <a:lnSpc>
                          <a:spcPct val="100000"/>
                        </a:lnSpc>
                        <a:spcBef>
                          <a:spcPts val="0"/>
                        </a:spcBef>
                        <a:spcAft>
                          <a:spcPts val="0"/>
                        </a:spcAft>
                        <a:buNone/>
                      </a:pPr>
                      <a:r>
                        <a:rPr lang="en-US" sz="1400" b="0" i="0" u="none" strike="noStrike" noProof="0" dirty="0">
                          <a:solidFill>
                            <a:srgbClr val="000000"/>
                          </a:solidFill>
                          <a:effectLst/>
                          <a:highlight>
                            <a:srgbClr val="FFFF00"/>
                          </a:highlight>
                        </a:rPr>
                        <a:t>$375M (4.81%) </a:t>
                      </a:r>
                      <a:endParaRPr lang="en-US" sz="1400" b="0" i="0" u="none" strike="noStrike" noProof="0" dirty="0">
                        <a:solidFill>
                          <a:srgbClr val="000000"/>
                        </a:solidFill>
                        <a:effectLst/>
                        <a:highlight>
                          <a:srgbClr val="FFFF00"/>
                        </a:highlight>
                        <a:latin typeface="Franklin Gothic Book"/>
                      </a:endParaRPr>
                    </a:p>
                  </a:txBody>
                  <a:tcPr anchor="ctr">
                    <a:solidFill>
                      <a:schemeClr val="tx2">
                        <a:lumMod val="10000"/>
                        <a:lumOff val="90000"/>
                      </a:schemeClr>
                    </a:solidFill>
                  </a:tcPr>
                </a:tc>
                <a:extLst>
                  <a:ext uri="{0D108BD9-81ED-4DB2-BD59-A6C34878D82A}">
                    <a16:rowId xmlns:a16="http://schemas.microsoft.com/office/drawing/2014/main" val="928929574"/>
                  </a:ext>
                </a:extLst>
              </a:tr>
              <a:tr h="266305">
                <a:tc>
                  <a:txBody>
                    <a:bodyPr/>
                    <a:lstStyle/>
                    <a:p>
                      <a:pPr lvl="0" algn="l">
                        <a:lnSpc>
                          <a:spcPts val="1650"/>
                        </a:lnSpc>
                        <a:buNone/>
                      </a:pPr>
                      <a:r>
                        <a:rPr lang="en-US" sz="1400" b="0" i="0" u="none" strike="noStrike" noProof="0" dirty="0">
                          <a:solidFill>
                            <a:srgbClr val="000000"/>
                          </a:solidFill>
                          <a:effectLst/>
                          <a:highlight>
                            <a:srgbClr val="FFFF00"/>
                          </a:highlight>
                        </a:rPr>
                        <a:t>Retail — food and beverage stores </a:t>
                      </a:r>
                      <a:endParaRPr lang="en-US" dirty="0">
                        <a:highlight>
                          <a:srgbClr val="FFFF00"/>
                        </a:highlight>
                      </a:endParaRPr>
                    </a:p>
                  </a:txBody>
                  <a:tcPr anchor="ctr"/>
                </a:tc>
                <a:tc>
                  <a:txBody>
                    <a:bodyPr/>
                    <a:lstStyle/>
                    <a:p>
                      <a:pPr lvl="0" algn="r">
                        <a:lnSpc>
                          <a:spcPts val="1650"/>
                        </a:lnSpc>
                        <a:buNone/>
                      </a:pPr>
                      <a:r>
                        <a:rPr lang="en-US" sz="1400" b="0" i="0" u="none" strike="noStrike" noProof="0">
                          <a:solidFill>
                            <a:srgbClr val="000000"/>
                          </a:solidFill>
                          <a:effectLst/>
                          <a:highlight>
                            <a:srgbClr val="FFFF00"/>
                          </a:highlight>
                        </a:rPr>
                        <a:t>$191M (2.45%)</a:t>
                      </a:r>
                      <a:endParaRPr lang="en-US">
                        <a:highlight>
                          <a:srgbClr val="FFFF00"/>
                        </a:highlight>
                      </a:endParaRPr>
                    </a:p>
                  </a:txBody>
                  <a:tcPr anchor="ctr"/>
                </a:tc>
                <a:extLst>
                  <a:ext uri="{0D108BD9-81ED-4DB2-BD59-A6C34878D82A}">
                    <a16:rowId xmlns:a16="http://schemas.microsoft.com/office/drawing/2014/main" val="3317895345"/>
                  </a:ext>
                </a:extLst>
              </a:tr>
              <a:tr h="266305">
                <a:tc>
                  <a:txBody>
                    <a:bodyPr/>
                    <a:lstStyle/>
                    <a:p>
                      <a:pPr lvl="0" algn="l">
                        <a:lnSpc>
                          <a:spcPts val="1650"/>
                        </a:lnSpc>
                        <a:buNone/>
                      </a:pPr>
                      <a:r>
                        <a:rPr lang="en-US" sz="1400" b="0" i="0" u="none" strike="noStrike" noProof="0" dirty="0">
                          <a:solidFill>
                            <a:srgbClr val="000000"/>
                          </a:solidFill>
                          <a:effectLst/>
                          <a:highlight>
                            <a:srgbClr val="FFFF00"/>
                          </a:highlight>
                        </a:rPr>
                        <a:t>Retail — clothing and accessories </a:t>
                      </a:r>
                      <a:endParaRPr lang="en-US" dirty="0">
                        <a:highlight>
                          <a:srgbClr val="FFFF00"/>
                        </a:highlight>
                      </a:endParaRPr>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highlight>
                            <a:srgbClr val="FFFF00"/>
                          </a:highlight>
                        </a:rPr>
                        <a:t>$167M (2.14%) </a:t>
                      </a:r>
                      <a:endParaRPr lang="en-US" dirty="0">
                        <a:highlight>
                          <a:srgbClr val="FFFF00"/>
                        </a:highlight>
                      </a:endParaRPr>
                    </a:p>
                  </a:txBody>
                  <a:tcPr anchor="ctr">
                    <a:solidFill>
                      <a:schemeClr val="tx2">
                        <a:lumMod val="10000"/>
                        <a:lumOff val="90000"/>
                      </a:schemeClr>
                    </a:solidFill>
                  </a:tcPr>
                </a:tc>
                <a:extLst>
                  <a:ext uri="{0D108BD9-81ED-4DB2-BD59-A6C34878D82A}">
                    <a16:rowId xmlns:a16="http://schemas.microsoft.com/office/drawing/2014/main" val="3700267936"/>
                  </a:ext>
                </a:extLst>
              </a:tr>
              <a:tr h="266305">
                <a:tc>
                  <a:txBody>
                    <a:bodyPr/>
                    <a:lstStyle/>
                    <a:p>
                      <a:pPr lvl="0" algn="l">
                        <a:lnSpc>
                          <a:spcPts val="1650"/>
                        </a:lnSpc>
                        <a:buNone/>
                      </a:pPr>
                      <a:r>
                        <a:rPr lang="en-US" sz="1400" b="0" i="0" u="none" strike="noStrike" noProof="0">
                          <a:solidFill>
                            <a:srgbClr val="000000"/>
                          </a:solidFill>
                          <a:effectLst/>
                          <a:highlight>
                            <a:srgbClr val="FFFF00"/>
                          </a:highlight>
                        </a:rPr>
                        <a:t>Monetary authorities and banking </a:t>
                      </a:r>
                      <a:endParaRPr lang="en-US">
                        <a:highlight>
                          <a:srgbClr val="FFFF00"/>
                        </a:highlight>
                      </a:endParaRPr>
                    </a:p>
                  </a:txBody>
                  <a:tcPr anchor="ctr"/>
                </a:tc>
                <a:tc>
                  <a:txBody>
                    <a:bodyPr/>
                    <a:lstStyle/>
                    <a:p>
                      <a:pPr lvl="0" algn="r">
                        <a:lnSpc>
                          <a:spcPts val="1650"/>
                        </a:lnSpc>
                        <a:buNone/>
                      </a:pPr>
                      <a:r>
                        <a:rPr lang="en-US" sz="1400" b="0" i="0" u="none" strike="noStrike" noProof="0" dirty="0">
                          <a:solidFill>
                            <a:srgbClr val="000000"/>
                          </a:solidFill>
                          <a:effectLst/>
                          <a:highlight>
                            <a:srgbClr val="FFFF00"/>
                          </a:highlight>
                        </a:rPr>
                        <a:t>$141M (1.81%) </a:t>
                      </a:r>
                      <a:endParaRPr lang="en-US" dirty="0">
                        <a:highlight>
                          <a:srgbClr val="FFFF00"/>
                        </a:highlight>
                      </a:endParaRPr>
                    </a:p>
                  </a:txBody>
                  <a:tcPr anchor="ctr"/>
                </a:tc>
                <a:extLst>
                  <a:ext uri="{0D108BD9-81ED-4DB2-BD59-A6C34878D82A}">
                    <a16:rowId xmlns:a16="http://schemas.microsoft.com/office/drawing/2014/main" val="3977687381"/>
                  </a:ext>
                </a:extLst>
              </a:tr>
              <a:tr h="485431">
                <a:tc>
                  <a:txBody>
                    <a:bodyPr/>
                    <a:lstStyle/>
                    <a:p>
                      <a:pPr lvl="0" algn="l">
                        <a:lnSpc>
                          <a:spcPts val="1650"/>
                        </a:lnSpc>
                        <a:buNone/>
                      </a:pPr>
                      <a:r>
                        <a:rPr lang="en-US" sz="1400" b="0" i="0" u="none" strike="noStrike" noProof="0" dirty="0">
                          <a:solidFill>
                            <a:srgbClr val="000000"/>
                          </a:solidFill>
                          <a:effectLst/>
                          <a:highlight>
                            <a:srgbClr val="FFFF00"/>
                          </a:highlight>
                        </a:rPr>
                        <a:t>Construction — single-family residential </a:t>
                      </a:r>
                      <a:endParaRPr lang="en-US" dirty="0">
                        <a:highlight>
                          <a:srgbClr val="FFFF00"/>
                        </a:highlight>
                      </a:endParaRPr>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highlight>
                            <a:srgbClr val="FFFF00"/>
                          </a:highlight>
                        </a:rPr>
                        <a:t>$141M (1.81%) </a:t>
                      </a:r>
                      <a:endParaRPr lang="en-US" dirty="0">
                        <a:highlight>
                          <a:srgbClr val="FFFF00"/>
                        </a:highlight>
                      </a:endParaRPr>
                    </a:p>
                  </a:txBody>
                  <a:tcPr anchor="ctr">
                    <a:solidFill>
                      <a:schemeClr val="tx2">
                        <a:lumMod val="10000"/>
                        <a:lumOff val="90000"/>
                      </a:schemeClr>
                    </a:solidFill>
                  </a:tcPr>
                </a:tc>
                <a:extLst>
                  <a:ext uri="{0D108BD9-81ED-4DB2-BD59-A6C34878D82A}">
                    <a16:rowId xmlns:a16="http://schemas.microsoft.com/office/drawing/2014/main" val="2122974324"/>
                  </a:ext>
                </a:extLst>
              </a:tr>
              <a:tr h="316885">
                <a:tc>
                  <a:txBody>
                    <a:bodyPr/>
                    <a:lstStyle/>
                    <a:p>
                      <a:pPr lvl="0" algn="l">
                        <a:lnSpc>
                          <a:spcPts val="1650"/>
                        </a:lnSpc>
                        <a:buNone/>
                      </a:pPr>
                      <a:r>
                        <a:rPr lang="en-US" sz="1400" b="0" i="0" u="none" strike="noStrike" noProof="0" dirty="0">
                          <a:solidFill>
                            <a:srgbClr val="000000"/>
                          </a:solidFill>
                          <a:effectLst/>
                          <a:highlight>
                            <a:srgbClr val="FFFF00"/>
                          </a:highlight>
                        </a:rPr>
                        <a:t>Retail — motor vehicle and parts dealers </a:t>
                      </a:r>
                      <a:endParaRPr lang="en-US" dirty="0">
                        <a:highlight>
                          <a:srgbClr val="FFFF00"/>
                        </a:highlight>
                      </a:endParaRPr>
                    </a:p>
                  </a:txBody>
                  <a:tcPr anchor="ctr"/>
                </a:tc>
                <a:tc>
                  <a:txBody>
                    <a:bodyPr/>
                    <a:lstStyle/>
                    <a:p>
                      <a:pPr lvl="0" algn="r">
                        <a:lnSpc>
                          <a:spcPts val="1650"/>
                        </a:lnSpc>
                        <a:buNone/>
                      </a:pPr>
                      <a:r>
                        <a:rPr lang="en-US" sz="1400" b="0" i="0" u="none" strike="noStrike" noProof="0" dirty="0">
                          <a:solidFill>
                            <a:srgbClr val="000000"/>
                          </a:solidFill>
                          <a:effectLst/>
                          <a:highlight>
                            <a:srgbClr val="FFFF00"/>
                          </a:highlight>
                        </a:rPr>
                        <a:t>$140M (1.79%) </a:t>
                      </a:r>
                      <a:endParaRPr lang="en-US" dirty="0">
                        <a:highlight>
                          <a:srgbClr val="FFFF00"/>
                        </a:highlight>
                      </a:endParaRPr>
                    </a:p>
                  </a:txBody>
                  <a:tcPr anchor="ctr"/>
                </a:tc>
                <a:extLst>
                  <a:ext uri="{0D108BD9-81ED-4DB2-BD59-A6C34878D82A}">
                    <a16:rowId xmlns:a16="http://schemas.microsoft.com/office/drawing/2014/main" val="840601713"/>
                  </a:ext>
                </a:extLst>
              </a:tr>
              <a:tr h="316885">
                <a:tc>
                  <a:txBody>
                    <a:bodyPr/>
                    <a:lstStyle/>
                    <a:p>
                      <a:pPr lvl="0" algn="l">
                        <a:lnSpc>
                          <a:spcPts val="1650"/>
                        </a:lnSpc>
                        <a:buNone/>
                      </a:pPr>
                      <a:r>
                        <a:rPr lang="en-US" sz="1400" b="0" i="0" u="none" strike="noStrike" noProof="0" dirty="0">
                          <a:solidFill>
                            <a:srgbClr val="000000"/>
                          </a:solidFill>
                          <a:effectLst/>
                          <a:highlight>
                            <a:srgbClr val="FFFF00"/>
                          </a:highlight>
                        </a:rPr>
                        <a:t>Retail — general merchandise stores </a:t>
                      </a:r>
                      <a:endParaRPr lang="en-US" dirty="0">
                        <a:highlight>
                          <a:srgbClr val="FFFF00"/>
                        </a:highlight>
                      </a:endParaRPr>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highlight>
                            <a:srgbClr val="FFFF00"/>
                          </a:highlight>
                        </a:rPr>
                        <a:t>$129M (1.65%) </a:t>
                      </a:r>
                      <a:endParaRPr lang="en-US" dirty="0">
                        <a:highlight>
                          <a:srgbClr val="FFFF00"/>
                        </a:highlight>
                      </a:endParaRPr>
                    </a:p>
                  </a:txBody>
                  <a:tcPr anchor="ctr">
                    <a:solidFill>
                      <a:schemeClr val="tx2">
                        <a:lumMod val="10000"/>
                        <a:lumOff val="90000"/>
                      </a:schemeClr>
                    </a:solidFill>
                  </a:tcPr>
                </a:tc>
                <a:extLst>
                  <a:ext uri="{0D108BD9-81ED-4DB2-BD59-A6C34878D82A}">
                    <a16:rowId xmlns:a16="http://schemas.microsoft.com/office/drawing/2014/main" val="2957203038"/>
                  </a:ext>
                </a:extLst>
              </a:tr>
              <a:tr h="316885">
                <a:tc>
                  <a:txBody>
                    <a:bodyPr/>
                    <a:lstStyle/>
                    <a:p>
                      <a:pPr lvl="0" algn="l">
                        <a:lnSpc>
                          <a:spcPts val="1650"/>
                        </a:lnSpc>
                        <a:buNone/>
                      </a:pPr>
                      <a:r>
                        <a:rPr lang="en-US" sz="1400" b="0" i="0" u="none" strike="noStrike" noProof="0" dirty="0">
                          <a:solidFill>
                            <a:srgbClr val="000000"/>
                          </a:solidFill>
                          <a:effectLst/>
                          <a:highlight>
                            <a:srgbClr val="FFFF00"/>
                          </a:highlight>
                        </a:rPr>
                        <a:t>Insurance agencies and brokerages </a:t>
                      </a:r>
                      <a:endParaRPr lang="en-US" dirty="0">
                        <a:highlight>
                          <a:srgbClr val="FFFF00"/>
                        </a:highlight>
                      </a:endParaRPr>
                    </a:p>
                  </a:txBody>
                  <a:tcPr anchor="ctr"/>
                </a:tc>
                <a:tc>
                  <a:txBody>
                    <a:bodyPr/>
                    <a:lstStyle/>
                    <a:p>
                      <a:pPr lvl="0" algn="r">
                        <a:lnSpc>
                          <a:spcPts val="1650"/>
                        </a:lnSpc>
                        <a:buNone/>
                      </a:pPr>
                      <a:r>
                        <a:rPr lang="en-US" sz="1400" b="0" i="0" u="none" strike="noStrike" noProof="0" dirty="0">
                          <a:solidFill>
                            <a:srgbClr val="000000"/>
                          </a:solidFill>
                          <a:effectLst/>
                          <a:highlight>
                            <a:srgbClr val="FFFF00"/>
                          </a:highlight>
                        </a:rPr>
                        <a:t>$116M (1.49%) </a:t>
                      </a:r>
                      <a:endParaRPr lang="en-US" dirty="0">
                        <a:highlight>
                          <a:srgbClr val="FFFF00"/>
                        </a:highlight>
                      </a:endParaRPr>
                    </a:p>
                  </a:txBody>
                  <a:tcPr anchor="ctr"/>
                </a:tc>
                <a:extLst>
                  <a:ext uri="{0D108BD9-81ED-4DB2-BD59-A6C34878D82A}">
                    <a16:rowId xmlns:a16="http://schemas.microsoft.com/office/drawing/2014/main" val="585110735"/>
                  </a:ext>
                </a:extLst>
              </a:tr>
              <a:tr h="316885">
                <a:tc>
                  <a:txBody>
                    <a:bodyPr/>
                    <a:lstStyle/>
                    <a:p>
                      <a:pPr lvl="0" algn="l">
                        <a:lnSpc>
                          <a:spcPts val="1650"/>
                        </a:lnSpc>
                        <a:buNone/>
                      </a:pPr>
                      <a:r>
                        <a:rPr lang="en-US" sz="1400" b="0" i="0" u="none" strike="noStrike" noProof="0" dirty="0">
                          <a:solidFill>
                            <a:srgbClr val="000000"/>
                          </a:solidFill>
                          <a:effectLst/>
                          <a:highlight>
                            <a:srgbClr val="FFFF00"/>
                          </a:highlight>
                        </a:rPr>
                        <a:t>Retail — building material and garden supply </a:t>
                      </a:r>
                      <a:endParaRPr lang="en-US" dirty="0">
                        <a:highlight>
                          <a:srgbClr val="FFFF00"/>
                        </a:highlight>
                      </a:endParaRPr>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highlight>
                            <a:srgbClr val="FFFF00"/>
                          </a:highlight>
                        </a:rPr>
                        <a:t>$102M (1.31%) </a:t>
                      </a:r>
                      <a:endParaRPr lang="en-US" dirty="0">
                        <a:highlight>
                          <a:srgbClr val="FFFF00"/>
                        </a:highlight>
                      </a:endParaRPr>
                    </a:p>
                  </a:txBody>
                  <a:tcPr anchor="ctr">
                    <a:solidFill>
                      <a:schemeClr val="tx2">
                        <a:lumMod val="10000"/>
                        <a:lumOff val="90000"/>
                      </a:schemeClr>
                    </a:solidFill>
                  </a:tcPr>
                </a:tc>
                <a:extLst>
                  <a:ext uri="{0D108BD9-81ED-4DB2-BD59-A6C34878D82A}">
                    <a16:rowId xmlns:a16="http://schemas.microsoft.com/office/drawing/2014/main" val="494519924"/>
                  </a:ext>
                </a:extLst>
              </a:tr>
            </a:tbl>
          </a:graphicData>
        </a:graphic>
      </p:graphicFrame>
      <p:sp>
        <p:nvSpPr>
          <p:cNvPr id="8" name="TextBox 7">
            <a:extLst>
              <a:ext uri="{FF2B5EF4-FFF2-40B4-BE49-F238E27FC236}">
                <a16:creationId xmlns:a16="http://schemas.microsoft.com/office/drawing/2014/main" id="{D959EF2D-93E4-78AB-8E50-1CEA0A769F84}"/>
              </a:ext>
            </a:extLst>
          </p:cNvPr>
          <p:cNvSpPr txBox="1"/>
          <p:nvPr/>
        </p:nvSpPr>
        <p:spPr>
          <a:xfrm>
            <a:off x="5793261" y="5826786"/>
            <a:ext cx="6096000" cy="230832"/>
          </a:xfrm>
          <a:prstGeom prst="rect">
            <a:avLst/>
          </a:prstGeom>
          <a:noFill/>
        </p:spPr>
        <p:txBody>
          <a:bodyPr wrap="square">
            <a:spAutoFit/>
          </a:bodyPr>
          <a:lstStyle/>
          <a:p>
            <a:pPr marL="0" indent="0">
              <a:buNone/>
            </a:pPr>
            <a:r>
              <a:rPr lang="en-US" sz="900" b="0" dirty="0"/>
              <a:t>† Government as an industry was excluded from rankings. </a:t>
            </a:r>
          </a:p>
        </p:txBody>
      </p:sp>
      <p:sp>
        <p:nvSpPr>
          <p:cNvPr id="10" name="Text Placeholder 3">
            <a:extLst>
              <a:ext uri="{FF2B5EF4-FFF2-40B4-BE49-F238E27FC236}">
                <a16:creationId xmlns:a16="http://schemas.microsoft.com/office/drawing/2014/main" id="{4475ADB8-E23D-1B23-F3D8-9262DD22616F}"/>
              </a:ext>
            </a:extLst>
          </p:cNvPr>
          <p:cNvSpPr txBox="1">
            <a:spLocks/>
          </p:cNvSpPr>
          <p:nvPr/>
        </p:nvSpPr>
        <p:spPr>
          <a:xfrm>
            <a:off x="336378" y="1744858"/>
            <a:ext cx="5037067" cy="4315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Key BLUF/takeaway statement summarizing the most important information on this slide (bolded, no period, no bullet) – needs to answer the “So what”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ea typeface="+mn-lt"/>
                <a:cs typeface="+mn-lt"/>
              </a:rPr>
              <a:t>Table comes from running python notebook: top_industry.py</a:t>
            </a:r>
            <a:endParaRPr lang="en-US" sz="1800" b="0" dirty="0"/>
          </a:p>
          <a:p>
            <a:pPr>
              <a:lnSpc>
                <a:spcPct val="100000"/>
              </a:lnSpc>
            </a:pPr>
            <a:endParaRPr lang="en-US" sz="1800" b="0" dirty="0"/>
          </a:p>
        </p:txBody>
      </p:sp>
      <p:sp>
        <p:nvSpPr>
          <p:cNvPr id="11" name="TextBox 10">
            <a:extLst>
              <a:ext uri="{FF2B5EF4-FFF2-40B4-BE49-F238E27FC236}">
                <a16:creationId xmlns:a16="http://schemas.microsoft.com/office/drawing/2014/main" id="{2AF01E64-2D01-5BC0-7A05-ACF3317C8FAD}"/>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3123742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8FE03-462C-1712-A751-8849FC910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1D0617-8A7C-A8B1-FCE9-EB2DD4BA05BE}"/>
              </a:ext>
            </a:extLst>
          </p:cNvPr>
          <p:cNvSpPr>
            <a:spLocks noGrp="1"/>
          </p:cNvSpPr>
          <p:nvPr>
            <p:ph type="title"/>
          </p:nvPr>
        </p:nvSpPr>
        <p:spPr>
          <a:xfrm>
            <a:off x="684519" y="968037"/>
            <a:ext cx="10822962" cy="457200"/>
          </a:xfrm>
        </p:spPr>
        <p:txBody>
          <a:bodyPr/>
          <a:lstStyle/>
          <a:p>
            <a:r>
              <a:rPr lang="en-US" sz="3200" dirty="0">
                <a:latin typeface="Franklin Gothic Heavy"/>
              </a:rPr>
              <a:t>Headliner Industries (Employee Count): </a:t>
            </a:r>
            <a:r>
              <a:rPr lang="en-US" sz="3200" dirty="0">
                <a:solidFill>
                  <a:srgbClr val="FFFF00"/>
                </a:solidFill>
                <a:latin typeface="Franklin Gothic Heavy"/>
              </a:rPr>
              <a:t>[AOI]</a:t>
            </a:r>
            <a:endParaRPr lang="en-US" sz="3200" dirty="0">
              <a:solidFill>
                <a:srgbClr val="FFFF00"/>
              </a:solidFill>
            </a:endParaRPr>
          </a:p>
        </p:txBody>
      </p:sp>
      <p:graphicFrame>
        <p:nvGraphicFramePr>
          <p:cNvPr id="7" name="Table 6">
            <a:extLst>
              <a:ext uri="{FF2B5EF4-FFF2-40B4-BE49-F238E27FC236}">
                <a16:creationId xmlns:a16="http://schemas.microsoft.com/office/drawing/2014/main" id="{72C6C751-962F-C057-7CA0-4034892473CB}"/>
              </a:ext>
            </a:extLst>
          </p:cNvPr>
          <p:cNvGraphicFramePr>
            <a:graphicFrameLocks noGrp="1"/>
          </p:cNvGraphicFramePr>
          <p:nvPr>
            <p:extLst>
              <p:ext uri="{D42A27DB-BD31-4B8C-83A1-F6EECF244321}">
                <p14:modId xmlns:p14="http://schemas.microsoft.com/office/powerpoint/2010/main" val="3201154840"/>
              </p:ext>
            </p:extLst>
          </p:nvPr>
        </p:nvGraphicFramePr>
        <p:xfrm>
          <a:off x="5408295" y="1720558"/>
          <a:ext cx="6308911" cy="4301028"/>
        </p:xfrm>
        <a:graphic>
          <a:graphicData uri="http://schemas.openxmlformats.org/drawingml/2006/table">
            <a:tbl>
              <a:tblPr bandRow="1">
                <a:tableStyleId>{69012ECD-51FC-41F1-AA8D-1B2483CD663E}</a:tableStyleId>
              </a:tblPr>
              <a:tblGrid>
                <a:gridCol w="3639312">
                  <a:extLst>
                    <a:ext uri="{9D8B030D-6E8A-4147-A177-3AD203B41FA5}">
                      <a16:colId xmlns:a16="http://schemas.microsoft.com/office/drawing/2014/main" val="2264177730"/>
                    </a:ext>
                  </a:extLst>
                </a:gridCol>
                <a:gridCol w="2669599">
                  <a:extLst>
                    <a:ext uri="{9D8B030D-6E8A-4147-A177-3AD203B41FA5}">
                      <a16:colId xmlns:a16="http://schemas.microsoft.com/office/drawing/2014/main" val="2521575143"/>
                    </a:ext>
                  </a:extLst>
                </a:gridCol>
              </a:tblGrid>
              <a:tr h="336183">
                <a:tc gridSpan="2">
                  <a:txBody>
                    <a:bodyPr/>
                    <a:lstStyle/>
                    <a:p>
                      <a:pPr algn="ctr" fontAlgn="base">
                        <a:lnSpc>
                          <a:spcPts val="2175"/>
                        </a:lnSpc>
                        <a:buNone/>
                      </a:pPr>
                      <a:r>
                        <a:rPr lang="en-US" sz="1800" b="1" dirty="0">
                          <a:solidFill>
                            <a:srgbClr val="FFFFFF"/>
                          </a:solidFill>
                          <a:effectLst/>
                        </a:rPr>
                        <a:t>Top 10 Industries by GDP </a:t>
                      </a:r>
                      <a:r>
                        <a:rPr lang="en-US" sz="1800" b="1" dirty="0">
                          <a:solidFill>
                            <a:srgbClr val="FFFF00"/>
                          </a:solidFill>
                          <a:effectLst/>
                        </a:rPr>
                        <a:t>(Year of Data): [AOI]</a:t>
                      </a:r>
                      <a:endParaRPr lang="en-US" sz="1800" b="1" dirty="0">
                        <a:solidFill>
                          <a:srgbClr val="FFFFFF"/>
                        </a:solidFill>
                        <a:effectLst/>
                      </a:endParaRPr>
                    </a:p>
                  </a:txBody>
                  <a:tcPr marL="4877" marR="4877" marT="3896" marB="3896" anchor="ctr">
                    <a:solidFill>
                      <a:srgbClr val="005188"/>
                    </a:solidFill>
                  </a:tcPr>
                </a:tc>
                <a:tc hMerge="1">
                  <a:txBody>
                    <a:bodyPr/>
                    <a:lstStyle/>
                    <a:p>
                      <a:endParaRPr lang="en-US"/>
                    </a:p>
                  </a:txBody>
                  <a:tcPr/>
                </a:tc>
                <a:extLst>
                  <a:ext uri="{0D108BD9-81ED-4DB2-BD59-A6C34878D82A}">
                    <a16:rowId xmlns:a16="http://schemas.microsoft.com/office/drawing/2014/main" val="2288061391"/>
                  </a:ext>
                </a:extLst>
              </a:tr>
              <a:tr h="237400">
                <a:tc>
                  <a:txBody>
                    <a:bodyPr/>
                    <a:lstStyle/>
                    <a:p>
                      <a:pPr algn="ctr" fontAlgn="b">
                        <a:buNone/>
                      </a:pPr>
                      <a:r>
                        <a:rPr lang="en-US" sz="1600" b="1" dirty="0">
                          <a:solidFill>
                            <a:schemeClr val="bg1"/>
                          </a:solidFill>
                          <a:effectLst/>
                        </a:rPr>
                        <a:t>Industry</a:t>
                      </a:r>
                    </a:p>
                  </a:txBody>
                  <a:tcPr marL="4877" marR="4877" marT="4877" marB="4877" anchor="b">
                    <a:solidFill>
                      <a:srgbClr val="005188"/>
                    </a:solidFill>
                  </a:tcPr>
                </a:tc>
                <a:tc>
                  <a:txBody>
                    <a:bodyPr/>
                    <a:lstStyle/>
                    <a:p>
                      <a:pPr algn="r" fontAlgn="base">
                        <a:lnSpc>
                          <a:spcPts val="2175"/>
                        </a:lnSpc>
                        <a:buNone/>
                      </a:pPr>
                      <a:r>
                        <a:rPr lang="en-US" sz="1400" b="1" dirty="0">
                          <a:solidFill>
                            <a:srgbClr val="FFFFFF"/>
                          </a:solidFill>
                          <a:effectLst/>
                        </a:rPr>
                        <a:t>Total No. of Employees</a:t>
                      </a:r>
                      <a:endParaRPr lang="en-US" sz="1400" b="0" i="0" dirty="0">
                        <a:solidFill>
                          <a:srgbClr val="000000"/>
                        </a:solidFill>
                        <a:effectLst/>
                      </a:endParaRPr>
                    </a:p>
                  </a:txBody>
                  <a:tcPr marL="4877" marR="182880" marT="4877" marB="4877" anchor="b">
                    <a:solidFill>
                      <a:srgbClr val="005188"/>
                    </a:solidFill>
                  </a:tcPr>
                </a:tc>
                <a:extLst>
                  <a:ext uri="{0D108BD9-81ED-4DB2-BD59-A6C34878D82A}">
                    <a16:rowId xmlns:a16="http://schemas.microsoft.com/office/drawing/2014/main" val="455503944"/>
                  </a:ext>
                </a:extLst>
              </a:tr>
              <a:tr h="278094">
                <a:tc>
                  <a:txBody>
                    <a:bodyPr/>
                    <a:lstStyle/>
                    <a:p>
                      <a:pPr lvl="0" algn="l">
                        <a:lnSpc>
                          <a:spcPct val="100000"/>
                        </a:lnSpc>
                        <a:spcBef>
                          <a:spcPts val="0"/>
                        </a:spcBef>
                        <a:spcAft>
                          <a:spcPts val="0"/>
                        </a:spcAft>
                        <a:buNone/>
                      </a:pPr>
                      <a:r>
                        <a:rPr lang="en-US" sz="1400" b="0" i="0" u="none" strike="noStrike" noProof="0" dirty="0">
                          <a:solidFill>
                            <a:srgbClr val="000000"/>
                          </a:solidFill>
                          <a:effectLst/>
                          <a:highlight>
                            <a:srgbClr val="FFFF00"/>
                          </a:highlight>
                          <a:latin typeface="Franklin Gothic Book"/>
                        </a:rPr>
                        <a:t>Hotels and motels, including casino hotels</a:t>
                      </a:r>
                      <a:endParaRPr lang="en-US" dirty="0">
                        <a:highlight>
                          <a:srgbClr val="FFFF00"/>
                        </a:highlight>
                        <a:latin typeface="Franklin Gothic Book"/>
                      </a:endParaRPr>
                    </a:p>
                  </a:txBody>
                  <a:tcPr anchor="ctr"/>
                </a:tc>
                <a:tc>
                  <a:txBody>
                    <a:bodyPr/>
                    <a:lstStyle/>
                    <a:p>
                      <a:pPr lvl="0" algn="r">
                        <a:lnSpc>
                          <a:spcPct val="100000"/>
                        </a:lnSpc>
                        <a:spcBef>
                          <a:spcPts val="0"/>
                        </a:spcBef>
                        <a:spcAft>
                          <a:spcPts val="0"/>
                        </a:spcAft>
                        <a:buNone/>
                      </a:pPr>
                      <a:r>
                        <a:rPr lang="en-US" sz="1400" b="0" i="0" u="none" strike="noStrike" kern="1200" noProof="0" dirty="0">
                          <a:solidFill>
                            <a:srgbClr val="000000"/>
                          </a:solidFill>
                          <a:effectLst/>
                          <a:highlight>
                            <a:srgbClr val="FFFF00"/>
                          </a:highlight>
                          <a:latin typeface="Franklin Gothic Book"/>
                        </a:rPr>
                        <a:t>8,290</a:t>
                      </a:r>
                      <a:endParaRPr lang="en-US" dirty="0">
                        <a:highlight>
                          <a:srgbClr val="FFFF00"/>
                        </a:highlight>
                      </a:endParaRPr>
                    </a:p>
                  </a:txBody>
                  <a:tcPr anchor="ctr"/>
                </a:tc>
                <a:extLst>
                  <a:ext uri="{0D108BD9-81ED-4DB2-BD59-A6C34878D82A}">
                    <a16:rowId xmlns:a16="http://schemas.microsoft.com/office/drawing/2014/main" val="3982282628"/>
                  </a:ext>
                </a:extLst>
              </a:tr>
              <a:tr h="278094">
                <a:tc>
                  <a:txBody>
                    <a:bodyPr/>
                    <a:lstStyle/>
                    <a:p>
                      <a:pPr lvl="0" algn="l">
                        <a:lnSpc>
                          <a:spcPts val="1650"/>
                        </a:lnSpc>
                        <a:buNone/>
                      </a:pPr>
                      <a:r>
                        <a:rPr lang="en-US" sz="1400" b="0" i="0" u="none" strike="noStrike" noProof="0" dirty="0">
                          <a:solidFill>
                            <a:srgbClr val="000000"/>
                          </a:solidFill>
                          <a:effectLst/>
                          <a:highlight>
                            <a:srgbClr val="FFFF00"/>
                          </a:highlight>
                          <a:latin typeface="Franklin Gothic Book"/>
                        </a:rPr>
                        <a:t>Retail - Food and beverage stores </a:t>
                      </a:r>
                      <a:endParaRPr lang="en-US" dirty="0">
                        <a:highlight>
                          <a:srgbClr val="FFFF00"/>
                        </a:highlight>
                      </a:endParaRPr>
                    </a:p>
                  </a:txBody>
                  <a:tcPr anchor="ctr">
                    <a:solidFill>
                      <a:schemeClr val="tx2">
                        <a:lumMod val="10000"/>
                        <a:lumOff val="90000"/>
                      </a:schemeClr>
                    </a:solidFill>
                  </a:tcPr>
                </a:tc>
                <a:tc>
                  <a:txBody>
                    <a:bodyPr/>
                    <a:lstStyle/>
                    <a:p>
                      <a:pPr lvl="0" algn="r">
                        <a:lnSpc>
                          <a:spcPct val="100000"/>
                        </a:lnSpc>
                        <a:spcBef>
                          <a:spcPts val="0"/>
                        </a:spcBef>
                        <a:spcAft>
                          <a:spcPts val="0"/>
                        </a:spcAft>
                        <a:buNone/>
                      </a:pPr>
                      <a:r>
                        <a:rPr lang="en-US" sz="1400" b="0" i="0" u="none" strike="noStrike" noProof="0" dirty="0">
                          <a:solidFill>
                            <a:srgbClr val="000000"/>
                          </a:solidFill>
                          <a:effectLst/>
                          <a:highlight>
                            <a:srgbClr val="FFFF00"/>
                          </a:highlight>
                          <a:latin typeface="Franklin Gothic Book"/>
                        </a:rPr>
                        <a:t>3,892</a:t>
                      </a:r>
                      <a:endParaRPr lang="en-US" dirty="0">
                        <a:highlight>
                          <a:srgbClr val="FFFF00"/>
                        </a:highlight>
                      </a:endParaRPr>
                    </a:p>
                  </a:txBody>
                  <a:tcPr anchor="ctr">
                    <a:solidFill>
                      <a:schemeClr val="tx2">
                        <a:lumMod val="10000"/>
                        <a:lumOff val="90000"/>
                      </a:schemeClr>
                    </a:solidFill>
                  </a:tcPr>
                </a:tc>
                <a:extLst>
                  <a:ext uri="{0D108BD9-81ED-4DB2-BD59-A6C34878D82A}">
                    <a16:rowId xmlns:a16="http://schemas.microsoft.com/office/drawing/2014/main" val="928929574"/>
                  </a:ext>
                </a:extLst>
              </a:tr>
              <a:tr h="465459">
                <a:tc>
                  <a:txBody>
                    <a:bodyPr/>
                    <a:lstStyle/>
                    <a:p>
                      <a:pPr lvl="0" algn="l">
                        <a:lnSpc>
                          <a:spcPts val="1650"/>
                        </a:lnSpc>
                        <a:buNone/>
                      </a:pPr>
                      <a:r>
                        <a:rPr lang="en-US" sz="1400" b="0" i="0" u="none" strike="noStrike" noProof="0" dirty="0">
                          <a:solidFill>
                            <a:srgbClr val="000000"/>
                          </a:solidFill>
                          <a:effectLst/>
                          <a:highlight>
                            <a:srgbClr val="FFFF00"/>
                          </a:highlight>
                          <a:latin typeface="Franklin Gothic Book"/>
                        </a:rPr>
                        <a:t>Retail - Clothing and clothing accessories stores </a:t>
                      </a:r>
                      <a:endParaRPr lang="en-US" dirty="0">
                        <a:highlight>
                          <a:srgbClr val="FFFF00"/>
                        </a:highlight>
                      </a:endParaRPr>
                    </a:p>
                  </a:txBody>
                  <a:tcPr anchor="ctr"/>
                </a:tc>
                <a:tc>
                  <a:txBody>
                    <a:bodyPr/>
                    <a:lstStyle/>
                    <a:p>
                      <a:pPr lvl="0" algn="r">
                        <a:lnSpc>
                          <a:spcPts val="1650"/>
                        </a:lnSpc>
                        <a:buNone/>
                      </a:pPr>
                      <a:r>
                        <a:rPr lang="en-US" sz="1400" b="0" i="0" u="none" strike="noStrike" noProof="0" dirty="0">
                          <a:solidFill>
                            <a:srgbClr val="000000"/>
                          </a:solidFill>
                          <a:effectLst/>
                          <a:highlight>
                            <a:srgbClr val="FFFF00"/>
                          </a:highlight>
                          <a:latin typeface="Franklin Gothic Book"/>
                        </a:rPr>
                        <a:t>3,271</a:t>
                      </a:r>
                      <a:endParaRPr lang="en-US" dirty="0">
                        <a:highlight>
                          <a:srgbClr val="FFFF00"/>
                        </a:highlight>
                      </a:endParaRPr>
                    </a:p>
                  </a:txBody>
                  <a:tcPr anchor="ctr"/>
                </a:tc>
                <a:extLst>
                  <a:ext uri="{0D108BD9-81ED-4DB2-BD59-A6C34878D82A}">
                    <a16:rowId xmlns:a16="http://schemas.microsoft.com/office/drawing/2014/main" val="3317895345"/>
                  </a:ext>
                </a:extLst>
              </a:tr>
              <a:tr h="268476">
                <a:tc>
                  <a:txBody>
                    <a:bodyPr/>
                    <a:lstStyle/>
                    <a:p>
                      <a:pPr lvl="0" algn="l">
                        <a:lnSpc>
                          <a:spcPts val="1650"/>
                        </a:lnSpc>
                        <a:buNone/>
                      </a:pPr>
                      <a:r>
                        <a:rPr lang="en-US" sz="1400" b="0" i="0" u="none" strike="noStrike" noProof="0" dirty="0">
                          <a:solidFill>
                            <a:srgbClr val="000000"/>
                          </a:solidFill>
                          <a:effectLst/>
                          <a:highlight>
                            <a:srgbClr val="FFFF00"/>
                          </a:highlight>
                          <a:latin typeface="Franklin Gothic Book"/>
                        </a:rPr>
                        <a:t>Full-service restaurants </a:t>
                      </a:r>
                      <a:endParaRPr lang="en-US" dirty="0">
                        <a:highlight>
                          <a:srgbClr val="FFFF00"/>
                        </a:highlight>
                      </a:endParaRPr>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highlight>
                            <a:srgbClr val="FFFF00"/>
                          </a:highlight>
                          <a:latin typeface="Franklin Gothic Book"/>
                        </a:rPr>
                        <a:t>2,550</a:t>
                      </a:r>
                      <a:endParaRPr lang="en-US" dirty="0">
                        <a:highlight>
                          <a:srgbClr val="FFFF00"/>
                        </a:highlight>
                      </a:endParaRPr>
                    </a:p>
                  </a:txBody>
                  <a:tcPr anchor="ctr">
                    <a:solidFill>
                      <a:schemeClr val="tx2">
                        <a:lumMod val="10000"/>
                        <a:lumOff val="90000"/>
                      </a:schemeClr>
                    </a:solidFill>
                  </a:tcPr>
                </a:tc>
                <a:extLst>
                  <a:ext uri="{0D108BD9-81ED-4DB2-BD59-A6C34878D82A}">
                    <a16:rowId xmlns:a16="http://schemas.microsoft.com/office/drawing/2014/main" val="3700267936"/>
                  </a:ext>
                </a:extLst>
              </a:tr>
              <a:tr h="465459">
                <a:tc>
                  <a:txBody>
                    <a:bodyPr/>
                    <a:lstStyle/>
                    <a:p>
                      <a:pPr lvl="0" algn="l">
                        <a:lnSpc>
                          <a:spcPts val="1650"/>
                        </a:lnSpc>
                        <a:buNone/>
                      </a:pPr>
                      <a:r>
                        <a:rPr lang="en-US" sz="1400" b="0" i="0" u="none" strike="noStrike" noProof="0">
                          <a:solidFill>
                            <a:srgbClr val="000000"/>
                          </a:solidFill>
                          <a:effectLst/>
                          <a:highlight>
                            <a:srgbClr val="FFFF00"/>
                          </a:highlight>
                          <a:latin typeface="Franklin Gothic Book"/>
                        </a:rPr>
                        <a:t>Construction of new single-family residential structures </a:t>
                      </a:r>
                      <a:endParaRPr lang="en-US">
                        <a:highlight>
                          <a:srgbClr val="FFFF00"/>
                        </a:highlight>
                      </a:endParaRPr>
                    </a:p>
                  </a:txBody>
                  <a:tcPr anchor="ctr"/>
                </a:tc>
                <a:tc>
                  <a:txBody>
                    <a:bodyPr/>
                    <a:lstStyle/>
                    <a:p>
                      <a:pPr lvl="0" algn="r">
                        <a:lnSpc>
                          <a:spcPts val="1650"/>
                        </a:lnSpc>
                        <a:buNone/>
                      </a:pPr>
                      <a:r>
                        <a:rPr lang="en-US" sz="1400" b="0" i="0" u="none" strike="noStrike" noProof="0" dirty="0">
                          <a:solidFill>
                            <a:srgbClr val="000000"/>
                          </a:solidFill>
                          <a:effectLst/>
                          <a:highlight>
                            <a:srgbClr val="FFFF00"/>
                          </a:highlight>
                          <a:latin typeface="Franklin Gothic Book"/>
                        </a:rPr>
                        <a:t>2,334</a:t>
                      </a:r>
                      <a:endParaRPr lang="en-US" dirty="0">
                        <a:highlight>
                          <a:srgbClr val="FFFF00"/>
                        </a:highlight>
                      </a:endParaRPr>
                    </a:p>
                  </a:txBody>
                  <a:tcPr anchor="ctr"/>
                </a:tc>
                <a:extLst>
                  <a:ext uri="{0D108BD9-81ED-4DB2-BD59-A6C34878D82A}">
                    <a16:rowId xmlns:a16="http://schemas.microsoft.com/office/drawing/2014/main" val="3977687381"/>
                  </a:ext>
                </a:extLst>
              </a:tr>
              <a:tr h="387534">
                <a:tc>
                  <a:txBody>
                    <a:bodyPr/>
                    <a:lstStyle/>
                    <a:p>
                      <a:pPr lvl="0" algn="l">
                        <a:lnSpc>
                          <a:spcPts val="1650"/>
                        </a:lnSpc>
                        <a:buNone/>
                      </a:pPr>
                      <a:r>
                        <a:rPr lang="en-US" sz="1400" b="0" i="0" u="none" strike="noStrike" noProof="0" dirty="0">
                          <a:solidFill>
                            <a:srgbClr val="000000"/>
                          </a:solidFill>
                          <a:effectLst/>
                          <a:highlight>
                            <a:srgbClr val="FFFF00"/>
                          </a:highlight>
                          <a:latin typeface="Franklin Gothic Book"/>
                        </a:rPr>
                        <a:t>Retail - General merchandise stores </a:t>
                      </a:r>
                      <a:endParaRPr lang="en-US" dirty="0">
                        <a:highlight>
                          <a:srgbClr val="FFFF00"/>
                        </a:highlight>
                      </a:endParaRPr>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highlight>
                            <a:srgbClr val="FFFF00"/>
                          </a:highlight>
                          <a:latin typeface="Franklin Gothic Book"/>
                        </a:rPr>
                        <a:t>2,117</a:t>
                      </a:r>
                      <a:endParaRPr lang="en-US" dirty="0">
                        <a:highlight>
                          <a:srgbClr val="FFFF00"/>
                        </a:highlight>
                      </a:endParaRPr>
                    </a:p>
                  </a:txBody>
                  <a:tcPr anchor="ctr">
                    <a:solidFill>
                      <a:schemeClr val="tx2">
                        <a:lumMod val="10000"/>
                        <a:lumOff val="90000"/>
                      </a:schemeClr>
                    </a:solidFill>
                  </a:tcPr>
                </a:tc>
                <a:extLst>
                  <a:ext uri="{0D108BD9-81ED-4DB2-BD59-A6C34878D82A}">
                    <a16:rowId xmlns:a16="http://schemas.microsoft.com/office/drawing/2014/main" val="2122974324"/>
                  </a:ext>
                </a:extLst>
              </a:tr>
              <a:tr h="465459">
                <a:tc>
                  <a:txBody>
                    <a:bodyPr/>
                    <a:lstStyle/>
                    <a:p>
                      <a:pPr lvl="0" algn="l">
                        <a:lnSpc>
                          <a:spcPts val="1650"/>
                        </a:lnSpc>
                        <a:buNone/>
                      </a:pPr>
                      <a:r>
                        <a:rPr lang="en-US" sz="1400" b="0" i="0" u="none" strike="noStrike" noProof="0" dirty="0">
                          <a:solidFill>
                            <a:srgbClr val="000000"/>
                          </a:solidFill>
                          <a:effectLst/>
                          <a:highlight>
                            <a:srgbClr val="FFFF00"/>
                          </a:highlight>
                          <a:latin typeface="Franklin Gothic Book"/>
                        </a:rPr>
                        <a:t>Scenic and sightseeing transportation and support activities for transportation </a:t>
                      </a:r>
                      <a:endParaRPr lang="en-US" dirty="0">
                        <a:highlight>
                          <a:srgbClr val="FFFF00"/>
                        </a:highlight>
                      </a:endParaRPr>
                    </a:p>
                  </a:txBody>
                  <a:tcPr anchor="ctr"/>
                </a:tc>
                <a:tc>
                  <a:txBody>
                    <a:bodyPr/>
                    <a:lstStyle/>
                    <a:p>
                      <a:pPr lvl="0" algn="r">
                        <a:lnSpc>
                          <a:spcPts val="1650"/>
                        </a:lnSpc>
                        <a:buNone/>
                      </a:pPr>
                      <a:r>
                        <a:rPr lang="en-US" sz="1400" b="0" i="0" u="none" strike="noStrike" noProof="0" dirty="0">
                          <a:solidFill>
                            <a:srgbClr val="000000"/>
                          </a:solidFill>
                          <a:effectLst/>
                          <a:highlight>
                            <a:srgbClr val="FFFF00"/>
                          </a:highlight>
                          <a:latin typeface="Franklin Gothic Book"/>
                        </a:rPr>
                        <a:t>2,040</a:t>
                      </a:r>
                      <a:endParaRPr lang="en-US" dirty="0">
                        <a:highlight>
                          <a:srgbClr val="FFFF00"/>
                        </a:highlight>
                      </a:endParaRPr>
                    </a:p>
                  </a:txBody>
                  <a:tcPr anchor="ctr"/>
                </a:tc>
                <a:extLst>
                  <a:ext uri="{0D108BD9-81ED-4DB2-BD59-A6C34878D82A}">
                    <a16:rowId xmlns:a16="http://schemas.microsoft.com/office/drawing/2014/main" val="840601713"/>
                  </a:ext>
                </a:extLst>
              </a:tr>
              <a:tr h="268476">
                <a:tc>
                  <a:txBody>
                    <a:bodyPr/>
                    <a:lstStyle/>
                    <a:p>
                      <a:pPr lvl="0" algn="l">
                        <a:lnSpc>
                          <a:spcPts val="1650"/>
                        </a:lnSpc>
                        <a:buNone/>
                      </a:pPr>
                      <a:r>
                        <a:rPr lang="en-US" sz="1400" b="0" i="0" u="none" strike="noStrike" noProof="0" dirty="0">
                          <a:solidFill>
                            <a:srgbClr val="000000"/>
                          </a:solidFill>
                          <a:effectLst/>
                          <a:highlight>
                            <a:srgbClr val="FFFF00"/>
                          </a:highlight>
                          <a:latin typeface="Franklin Gothic Book"/>
                        </a:rPr>
                        <a:t>Retail - Miscellaneous store retailers </a:t>
                      </a:r>
                      <a:endParaRPr lang="en-US" dirty="0">
                        <a:highlight>
                          <a:srgbClr val="FFFF00"/>
                        </a:highlight>
                      </a:endParaRPr>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highlight>
                            <a:srgbClr val="FFFF00"/>
                          </a:highlight>
                          <a:latin typeface="Franklin Gothic Book"/>
                        </a:rPr>
                        <a:t>1,874</a:t>
                      </a:r>
                      <a:endParaRPr lang="en-US" dirty="0">
                        <a:highlight>
                          <a:srgbClr val="FFFF00"/>
                        </a:highlight>
                      </a:endParaRPr>
                    </a:p>
                  </a:txBody>
                  <a:tcPr anchor="ctr">
                    <a:solidFill>
                      <a:schemeClr val="tx2">
                        <a:lumMod val="10000"/>
                        <a:lumOff val="90000"/>
                      </a:schemeClr>
                    </a:solidFill>
                  </a:tcPr>
                </a:tc>
                <a:extLst>
                  <a:ext uri="{0D108BD9-81ED-4DB2-BD59-A6C34878D82A}">
                    <a16:rowId xmlns:a16="http://schemas.microsoft.com/office/drawing/2014/main" val="2957203038"/>
                  </a:ext>
                </a:extLst>
              </a:tr>
              <a:tr h="268476">
                <a:tc>
                  <a:txBody>
                    <a:bodyPr/>
                    <a:lstStyle/>
                    <a:p>
                      <a:pPr lvl="0" algn="l">
                        <a:lnSpc>
                          <a:spcPts val="1650"/>
                        </a:lnSpc>
                        <a:buNone/>
                      </a:pPr>
                      <a:r>
                        <a:rPr lang="en-US" sz="1400" b="0" i="0" u="none" strike="noStrike" noProof="0">
                          <a:solidFill>
                            <a:srgbClr val="000000"/>
                          </a:solidFill>
                          <a:effectLst/>
                          <a:highlight>
                            <a:srgbClr val="FFFF00"/>
                          </a:highlight>
                          <a:latin typeface="Franklin Gothic Book"/>
                        </a:rPr>
                        <a:t>Retail - Motor vehicle and parts dealers </a:t>
                      </a:r>
                      <a:endParaRPr lang="en-US">
                        <a:highlight>
                          <a:srgbClr val="FFFF00"/>
                        </a:highlight>
                      </a:endParaRPr>
                    </a:p>
                  </a:txBody>
                  <a:tcPr anchor="ctr"/>
                </a:tc>
                <a:tc>
                  <a:txBody>
                    <a:bodyPr/>
                    <a:lstStyle/>
                    <a:p>
                      <a:pPr lvl="0" algn="r">
                        <a:lnSpc>
                          <a:spcPts val="1650"/>
                        </a:lnSpc>
                        <a:buNone/>
                      </a:pPr>
                      <a:r>
                        <a:rPr lang="en-US" sz="1400" b="0" i="0" u="none" strike="noStrike" noProof="0" dirty="0">
                          <a:solidFill>
                            <a:srgbClr val="000000"/>
                          </a:solidFill>
                          <a:effectLst/>
                          <a:highlight>
                            <a:srgbClr val="FFFF00"/>
                          </a:highlight>
                          <a:latin typeface="Franklin Gothic Book"/>
                        </a:rPr>
                        <a:t>1,594</a:t>
                      </a:r>
                      <a:endParaRPr lang="en-US" dirty="0">
                        <a:highlight>
                          <a:srgbClr val="FFFF00"/>
                        </a:highlight>
                      </a:endParaRPr>
                    </a:p>
                  </a:txBody>
                  <a:tcPr anchor="ctr"/>
                </a:tc>
                <a:extLst>
                  <a:ext uri="{0D108BD9-81ED-4DB2-BD59-A6C34878D82A}">
                    <a16:rowId xmlns:a16="http://schemas.microsoft.com/office/drawing/2014/main" val="585110735"/>
                  </a:ext>
                </a:extLst>
              </a:tr>
              <a:tr h="268476">
                <a:tc>
                  <a:txBody>
                    <a:bodyPr/>
                    <a:lstStyle/>
                    <a:p>
                      <a:pPr lvl="0" algn="l">
                        <a:lnSpc>
                          <a:spcPts val="1650"/>
                        </a:lnSpc>
                        <a:buNone/>
                      </a:pPr>
                      <a:r>
                        <a:rPr lang="en-US" sz="1400" b="0" i="0" u="none" strike="noStrike" noProof="0" dirty="0">
                          <a:solidFill>
                            <a:srgbClr val="000000"/>
                          </a:solidFill>
                          <a:effectLst/>
                          <a:highlight>
                            <a:srgbClr val="FFFF00"/>
                          </a:highlight>
                          <a:latin typeface="Franklin Gothic Book"/>
                        </a:rPr>
                        <a:t>Other real estate </a:t>
                      </a:r>
                      <a:endParaRPr lang="en-US" dirty="0">
                        <a:highlight>
                          <a:srgbClr val="FFFF00"/>
                        </a:highlight>
                      </a:endParaRPr>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highlight>
                            <a:srgbClr val="FFFF00"/>
                          </a:highlight>
                          <a:latin typeface="Franklin Gothic Book"/>
                        </a:rPr>
                        <a:t>1,591</a:t>
                      </a:r>
                      <a:endParaRPr lang="en-US" dirty="0">
                        <a:highlight>
                          <a:srgbClr val="FFFF00"/>
                        </a:highlight>
                      </a:endParaRPr>
                    </a:p>
                  </a:txBody>
                  <a:tcPr anchor="ctr">
                    <a:solidFill>
                      <a:schemeClr val="tx2">
                        <a:lumMod val="10000"/>
                        <a:lumOff val="90000"/>
                      </a:schemeClr>
                    </a:solidFill>
                  </a:tcPr>
                </a:tc>
                <a:extLst>
                  <a:ext uri="{0D108BD9-81ED-4DB2-BD59-A6C34878D82A}">
                    <a16:rowId xmlns:a16="http://schemas.microsoft.com/office/drawing/2014/main" val="494519924"/>
                  </a:ext>
                </a:extLst>
              </a:tr>
            </a:tbl>
          </a:graphicData>
        </a:graphic>
      </p:graphicFrame>
      <p:sp>
        <p:nvSpPr>
          <p:cNvPr id="6" name="TextBox 5">
            <a:extLst>
              <a:ext uri="{FF2B5EF4-FFF2-40B4-BE49-F238E27FC236}">
                <a16:creationId xmlns:a16="http://schemas.microsoft.com/office/drawing/2014/main" id="{5DC31E46-258B-FFBB-2BD2-0D7E6A74C417}"/>
              </a:ext>
            </a:extLst>
          </p:cNvPr>
          <p:cNvSpPr txBox="1"/>
          <p:nvPr/>
        </p:nvSpPr>
        <p:spPr>
          <a:xfrm>
            <a:off x="5408295" y="6018917"/>
            <a:ext cx="6096000" cy="230832"/>
          </a:xfrm>
          <a:prstGeom prst="rect">
            <a:avLst/>
          </a:prstGeom>
          <a:noFill/>
        </p:spPr>
        <p:txBody>
          <a:bodyPr wrap="square">
            <a:spAutoFit/>
          </a:bodyPr>
          <a:lstStyle/>
          <a:p>
            <a:pPr marL="0" indent="0">
              <a:buNone/>
            </a:pPr>
            <a:r>
              <a:rPr lang="en-US" sz="900" b="0" dirty="0"/>
              <a:t>† Government as an industry was excluded from rankings. </a:t>
            </a:r>
          </a:p>
        </p:txBody>
      </p:sp>
      <p:sp>
        <p:nvSpPr>
          <p:cNvPr id="10" name="Text Placeholder 3">
            <a:extLst>
              <a:ext uri="{FF2B5EF4-FFF2-40B4-BE49-F238E27FC236}">
                <a16:creationId xmlns:a16="http://schemas.microsoft.com/office/drawing/2014/main" id="{028115A7-2138-1E37-990C-D61EDA4B7EFD}"/>
              </a:ext>
            </a:extLst>
          </p:cNvPr>
          <p:cNvSpPr txBox="1">
            <a:spLocks/>
          </p:cNvSpPr>
          <p:nvPr/>
        </p:nvSpPr>
        <p:spPr>
          <a:xfrm>
            <a:off x="336378" y="1744858"/>
            <a:ext cx="4665928" cy="4315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Key BLUF/takeaway statement summarizing the most important information on this slide (bolded, no period, no bullet) – needs to answer the “So what”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ea typeface="+mn-lt"/>
                <a:cs typeface="+mn-lt"/>
              </a:rPr>
              <a:t>Table comes from running python notebook: top_industry.py</a:t>
            </a:r>
            <a:endParaRPr lang="en-US" sz="1800" b="0" dirty="0"/>
          </a:p>
          <a:p>
            <a:pPr>
              <a:lnSpc>
                <a:spcPct val="100000"/>
              </a:lnSpc>
            </a:pPr>
            <a:endParaRPr lang="en-US" sz="1800" b="0" dirty="0"/>
          </a:p>
          <a:p>
            <a:pPr>
              <a:lnSpc>
                <a:spcPct val="100000"/>
              </a:lnSpc>
            </a:pPr>
            <a:endParaRPr lang="en-US" sz="1800" b="0" dirty="0"/>
          </a:p>
        </p:txBody>
      </p:sp>
      <p:sp>
        <p:nvSpPr>
          <p:cNvPr id="11" name="TextBox 10">
            <a:extLst>
              <a:ext uri="{FF2B5EF4-FFF2-40B4-BE49-F238E27FC236}">
                <a16:creationId xmlns:a16="http://schemas.microsoft.com/office/drawing/2014/main" id="{E737EAD9-CDC3-6DA8-DD94-23E81904BAC0}"/>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1447957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5EAF5-9015-092A-1106-B5B7825DC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86298-F4C4-B332-D6B5-CADE29856BD1}"/>
              </a:ext>
            </a:extLst>
          </p:cNvPr>
          <p:cNvSpPr>
            <a:spLocks noGrp="1"/>
          </p:cNvSpPr>
          <p:nvPr>
            <p:ph type="title"/>
          </p:nvPr>
        </p:nvSpPr>
        <p:spPr>
          <a:xfrm>
            <a:off x="684519" y="909664"/>
            <a:ext cx="10822962" cy="457200"/>
          </a:xfrm>
        </p:spPr>
        <p:txBody>
          <a:bodyPr/>
          <a:lstStyle/>
          <a:p>
            <a:r>
              <a:rPr lang="en-US" sz="3200" dirty="0"/>
              <a:t>Critical Infrastructure &amp; Commodity Flows: </a:t>
            </a:r>
            <a:r>
              <a:rPr lang="en-US" sz="3200" dirty="0">
                <a:solidFill>
                  <a:srgbClr val="FFFF00"/>
                </a:solidFill>
              </a:rPr>
              <a:t>[AOI]</a:t>
            </a:r>
          </a:p>
        </p:txBody>
      </p:sp>
      <p:sp>
        <p:nvSpPr>
          <p:cNvPr id="12" name="Text Placeholder 3">
            <a:extLst>
              <a:ext uri="{FF2B5EF4-FFF2-40B4-BE49-F238E27FC236}">
                <a16:creationId xmlns:a16="http://schemas.microsoft.com/office/drawing/2014/main" id="{89A1CA69-07A0-44A2-8431-BC91FB181797}"/>
              </a:ext>
            </a:extLst>
          </p:cNvPr>
          <p:cNvSpPr txBox="1">
            <a:spLocks/>
          </p:cNvSpPr>
          <p:nvPr/>
        </p:nvSpPr>
        <p:spPr>
          <a:xfrm>
            <a:off x="336378" y="1744858"/>
            <a:ext cx="4665928" cy="4315209"/>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400" dirty="0"/>
              <a:t>Key BLUF/takeaway statement summarizing the most important information on this slide (bolded, no period, no bullet) – needs to answer the “So what”</a:t>
            </a:r>
          </a:p>
          <a:p>
            <a:pPr>
              <a:lnSpc>
                <a:spcPct val="100000"/>
              </a:lnSpc>
            </a:pPr>
            <a:r>
              <a:rPr lang="en-US" sz="1400" b="0" dirty="0"/>
              <a:t>Supporting information or statistics </a:t>
            </a:r>
          </a:p>
          <a:p>
            <a:pPr>
              <a:lnSpc>
                <a:spcPct val="100000"/>
              </a:lnSpc>
            </a:pPr>
            <a:r>
              <a:rPr lang="en-US" sz="1400" b="0" dirty="0"/>
              <a:t>Never add periods to the end of bullets </a:t>
            </a:r>
          </a:p>
          <a:p>
            <a:pPr>
              <a:lnSpc>
                <a:spcPct val="100000"/>
              </a:lnSpc>
            </a:pPr>
            <a:r>
              <a:rPr lang="en-US" sz="1400" b="0" dirty="0"/>
              <a:t>Font should always be Franklin Gothic Book &amp; never smaller than size 12, ideally size 14</a:t>
            </a:r>
          </a:p>
          <a:p>
            <a:pPr>
              <a:lnSpc>
                <a:spcPct val="100000"/>
              </a:lnSpc>
            </a:pPr>
            <a:endParaRPr lang="en-US" sz="1400" b="0" dirty="0"/>
          </a:p>
          <a:p>
            <a:pPr marL="0" indent="0">
              <a:lnSpc>
                <a:spcPct val="100000"/>
              </a:lnSpc>
              <a:buNone/>
            </a:pPr>
            <a:r>
              <a:rPr lang="en-US" sz="1400" b="0" dirty="0"/>
              <a:t>Notes: Maps are created by analysts using layers from </a:t>
            </a:r>
            <a:r>
              <a:rPr lang="en-US" sz="1400" b="0" dirty="0" err="1"/>
              <a:t>GeoCube</a:t>
            </a:r>
            <a:r>
              <a:rPr lang="en-US" sz="1400" b="0" dirty="0"/>
              <a:t> &amp; QGIS</a:t>
            </a:r>
          </a:p>
          <a:p>
            <a:pPr>
              <a:lnSpc>
                <a:spcPct val="100000"/>
              </a:lnSpc>
            </a:pPr>
            <a:r>
              <a:rPr lang="en-US" sz="1400" b="0" dirty="0"/>
              <a:t>What is being mapped will likely change depending on AOI, but key layers to show are. May need more than one map/slide.</a:t>
            </a:r>
          </a:p>
          <a:p>
            <a:pPr marL="742950" lvl="1" indent="-285750">
              <a:lnSpc>
                <a:spcPct val="100000"/>
              </a:lnSpc>
              <a:buFont typeface="Arial" panose="020B0604020202020204" pitchFamily="34" charset="0"/>
              <a:buChar char="•"/>
            </a:pPr>
            <a:r>
              <a:rPr lang="en-US" sz="1400" dirty="0"/>
              <a:t>Airports</a:t>
            </a:r>
          </a:p>
          <a:p>
            <a:pPr marL="742950" lvl="1" indent="-285750">
              <a:lnSpc>
                <a:spcPct val="100000"/>
              </a:lnSpc>
              <a:buFont typeface="Arial" panose="020B0604020202020204" pitchFamily="34" charset="0"/>
              <a:buChar char="•"/>
            </a:pPr>
            <a:r>
              <a:rPr lang="en-US" sz="1400" b="0" dirty="0"/>
              <a:t>Ports</a:t>
            </a:r>
          </a:p>
          <a:p>
            <a:pPr marL="742950" lvl="1" indent="-285750">
              <a:lnSpc>
                <a:spcPct val="100000"/>
              </a:lnSpc>
              <a:buFont typeface="Arial" panose="020B0604020202020204" pitchFamily="34" charset="0"/>
              <a:buChar char="•"/>
            </a:pPr>
            <a:r>
              <a:rPr lang="en-US" sz="1400" b="0" dirty="0"/>
              <a:t>Highways</a:t>
            </a:r>
          </a:p>
          <a:p>
            <a:pPr marL="742950" lvl="1" indent="-285750">
              <a:lnSpc>
                <a:spcPct val="100000"/>
              </a:lnSpc>
              <a:buFont typeface="Arial" panose="020B0604020202020204" pitchFamily="34" charset="0"/>
              <a:buChar char="•"/>
            </a:pPr>
            <a:r>
              <a:rPr lang="en-US" sz="1400" b="0" dirty="0"/>
              <a:t>Critical power infrastructure (power plants, terminals, pipeline)</a:t>
            </a:r>
          </a:p>
          <a:p>
            <a:pPr marL="742950" lvl="1" indent="-285750">
              <a:lnSpc>
                <a:spcPct val="100000"/>
              </a:lnSpc>
              <a:buFont typeface="Arial" panose="020B0604020202020204" pitchFamily="34" charset="0"/>
              <a:buChar char="•"/>
            </a:pPr>
            <a:r>
              <a:rPr lang="en-US" sz="1400" dirty="0"/>
              <a:t>Key businesses for commodity flows (</a:t>
            </a:r>
            <a:r>
              <a:rPr lang="en-US" sz="1400" dirty="0" err="1"/>
              <a:t>ie</a:t>
            </a:r>
            <a:r>
              <a:rPr lang="en-US" sz="1400" dirty="0"/>
              <a:t>, large distributors)</a:t>
            </a:r>
            <a:endParaRPr lang="en-US" sz="1400" b="0" dirty="0"/>
          </a:p>
          <a:p>
            <a:pPr>
              <a:lnSpc>
                <a:spcPct val="100000"/>
              </a:lnSpc>
            </a:pPr>
            <a:endParaRPr lang="en-US" sz="1400" b="0" dirty="0"/>
          </a:p>
        </p:txBody>
      </p:sp>
      <p:sp>
        <p:nvSpPr>
          <p:cNvPr id="14" name="Content Placeholder 2">
            <a:extLst>
              <a:ext uri="{FF2B5EF4-FFF2-40B4-BE49-F238E27FC236}">
                <a16:creationId xmlns:a16="http://schemas.microsoft.com/office/drawing/2014/main" id="{DDFC7174-735E-817A-677A-6126913FEE13}"/>
              </a:ext>
            </a:extLst>
          </p:cNvPr>
          <p:cNvSpPr>
            <a:spLocks noGrp="1"/>
          </p:cNvSpPr>
          <p:nvPr>
            <p:ph sz="quarter" idx="13"/>
          </p:nvPr>
        </p:nvSpPr>
        <p:spPr>
          <a:xfrm>
            <a:off x="5201322" y="1818045"/>
            <a:ext cx="6309640" cy="4141385"/>
          </a:xfrm>
        </p:spPr>
        <p:txBody>
          <a:bodyPr/>
          <a:lstStyle/>
          <a:p>
            <a:endParaRPr lang="en-US" dirty="0"/>
          </a:p>
        </p:txBody>
      </p:sp>
      <p:sp>
        <p:nvSpPr>
          <p:cNvPr id="15" name="TextBox 14">
            <a:extLst>
              <a:ext uri="{FF2B5EF4-FFF2-40B4-BE49-F238E27FC236}">
                <a16:creationId xmlns:a16="http://schemas.microsoft.com/office/drawing/2014/main" id="{58DEAC96-E7CD-C98E-BE3E-E0A547004CAC}"/>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3050273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EF36D-EF3F-F951-48D3-18039D38F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65937-D666-2267-A5D2-4E9BE00F2FAE}"/>
              </a:ext>
            </a:extLst>
          </p:cNvPr>
          <p:cNvSpPr>
            <a:spLocks noGrp="1"/>
          </p:cNvSpPr>
          <p:nvPr>
            <p:ph type="title"/>
          </p:nvPr>
        </p:nvSpPr>
        <p:spPr>
          <a:xfrm>
            <a:off x="684519" y="913960"/>
            <a:ext cx="10822962" cy="457200"/>
          </a:xfrm>
        </p:spPr>
        <p:txBody>
          <a:bodyPr/>
          <a:lstStyle/>
          <a:p>
            <a:r>
              <a:rPr lang="en-US" sz="3200" dirty="0"/>
              <a:t>Ripple Forecast: </a:t>
            </a:r>
            <a:r>
              <a:rPr lang="en-US" sz="3200" dirty="0">
                <a:solidFill>
                  <a:srgbClr val="FFFF00"/>
                </a:solidFill>
              </a:rPr>
              <a:t>[AOI]</a:t>
            </a:r>
          </a:p>
        </p:txBody>
      </p:sp>
      <p:sp>
        <p:nvSpPr>
          <p:cNvPr id="6" name="Text Placeholder 3">
            <a:extLst>
              <a:ext uri="{FF2B5EF4-FFF2-40B4-BE49-F238E27FC236}">
                <a16:creationId xmlns:a16="http://schemas.microsoft.com/office/drawing/2014/main" id="{65CAA91F-2029-4E7C-BF70-9F2A2CAD8D77}"/>
              </a:ext>
            </a:extLst>
          </p:cNvPr>
          <p:cNvSpPr txBox="1">
            <a:spLocks/>
          </p:cNvSpPr>
          <p:nvPr/>
        </p:nvSpPr>
        <p:spPr>
          <a:xfrm>
            <a:off x="195960" y="1719268"/>
            <a:ext cx="5091424" cy="4496067"/>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u="sng" dirty="0"/>
              <a:t>Supply Chain Context</a:t>
            </a:r>
            <a:r>
              <a:rPr lang="en-US" dirty="0"/>
              <a:t>: Key BLUF/takeaway statement summarizing the most important information on this slide (bolded, no period, no bullet) – needs to answer the “So what”</a:t>
            </a:r>
          </a:p>
          <a:p>
            <a:pPr marL="0" indent="0">
              <a:buNone/>
            </a:pPr>
            <a:r>
              <a:rPr lang="en-US" dirty="0"/>
              <a:t>Note: Map or chart is not standardized for this one – could be a slide that may only be text if we do not have a good visualization</a:t>
            </a:r>
            <a:br>
              <a:rPr lang="en-US" dirty="0"/>
            </a:br>
            <a:endParaRPr lang="en-US" dirty="0"/>
          </a:p>
          <a:p>
            <a:pPr marL="0" indent="0">
              <a:buFont typeface="Arial" panose="020B0604020202020204" pitchFamily="34" charset="0"/>
              <a:buNone/>
            </a:pPr>
            <a:r>
              <a:rPr lang="en-US" u="sng" dirty="0"/>
              <a:t>Potential Impact Timeline</a:t>
            </a:r>
          </a:p>
          <a:p>
            <a:r>
              <a:rPr lang="en-US" dirty="0"/>
              <a:t>0–3 Days </a:t>
            </a:r>
            <a:r>
              <a:rPr lang="en-US" dirty="0">
                <a:highlight>
                  <a:srgbClr val="FFFF00"/>
                </a:highlight>
              </a:rPr>
              <a:t>(Plain Language Situational Status)</a:t>
            </a:r>
          </a:p>
          <a:p>
            <a:pPr marL="742950" lvl="1" indent="-285750">
              <a:buFont typeface="Arial" panose="020B0604020202020204" pitchFamily="34" charset="0"/>
              <a:buChar char="•"/>
            </a:pPr>
            <a:r>
              <a:rPr lang="en-US" dirty="0"/>
              <a:t>Supporting information or statistics </a:t>
            </a:r>
          </a:p>
          <a:p>
            <a:pPr marL="742950" lvl="1" indent="-285750">
              <a:buFont typeface="Arial" panose="020B0604020202020204" pitchFamily="34" charset="0"/>
              <a:buChar char="•"/>
            </a:pPr>
            <a:r>
              <a:rPr lang="en-US" dirty="0"/>
              <a:t>Never add periods to the end of bullets </a:t>
            </a:r>
          </a:p>
          <a:p>
            <a:pPr marL="742950" lvl="1" indent="-285750">
              <a:buFont typeface="Arial" panose="020B0604020202020204" pitchFamily="34" charset="0"/>
              <a:buChar char="•"/>
            </a:pPr>
            <a:r>
              <a:rPr lang="en-US" dirty="0"/>
              <a:t>Font should always be Franklin Gothic Book &amp; never smaller than size 12, ideally size 14</a:t>
            </a:r>
          </a:p>
          <a:p>
            <a:r>
              <a:rPr lang="en-US" dirty="0"/>
              <a:t>3–7 Days </a:t>
            </a:r>
            <a:r>
              <a:rPr lang="en-US" dirty="0">
                <a:highlight>
                  <a:srgbClr val="FFFF00"/>
                </a:highlight>
              </a:rPr>
              <a:t>(Plain Language Situational Status)</a:t>
            </a:r>
            <a:endParaRPr lang="en-US" dirty="0"/>
          </a:p>
          <a:p>
            <a:pPr marL="742950" lvl="1" indent="-285750">
              <a:buFont typeface="Arial" panose="020B0604020202020204" pitchFamily="34" charset="0"/>
              <a:buChar char="•"/>
            </a:pPr>
            <a:r>
              <a:rPr lang="en-US" dirty="0"/>
              <a:t>Supporting information or statistics </a:t>
            </a:r>
          </a:p>
          <a:p>
            <a:pPr marL="742950" lvl="1" indent="-285750">
              <a:buFont typeface="Arial" panose="020B0604020202020204" pitchFamily="34" charset="0"/>
              <a:buChar char="•"/>
            </a:pPr>
            <a:r>
              <a:rPr lang="en-US" dirty="0"/>
              <a:t>Never add periods to the end of bullets </a:t>
            </a:r>
          </a:p>
          <a:p>
            <a:pPr marL="742950" lvl="1" indent="-285750">
              <a:buFont typeface="Arial" panose="020B0604020202020204" pitchFamily="34" charset="0"/>
              <a:buChar char="•"/>
            </a:pPr>
            <a:r>
              <a:rPr lang="en-US" dirty="0"/>
              <a:t>Font should always be Franklin Gothic Book &amp; never smaller than size 12, ideally size 14</a:t>
            </a:r>
          </a:p>
          <a:p>
            <a:r>
              <a:rPr lang="en-US" dirty="0"/>
              <a:t>7+ Days </a:t>
            </a:r>
            <a:r>
              <a:rPr lang="en-US" dirty="0">
                <a:highlight>
                  <a:srgbClr val="FFFF00"/>
                </a:highlight>
              </a:rPr>
              <a:t>(Plain Language Situational Status)</a:t>
            </a:r>
            <a:endParaRPr lang="en-US" dirty="0"/>
          </a:p>
          <a:p>
            <a:pPr marL="742950" lvl="1" indent="-285750">
              <a:buFont typeface="Arial" panose="020B0604020202020204" pitchFamily="34" charset="0"/>
              <a:buChar char="•"/>
            </a:pPr>
            <a:r>
              <a:rPr lang="en-US" dirty="0"/>
              <a:t>Supporting information or statistics </a:t>
            </a:r>
          </a:p>
          <a:p>
            <a:pPr marL="742950" lvl="1" indent="-285750">
              <a:buFont typeface="Arial" panose="020B0604020202020204" pitchFamily="34" charset="0"/>
              <a:buChar char="•"/>
            </a:pPr>
            <a:r>
              <a:rPr lang="en-US" dirty="0"/>
              <a:t>Never add periods to the end of bullets </a:t>
            </a:r>
          </a:p>
          <a:p>
            <a:pPr marL="742950" lvl="1" indent="-285750">
              <a:buFont typeface="Arial" panose="020B0604020202020204" pitchFamily="34" charset="0"/>
              <a:buChar char="•"/>
            </a:pPr>
            <a:r>
              <a:rPr lang="en-US" dirty="0"/>
              <a:t>Font should always be Franklin Gothic Book &amp; never smaller than size 12, ideally size 14</a:t>
            </a:r>
          </a:p>
        </p:txBody>
      </p:sp>
      <p:sp>
        <p:nvSpPr>
          <p:cNvPr id="8" name="Content Placeholder 7">
            <a:extLst>
              <a:ext uri="{FF2B5EF4-FFF2-40B4-BE49-F238E27FC236}">
                <a16:creationId xmlns:a16="http://schemas.microsoft.com/office/drawing/2014/main" id="{BF699751-4DF0-C876-F8AD-40E0850E34EF}"/>
              </a:ext>
            </a:extLst>
          </p:cNvPr>
          <p:cNvSpPr>
            <a:spLocks noGrp="1"/>
          </p:cNvSpPr>
          <p:nvPr>
            <p:ph sz="quarter" idx="13"/>
          </p:nvPr>
        </p:nvSpPr>
        <p:spPr>
          <a:xfrm>
            <a:off x="5605669" y="1818045"/>
            <a:ext cx="5905293" cy="4260025"/>
          </a:xfrm>
        </p:spPr>
        <p:txBody>
          <a:bodyPr/>
          <a:lstStyle/>
          <a:p>
            <a:endParaRPr lang="en-US" dirty="0"/>
          </a:p>
        </p:txBody>
      </p:sp>
      <p:sp>
        <p:nvSpPr>
          <p:cNvPr id="11" name="TextBox 10">
            <a:extLst>
              <a:ext uri="{FF2B5EF4-FFF2-40B4-BE49-F238E27FC236}">
                <a16:creationId xmlns:a16="http://schemas.microsoft.com/office/drawing/2014/main" id="{C659496B-4FF2-3670-D013-6EBE14C96B39}"/>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2604642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0762-1E4A-7C9C-5F54-9EFF185EF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7E124-EA14-38F0-677F-2901A95F70EF}"/>
              </a:ext>
            </a:extLst>
          </p:cNvPr>
          <p:cNvSpPr>
            <a:spLocks noGrp="1"/>
          </p:cNvSpPr>
          <p:nvPr>
            <p:ph type="title"/>
          </p:nvPr>
        </p:nvSpPr>
        <p:spPr>
          <a:xfrm>
            <a:off x="684519" y="910681"/>
            <a:ext cx="10822962" cy="457200"/>
          </a:xfrm>
        </p:spPr>
        <p:txBody>
          <a:bodyPr/>
          <a:lstStyle/>
          <a:p>
            <a:r>
              <a:rPr lang="en-US" sz="3200" dirty="0">
                <a:latin typeface="Franklin Gothic Heavy"/>
              </a:rPr>
              <a:t>Socio-Economic Profile: </a:t>
            </a:r>
            <a:r>
              <a:rPr lang="en-US" sz="3200" dirty="0">
                <a:solidFill>
                  <a:srgbClr val="FFFF00"/>
                </a:solidFill>
                <a:latin typeface="Franklin Gothic Heavy"/>
              </a:rPr>
              <a:t>[AOI]</a:t>
            </a:r>
            <a:endParaRPr lang="en-US" dirty="0">
              <a:solidFill>
                <a:srgbClr val="FFFF00"/>
              </a:solidFill>
            </a:endParaRPr>
          </a:p>
        </p:txBody>
      </p:sp>
      <p:graphicFrame>
        <p:nvGraphicFramePr>
          <p:cNvPr id="7" name="Table 6">
            <a:extLst>
              <a:ext uri="{FF2B5EF4-FFF2-40B4-BE49-F238E27FC236}">
                <a16:creationId xmlns:a16="http://schemas.microsoft.com/office/drawing/2014/main" id="{7A576F9E-EFF3-CCE0-8BF4-F7821BD2C8CD}"/>
              </a:ext>
            </a:extLst>
          </p:cNvPr>
          <p:cNvGraphicFramePr>
            <a:graphicFrameLocks noGrp="1"/>
          </p:cNvGraphicFramePr>
          <p:nvPr>
            <p:extLst>
              <p:ext uri="{D42A27DB-BD31-4B8C-83A1-F6EECF244321}">
                <p14:modId xmlns:p14="http://schemas.microsoft.com/office/powerpoint/2010/main" val="1169356153"/>
              </p:ext>
            </p:extLst>
          </p:nvPr>
        </p:nvGraphicFramePr>
        <p:xfrm>
          <a:off x="6236208" y="1928316"/>
          <a:ext cx="5449824" cy="3707032"/>
        </p:xfrm>
        <a:graphic>
          <a:graphicData uri="http://schemas.openxmlformats.org/drawingml/2006/table">
            <a:tbl>
              <a:tblPr bandRow="1">
                <a:tableStyleId>{69012ECD-51FC-41F1-AA8D-1B2483CD663E}</a:tableStyleId>
              </a:tblPr>
              <a:tblGrid>
                <a:gridCol w="2168863">
                  <a:extLst>
                    <a:ext uri="{9D8B030D-6E8A-4147-A177-3AD203B41FA5}">
                      <a16:colId xmlns:a16="http://schemas.microsoft.com/office/drawing/2014/main" val="2264177730"/>
                    </a:ext>
                  </a:extLst>
                </a:gridCol>
                <a:gridCol w="1681016">
                  <a:extLst>
                    <a:ext uri="{9D8B030D-6E8A-4147-A177-3AD203B41FA5}">
                      <a16:colId xmlns:a16="http://schemas.microsoft.com/office/drawing/2014/main" val="2521575143"/>
                    </a:ext>
                  </a:extLst>
                </a:gridCol>
                <a:gridCol w="1599945">
                  <a:extLst>
                    <a:ext uri="{9D8B030D-6E8A-4147-A177-3AD203B41FA5}">
                      <a16:colId xmlns:a16="http://schemas.microsoft.com/office/drawing/2014/main" val="623568642"/>
                    </a:ext>
                  </a:extLst>
                </a:gridCol>
              </a:tblGrid>
              <a:tr h="494061">
                <a:tc gridSpan="3">
                  <a:txBody>
                    <a:bodyPr/>
                    <a:lstStyle/>
                    <a:p>
                      <a:pPr algn="ctr" fontAlgn="base">
                        <a:lnSpc>
                          <a:spcPts val="2175"/>
                        </a:lnSpc>
                        <a:buNone/>
                      </a:pPr>
                      <a:r>
                        <a:rPr lang="en-US" sz="1800" b="1" dirty="0">
                          <a:solidFill>
                            <a:srgbClr val="FFFFFF"/>
                          </a:solidFill>
                          <a:effectLst/>
                        </a:rPr>
                        <a:t>Socio-demographics Information </a:t>
                      </a:r>
                      <a:r>
                        <a:rPr lang="en-US" sz="1800" b="1" dirty="0">
                          <a:solidFill>
                            <a:srgbClr val="FFFF00"/>
                          </a:solidFill>
                          <a:effectLst/>
                        </a:rPr>
                        <a:t>(Yr of Data): [AOI]</a:t>
                      </a:r>
                      <a:endParaRPr lang="en-US" sz="1800" b="0" i="0" dirty="0">
                        <a:solidFill>
                          <a:srgbClr val="FFFF00"/>
                        </a:solidFill>
                        <a:effectLst/>
                      </a:endParaRPr>
                    </a:p>
                  </a:txBody>
                  <a:tcPr marL="4877" marR="4877" marT="3896" marB="3896" anchor="ctr">
                    <a:solidFill>
                      <a:srgbClr val="00518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88061391"/>
                  </a:ext>
                </a:extLst>
              </a:tr>
              <a:tr h="266858">
                <a:tc>
                  <a:txBody>
                    <a:bodyPr/>
                    <a:lstStyle/>
                    <a:p>
                      <a:pPr fontAlgn="b">
                        <a:buNone/>
                      </a:pPr>
                      <a:endParaRPr lang="en-US" sz="1400" dirty="0">
                        <a:effectLst/>
                      </a:endParaRPr>
                    </a:p>
                  </a:txBody>
                  <a:tcPr marL="4877" marR="4877" marT="4877" marB="4877" anchor="b">
                    <a:solidFill>
                      <a:srgbClr val="005188"/>
                    </a:solidFill>
                  </a:tcPr>
                </a:tc>
                <a:tc>
                  <a:txBody>
                    <a:bodyPr/>
                    <a:lstStyle/>
                    <a:p>
                      <a:pPr algn="r" fontAlgn="base">
                        <a:lnSpc>
                          <a:spcPts val="2175"/>
                        </a:lnSpc>
                        <a:buNone/>
                      </a:pPr>
                      <a:r>
                        <a:rPr lang="en-US" sz="1400" b="1" dirty="0">
                          <a:solidFill>
                            <a:srgbClr val="FFFFFF"/>
                          </a:solidFill>
                          <a:effectLst/>
                        </a:rPr>
                        <a:t>Number of people</a:t>
                      </a:r>
                      <a:endParaRPr lang="en-US" sz="1400" b="0" i="0" dirty="0">
                        <a:solidFill>
                          <a:srgbClr val="000000"/>
                        </a:solidFill>
                        <a:effectLst/>
                      </a:endParaRPr>
                    </a:p>
                  </a:txBody>
                  <a:tcPr marL="4877" marR="182880" marT="4877" marB="4877" anchor="b">
                    <a:solidFill>
                      <a:srgbClr val="005188"/>
                    </a:solidFill>
                  </a:tcPr>
                </a:tc>
                <a:tc>
                  <a:txBody>
                    <a:bodyPr/>
                    <a:lstStyle/>
                    <a:p>
                      <a:pPr algn="r" fontAlgn="base">
                        <a:lnSpc>
                          <a:spcPts val="2175"/>
                        </a:lnSpc>
                        <a:buNone/>
                      </a:pPr>
                      <a:r>
                        <a:rPr lang="en-US" sz="1400" b="1" dirty="0">
                          <a:solidFill>
                            <a:srgbClr val="FFFFFF"/>
                          </a:solidFill>
                          <a:effectLst/>
                        </a:rPr>
                        <a:t>% of  Population</a:t>
                      </a:r>
                      <a:endParaRPr lang="en-US" sz="1400" b="0" i="0" dirty="0">
                        <a:solidFill>
                          <a:srgbClr val="000000"/>
                        </a:solidFill>
                        <a:effectLst/>
                      </a:endParaRPr>
                    </a:p>
                  </a:txBody>
                  <a:tcPr marL="4877" marR="182880" marT="4877" marB="4877" anchor="b">
                    <a:solidFill>
                      <a:srgbClr val="005188"/>
                    </a:solidFill>
                  </a:tcPr>
                </a:tc>
                <a:extLst>
                  <a:ext uri="{0D108BD9-81ED-4DB2-BD59-A6C34878D82A}">
                    <a16:rowId xmlns:a16="http://schemas.microsoft.com/office/drawing/2014/main" val="455503944"/>
                  </a:ext>
                </a:extLst>
              </a:tr>
              <a:tr h="312439">
                <a:tc>
                  <a:txBody>
                    <a:bodyPr/>
                    <a:lstStyle/>
                    <a:p>
                      <a:pPr lvl="0" algn="l">
                        <a:lnSpc>
                          <a:spcPts val="2175"/>
                        </a:lnSpc>
                        <a:buNone/>
                      </a:pPr>
                      <a:r>
                        <a:rPr lang="en-US" sz="1400" b="1" u="none" strike="noStrike" noProof="0" dirty="0">
                          <a:solidFill>
                            <a:srgbClr val="000000"/>
                          </a:solidFill>
                          <a:effectLst/>
                          <a:highlight>
                            <a:srgbClr val="FFFF00"/>
                          </a:highlight>
                        </a:rPr>
                        <a:t>Total Population for Guam</a:t>
                      </a:r>
                      <a:endParaRPr lang="en-US" sz="1400" b="1" i="0" u="none" strike="noStrike" noProof="0" dirty="0">
                        <a:solidFill>
                          <a:srgbClr val="000000"/>
                        </a:solidFill>
                        <a:effectLst/>
                        <a:highlight>
                          <a:srgbClr val="FFFF00"/>
                        </a:highlight>
                        <a:latin typeface="Franklin Gothic Book"/>
                      </a:endParaRPr>
                    </a:p>
                  </a:txBody>
                  <a:tcPr marL="26708" marR="26708" marT="42739" marB="42739" anchor="ctr"/>
                </a:tc>
                <a:tc>
                  <a:txBody>
                    <a:bodyPr/>
                    <a:lstStyle/>
                    <a:p>
                      <a:pPr lvl="0" algn="r">
                        <a:lnSpc>
                          <a:spcPts val="2175"/>
                        </a:lnSpc>
                        <a:buNone/>
                      </a:pPr>
                      <a:r>
                        <a:rPr lang="en-US" sz="1400" b="1" u="none" strike="noStrike" noProof="0" dirty="0">
                          <a:solidFill>
                            <a:srgbClr val="000000"/>
                          </a:solidFill>
                          <a:effectLst/>
                          <a:highlight>
                            <a:srgbClr val="FFFF00"/>
                          </a:highlight>
                        </a:rPr>
                        <a:t>153,836</a:t>
                      </a:r>
                      <a:endParaRPr lang="en-US" sz="1400" b="1" dirty="0">
                        <a:highlight>
                          <a:srgbClr val="FFFF00"/>
                        </a:highlight>
                      </a:endParaRPr>
                    </a:p>
                  </a:txBody>
                  <a:tcPr marL="26708" marR="182880" marT="42739" marB="42739" anchor="ctr"/>
                </a:tc>
                <a:tc>
                  <a:txBody>
                    <a:bodyPr/>
                    <a:lstStyle/>
                    <a:p>
                      <a:pPr lvl="0" algn="r">
                        <a:lnSpc>
                          <a:spcPts val="2175"/>
                        </a:lnSpc>
                        <a:buNone/>
                      </a:pPr>
                      <a:r>
                        <a:rPr lang="en-US" sz="1400" b="1" i="0" u="none" strike="noStrike" dirty="0">
                          <a:solidFill>
                            <a:srgbClr val="000000"/>
                          </a:solidFill>
                          <a:effectLst/>
                          <a:highlight>
                            <a:srgbClr val="FFFF00"/>
                          </a:highlight>
                          <a:latin typeface="Franklin Gothic Book"/>
                        </a:rPr>
                        <a:t>100%</a:t>
                      </a:r>
                    </a:p>
                  </a:txBody>
                  <a:tcPr marL="26708" marR="182880" marT="42739" marB="42739" anchor="ctr"/>
                </a:tc>
                <a:extLst>
                  <a:ext uri="{0D108BD9-81ED-4DB2-BD59-A6C34878D82A}">
                    <a16:rowId xmlns:a16="http://schemas.microsoft.com/office/drawing/2014/main" val="3982282628"/>
                  </a:ext>
                </a:extLst>
              </a:tr>
              <a:tr h="312439">
                <a:tc>
                  <a:txBody>
                    <a:bodyPr/>
                    <a:lstStyle/>
                    <a:p>
                      <a:pPr lvl="0" algn="l">
                        <a:lnSpc>
                          <a:spcPts val="2175"/>
                        </a:lnSpc>
                        <a:buNone/>
                      </a:pPr>
                      <a:r>
                        <a:rPr lang="en-US" sz="1400" b="0" u="none" strike="noStrike" dirty="0">
                          <a:solidFill>
                            <a:srgbClr val="000000"/>
                          </a:solidFill>
                          <a:effectLst/>
                          <a:highlight>
                            <a:srgbClr val="FFFF00"/>
                          </a:highlight>
                        </a:rPr>
                        <a:t>Population Under Age 5</a:t>
                      </a:r>
                      <a:endParaRPr lang="en-US" sz="1400" b="0" i="0" dirty="0">
                        <a:solidFill>
                          <a:srgbClr val="000000"/>
                        </a:solidFill>
                        <a:effectLst/>
                        <a:highlight>
                          <a:srgbClr val="FFFF00"/>
                        </a:highlight>
                        <a:latin typeface="Franklin Gothic Book"/>
                      </a:endParaRPr>
                    </a:p>
                  </a:txBody>
                  <a:tcPr marL="26708" marR="26708" marT="42739" marB="42739" anchor="ctr">
                    <a:solidFill>
                      <a:schemeClr val="tx2">
                        <a:lumMod val="10000"/>
                        <a:lumOff val="90000"/>
                      </a:schemeClr>
                    </a:solidFill>
                  </a:tcPr>
                </a:tc>
                <a:tc>
                  <a:txBody>
                    <a:bodyPr/>
                    <a:lstStyle/>
                    <a:p>
                      <a:pPr lvl="0" algn="r">
                        <a:lnSpc>
                          <a:spcPts val="2175"/>
                        </a:lnSpc>
                        <a:buNone/>
                      </a:pPr>
                      <a:r>
                        <a:rPr lang="en-US" sz="1400" b="0" u="none" strike="noStrike" noProof="0" dirty="0">
                          <a:solidFill>
                            <a:srgbClr val="000000"/>
                          </a:solidFill>
                          <a:effectLst/>
                          <a:highlight>
                            <a:srgbClr val="FFFF00"/>
                          </a:highlight>
                        </a:rPr>
                        <a:t>10,626</a:t>
                      </a:r>
                      <a:endParaRPr lang="en-US" sz="1400" dirty="0">
                        <a:highlight>
                          <a:srgbClr val="FFFF00"/>
                        </a:highlight>
                      </a:endParaRPr>
                    </a:p>
                  </a:txBody>
                  <a:tcPr marL="26708" marR="182880" marT="42739" marB="42739" anchor="ctr">
                    <a:solidFill>
                      <a:schemeClr val="tx2">
                        <a:lumMod val="10000"/>
                        <a:lumOff val="90000"/>
                      </a:schemeClr>
                    </a:solidFill>
                  </a:tcPr>
                </a:tc>
                <a:tc>
                  <a:txBody>
                    <a:bodyPr/>
                    <a:lstStyle/>
                    <a:p>
                      <a:pPr lvl="0" algn="r">
                        <a:lnSpc>
                          <a:spcPts val="2175"/>
                        </a:lnSpc>
                        <a:buNone/>
                      </a:pPr>
                      <a:r>
                        <a:rPr lang="en-US" sz="1400" b="0" u="none" strike="noStrike" dirty="0">
                          <a:solidFill>
                            <a:srgbClr val="000000"/>
                          </a:solidFill>
                          <a:effectLst/>
                          <a:highlight>
                            <a:srgbClr val="FFFF00"/>
                          </a:highlight>
                        </a:rPr>
                        <a:t>6.9%</a:t>
                      </a:r>
                      <a:endParaRPr lang="en-US" sz="1400" b="0" i="0" u="none" strike="noStrike" dirty="0">
                        <a:solidFill>
                          <a:srgbClr val="000000"/>
                        </a:solidFill>
                        <a:effectLst/>
                        <a:highlight>
                          <a:srgbClr val="FFFF00"/>
                        </a:highlight>
                        <a:latin typeface="Franklin Gothic Book"/>
                      </a:endParaRPr>
                    </a:p>
                  </a:txBody>
                  <a:tcPr marL="26708" marR="182880" marT="42739" marB="42739" anchor="ctr">
                    <a:solidFill>
                      <a:schemeClr val="tx2">
                        <a:lumMod val="10000"/>
                        <a:lumOff val="90000"/>
                      </a:schemeClr>
                    </a:solidFill>
                  </a:tcPr>
                </a:tc>
                <a:extLst>
                  <a:ext uri="{0D108BD9-81ED-4DB2-BD59-A6C34878D82A}">
                    <a16:rowId xmlns:a16="http://schemas.microsoft.com/office/drawing/2014/main" val="928929574"/>
                  </a:ext>
                </a:extLst>
              </a:tr>
              <a:tr h="312439">
                <a:tc>
                  <a:txBody>
                    <a:bodyPr/>
                    <a:lstStyle/>
                    <a:p>
                      <a:pPr lvl="0" algn="l">
                        <a:lnSpc>
                          <a:spcPts val="2175"/>
                        </a:lnSpc>
                        <a:buNone/>
                      </a:pPr>
                      <a:r>
                        <a:rPr lang="en-US" sz="1400" b="0" u="none" strike="noStrike" dirty="0">
                          <a:solidFill>
                            <a:srgbClr val="000000"/>
                          </a:solidFill>
                          <a:effectLst/>
                          <a:highlight>
                            <a:srgbClr val="FFFF00"/>
                          </a:highlight>
                        </a:rPr>
                        <a:t>Population Under Age 18</a:t>
                      </a:r>
                      <a:endParaRPr lang="en-US" sz="1400" b="0" i="0" u="none" strike="noStrike" dirty="0">
                        <a:solidFill>
                          <a:srgbClr val="000000"/>
                        </a:solidFill>
                        <a:effectLst/>
                        <a:highlight>
                          <a:srgbClr val="FFFF00"/>
                        </a:highlight>
                        <a:latin typeface="Franklin Gothic Book"/>
                      </a:endParaRPr>
                    </a:p>
                  </a:txBody>
                  <a:tcPr marL="26708" marR="26708" marT="42739" marB="42739" anchor="ctr"/>
                </a:tc>
                <a:tc>
                  <a:txBody>
                    <a:bodyPr/>
                    <a:lstStyle/>
                    <a:p>
                      <a:pPr lvl="0" algn="r">
                        <a:lnSpc>
                          <a:spcPts val="2175"/>
                        </a:lnSpc>
                        <a:buNone/>
                      </a:pPr>
                      <a:r>
                        <a:rPr lang="en-US" sz="1400" b="0" u="none" strike="noStrike" noProof="0" dirty="0">
                          <a:solidFill>
                            <a:srgbClr val="000000"/>
                          </a:solidFill>
                          <a:effectLst/>
                          <a:highlight>
                            <a:srgbClr val="FFFF00"/>
                          </a:highlight>
                        </a:rPr>
                        <a:t>41,487</a:t>
                      </a:r>
                      <a:endParaRPr lang="en-US" sz="1400" b="0" i="0" u="none" strike="noStrike" noProof="0" dirty="0">
                        <a:solidFill>
                          <a:srgbClr val="000000"/>
                        </a:solidFill>
                        <a:effectLst/>
                        <a:highlight>
                          <a:srgbClr val="FFFF00"/>
                        </a:highlight>
                      </a:endParaRPr>
                    </a:p>
                  </a:txBody>
                  <a:tcPr marL="26708" marR="182880" marT="42739" marB="42739" anchor="ctr"/>
                </a:tc>
                <a:tc>
                  <a:txBody>
                    <a:bodyPr/>
                    <a:lstStyle/>
                    <a:p>
                      <a:pPr lvl="0" algn="r">
                        <a:lnSpc>
                          <a:spcPts val="2175"/>
                        </a:lnSpc>
                        <a:buNone/>
                      </a:pPr>
                      <a:r>
                        <a:rPr lang="en-US" sz="1400" b="0" u="none" strike="noStrike">
                          <a:solidFill>
                            <a:srgbClr val="000000"/>
                          </a:solidFill>
                          <a:effectLst/>
                          <a:highlight>
                            <a:srgbClr val="FFFF00"/>
                          </a:highlight>
                        </a:rPr>
                        <a:t>27.0%</a:t>
                      </a:r>
                      <a:endParaRPr lang="en-US" sz="1400" b="0" i="0" u="none" strike="noStrike">
                        <a:solidFill>
                          <a:srgbClr val="000000"/>
                        </a:solidFill>
                        <a:effectLst/>
                        <a:highlight>
                          <a:srgbClr val="FFFF00"/>
                        </a:highlight>
                        <a:latin typeface="Franklin Gothic Book"/>
                      </a:endParaRPr>
                    </a:p>
                  </a:txBody>
                  <a:tcPr marL="26708" marR="182880" marT="42739" marB="42739" anchor="ctr"/>
                </a:tc>
                <a:extLst>
                  <a:ext uri="{0D108BD9-81ED-4DB2-BD59-A6C34878D82A}">
                    <a16:rowId xmlns:a16="http://schemas.microsoft.com/office/drawing/2014/main" val="3317895345"/>
                  </a:ext>
                </a:extLst>
              </a:tr>
              <a:tr h="312439">
                <a:tc>
                  <a:txBody>
                    <a:bodyPr/>
                    <a:lstStyle/>
                    <a:p>
                      <a:pPr lvl="0" algn="l">
                        <a:lnSpc>
                          <a:spcPts val="2175"/>
                        </a:lnSpc>
                        <a:buNone/>
                      </a:pPr>
                      <a:r>
                        <a:rPr lang="en-US" sz="1400" b="0" u="none" strike="noStrike" dirty="0">
                          <a:solidFill>
                            <a:srgbClr val="000000"/>
                          </a:solidFill>
                          <a:effectLst/>
                          <a:highlight>
                            <a:srgbClr val="FFFF00"/>
                          </a:highlight>
                        </a:rPr>
                        <a:t>Population 65 and Over</a:t>
                      </a:r>
                      <a:endParaRPr lang="en-US" sz="1400" b="0" i="0" u="none" strike="noStrike" dirty="0">
                        <a:solidFill>
                          <a:srgbClr val="000000"/>
                        </a:solidFill>
                        <a:effectLst/>
                        <a:highlight>
                          <a:srgbClr val="FFFF00"/>
                        </a:highlight>
                        <a:latin typeface="Franklin Gothic Book"/>
                      </a:endParaRPr>
                    </a:p>
                  </a:txBody>
                  <a:tcPr marL="26708" marR="26708" marT="42739" marB="42739" anchor="ctr">
                    <a:solidFill>
                      <a:schemeClr val="tx2">
                        <a:lumMod val="10000"/>
                        <a:lumOff val="90000"/>
                      </a:schemeClr>
                    </a:solidFill>
                  </a:tcPr>
                </a:tc>
                <a:tc>
                  <a:txBody>
                    <a:bodyPr/>
                    <a:lstStyle/>
                    <a:p>
                      <a:pPr lvl="0" algn="r">
                        <a:lnSpc>
                          <a:spcPts val="2175"/>
                        </a:lnSpc>
                        <a:buNone/>
                      </a:pPr>
                      <a:r>
                        <a:rPr lang="en-US" sz="1400" b="0" u="none" strike="noStrike" noProof="0" dirty="0">
                          <a:solidFill>
                            <a:srgbClr val="000000"/>
                          </a:solidFill>
                          <a:effectLst/>
                          <a:highlight>
                            <a:srgbClr val="FFFF00"/>
                          </a:highlight>
                        </a:rPr>
                        <a:t>9,211</a:t>
                      </a:r>
                      <a:endParaRPr lang="en-US" sz="1400" b="0" i="0" u="none" strike="noStrike" noProof="0" dirty="0">
                        <a:solidFill>
                          <a:srgbClr val="000000"/>
                        </a:solidFill>
                        <a:effectLst/>
                        <a:highlight>
                          <a:srgbClr val="FFFF00"/>
                        </a:highlight>
                      </a:endParaRPr>
                    </a:p>
                  </a:txBody>
                  <a:tcPr marL="26708" marR="182880" marT="42739" marB="42739" anchor="ctr">
                    <a:solidFill>
                      <a:schemeClr val="tx2">
                        <a:lumMod val="10000"/>
                        <a:lumOff val="90000"/>
                      </a:schemeClr>
                    </a:solidFill>
                  </a:tcPr>
                </a:tc>
                <a:tc>
                  <a:txBody>
                    <a:bodyPr/>
                    <a:lstStyle/>
                    <a:p>
                      <a:pPr lvl="0" algn="r">
                        <a:lnSpc>
                          <a:spcPts val="2175"/>
                        </a:lnSpc>
                        <a:buNone/>
                      </a:pPr>
                      <a:r>
                        <a:rPr lang="en-US" sz="1400" b="0" u="none" strike="noStrike" dirty="0">
                          <a:solidFill>
                            <a:srgbClr val="000000"/>
                          </a:solidFill>
                          <a:effectLst/>
                          <a:highlight>
                            <a:srgbClr val="FFFF00"/>
                          </a:highlight>
                        </a:rPr>
                        <a:t>6.0%</a:t>
                      </a:r>
                      <a:endParaRPr lang="en-US" sz="1400" b="0" i="0" u="none" strike="noStrike" dirty="0">
                        <a:solidFill>
                          <a:srgbClr val="000000"/>
                        </a:solidFill>
                        <a:effectLst/>
                        <a:highlight>
                          <a:srgbClr val="FFFF00"/>
                        </a:highlight>
                        <a:latin typeface="Franklin Gothic Book"/>
                      </a:endParaRPr>
                    </a:p>
                  </a:txBody>
                  <a:tcPr marL="26708" marR="182880" marT="42739" marB="42739" anchor="ctr">
                    <a:solidFill>
                      <a:schemeClr val="tx2">
                        <a:lumMod val="10000"/>
                        <a:lumOff val="90000"/>
                      </a:schemeClr>
                    </a:solidFill>
                  </a:tcPr>
                </a:tc>
                <a:extLst>
                  <a:ext uri="{0D108BD9-81ED-4DB2-BD59-A6C34878D82A}">
                    <a16:rowId xmlns:a16="http://schemas.microsoft.com/office/drawing/2014/main" val="3700267936"/>
                  </a:ext>
                </a:extLst>
              </a:tr>
              <a:tr h="312439">
                <a:tc>
                  <a:txBody>
                    <a:bodyPr/>
                    <a:lstStyle/>
                    <a:p>
                      <a:pPr lvl="0" algn="l">
                        <a:lnSpc>
                          <a:spcPts val="2175"/>
                        </a:lnSpc>
                        <a:buNone/>
                      </a:pPr>
                      <a:r>
                        <a:rPr lang="en-US" sz="1400" b="0" u="none" strike="noStrike" dirty="0">
                          <a:solidFill>
                            <a:srgbClr val="000000"/>
                          </a:solidFill>
                          <a:effectLst/>
                          <a:highlight>
                            <a:srgbClr val="FFFF00"/>
                          </a:highlight>
                        </a:rPr>
                        <a:t>Population with a Disability*</a:t>
                      </a:r>
                      <a:endParaRPr lang="en-US" sz="1400" b="0" i="0" u="none" strike="noStrike" dirty="0">
                        <a:solidFill>
                          <a:srgbClr val="000000"/>
                        </a:solidFill>
                        <a:effectLst/>
                        <a:highlight>
                          <a:srgbClr val="FFFF00"/>
                        </a:highlight>
                        <a:latin typeface="Franklin Gothic Book"/>
                      </a:endParaRPr>
                    </a:p>
                  </a:txBody>
                  <a:tcPr marL="26708" marR="26708" marT="42739" marB="42739" anchor="ctr"/>
                </a:tc>
                <a:tc>
                  <a:txBody>
                    <a:bodyPr/>
                    <a:lstStyle/>
                    <a:p>
                      <a:pPr lvl="0" algn="r">
                        <a:lnSpc>
                          <a:spcPts val="2175"/>
                        </a:lnSpc>
                        <a:buNone/>
                      </a:pPr>
                      <a:r>
                        <a:rPr lang="en-US" sz="1400" b="0" u="none" strike="noStrike" noProof="0">
                          <a:solidFill>
                            <a:srgbClr val="000000"/>
                          </a:solidFill>
                          <a:effectLst/>
                          <a:highlight>
                            <a:srgbClr val="FFFF00"/>
                          </a:highlight>
                        </a:rPr>
                        <a:t>19,086</a:t>
                      </a:r>
                      <a:endParaRPr lang="en-US" sz="1400" b="0" i="0" u="none" strike="noStrike" noProof="0">
                        <a:solidFill>
                          <a:srgbClr val="000000"/>
                        </a:solidFill>
                        <a:effectLst/>
                        <a:highlight>
                          <a:srgbClr val="FFFF00"/>
                        </a:highlight>
                      </a:endParaRPr>
                    </a:p>
                  </a:txBody>
                  <a:tcPr marL="26708" marR="182880" marT="42739" marB="42739" anchor="ctr"/>
                </a:tc>
                <a:tc>
                  <a:txBody>
                    <a:bodyPr/>
                    <a:lstStyle/>
                    <a:p>
                      <a:pPr lvl="0" algn="r">
                        <a:lnSpc>
                          <a:spcPts val="2175"/>
                        </a:lnSpc>
                        <a:buNone/>
                      </a:pPr>
                      <a:r>
                        <a:rPr lang="en-US" sz="1400" b="0" u="none" strike="noStrike" dirty="0">
                          <a:solidFill>
                            <a:srgbClr val="000000"/>
                          </a:solidFill>
                          <a:effectLst/>
                          <a:highlight>
                            <a:srgbClr val="FFFF00"/>
                          </a:highlight>
                        </a:rPr>
                        <a:t>13.3%</a:t>
                      </a:r>
                      <a:endParaRPr lang="en-US" sz="1400" b="0" i="0" u="none" strike="noStrike" dirty="0">
                        <a:solidFill>
                          <a:srgbClr val="000000"/>
                        </a:solidFill>
                        <a:effectLst/>
                        <a:highlight>
                          <a:srgbClr val="FFFF00"/>
                        </a:highlight>
                        <a:latin typeface="Franklin Gothic Book"/>
                      </a:endParaRPr>
                    </a:p>
                  </a:txBody>
                  <a:tcPr marL="26708" marR="182880" marT="42739" marB="42739" anchor="ctr"/>
                </a:tc>
                <a:extLst>
                  <a:ext uri="{0D108BD9-81ED-4DB2-BD59-A6C34878D82A}">
                    <a16:rowId xmlns:a16="http://schemas.microsoft.com/office/drawing/2014/main" val="3977687381"/>
                  </a:ext>
                </a:extLst>
              </a:tr>
              <a:tr h="569526">
                <a:tc>
                  <a:txBody>
                    <a:bodyPr/>
                    <a:lstStyle/>
                    <a:p>
                      <a:pPr lvl="0" algn="l">
                        <a:lnSpc>
                          <a:spcPts val="2175"/>
                        </a:lnSpc>
                        <a:buNone/>
                      </a:pPr>
                      <a:r>
                        <a:rPr lang="en-US" sz="1400" b="0" u="none" strike="noStrike" dirty="0">
                          <a:solidFill>
                            <a:srgbClr val="000000"/>
                          </a:solidFill>
                          <a:effectLst/>
                          <a:highlight>
                            <a:srgbClr val="FFFF00"/>
                          </a:highlight>
                        </a:rPr>
                        <a:t>Education level below High School Diploma*</a:t>
                      </a:r>
                      <a:endParaRPr lang="en-US" sz="1400" b="0" i="0" u="none" strike="noStrike" dirty="0">
                        <a:solidFill>
                          <a:srgbClr val="000000"/>
                        </a:solidFill>
                        <a:effectLst/>
                        <a:highlight>
                          <a:srgbClr val="FFFF00"/>
                        </a:highlight>
                        <a:latin typeface="Franklin Gothic Book"/>
                      </a:endParaRPr>
                    </a:p>
                  </a:txBody>
                  <a:tcPr marL="26708" marR="26708" marT="42739" marB="42739" anchor="ctr">
                    <a:solidFill>
                      <a:schemeClr val="tx2">
                        <a:lumMod val="10000"/>
                        <a:lumOff val="90000"/>
                      </a:schemeClr>
                    </a:solidFill>
                  </a:tcPr>
                </a:tc>
                <a:tc>
                  <a:txBody>
                    <a:bodyPr/>
                    <a:lstStyle/>
                    <a:p>
                      <a:pPr lvl="0" algn="r">
                        <a:lnSpc>
                          <a:spcPts val="2175"/>
                        </a:lnSpc>
                        <a:buNone/>
                      </a:pPr>
                      <a:r>
                        <a:rPr lang="en-US" sz="1400" b="0" u="none" strike="noStrike" noProof="0" dirty="0">
                          <a:solidFill>
                            <a:srgbClr val="000000"/>
                          </a:solidFill>
                          <a:effectLst/>
                          <a:highlight>
                            <a:srgbClr val="FFFF00"/>
                          </a:highlight>
                        </a:rPr>
                        <a:t>12,773</a:t>
                      </a:r>
                      <a:endParaRPr lang="en-US" sz="1400" b="0" i="0" u="none" strike="noStrike" noProof="0" dirty="0">
                        <a:solidFill>
                          <a:srgbClr val="000000"/>
                        </a:solidFill>
                        <a:effectLst/>
                        <a:highlight>
                          <a:srgbClr val="FFFF00"/>
                        </a:highlight>
                      </a:endParaRPr>
                    </a:p>
                  </a:txBody>
                  <a:tcPr marL="26708" marR="182880" marT="42739" marB="42739" anchor="ctr">
                    <a:solidFill>
                      <a:schemeClr val="tx2">
                        <a:lumMod val="10000"/>
                        <a:lumOff val="90000"/>
                      </a:schemeClr>
                    </a:solidFill>
                  </a:tcPr>
                </a:tc>
                <a:tc>
                  <a:txBody>
                    <a:bodyPr/>
                    <a:lstStyle/>
                    <a:p>
                      <a:pPr lvl="0" algn="r">
                        <a:lnSpc>
                          <a:spcPts val="2175"/>
                        </a:lnSpc>
                        <a:buNone/>
                      </a:pPr>
                      <a:r>
                        <a:rPr lang="en-US" sz="1400" b="0" u="none" strike="noStrike" dirty="0">
                          <a:solidFill>
                            <a:srgbClr val="000000"/>
                          </a:solidFill>
                          <a:effectLst/>
                          <a:highlight>
                            <a:srgbClr val="FFFF00"/>
                          </a:highlight>
                        </a:rPr>
                        <a:t>14.0%</a:t>
                      </a:r>
                      <a:endParaRPr lang="en-US" sz="1400" b="0" i="0" u="none" strike="noStrike" dirty="0">
                        <a:solidFill>
                          <a:srgbClr val="000000"/>
                        </a:solidFill>
                        <a:effectLst/>
                        <a:highlight>
                          <a:srgbClr val="FFFF00"/>
                        </a:highlight>
                        <a:latin typeface="Franklin Gothic Book"/>
                      </a:endParaRPr>
                    </a:p>
                  </a:txBody>
                  <a:tcPr marL="26708" marR="182880" marT="42739" marB="42739" anchor="ctr">
                    <a:solidFill>
                      <a:schemeClr val="tx2">
                        <a:lumMod val="10000"/>
                        <a:lumOff val="90000"/>
                      </a:schemeClr>
                    </a:solidFill>
                  </a:tcPr>
                </a:tc>
                <a:extLst>
                  <a:ext uri="{0D108BD9-81ED-4DB2-BD59-A6C34878D82A}">
                    <a16:rowId xmlns:a16="http://schemas.microsoft.com/office/drawing/2014/main" val="2122974324"/>
                  </a:ext>
                </a:extLst>
              </a:tr>
              <a:tr h="371781">
                <a:tc>
                  <a:txBody>
                    <a:bodyPr/>
                    <a:lstStyle/>
                    <a:p>
                      <a:pPr lvl="0" algn="l">
                        <a:lnSpc>
                          <a:spcPts val="2175"/>
                        </a:lnSpc>
                        <a:buNone/>
                      </a:pPr>
                      <a:r>
                        <a:rPr lang="en-US" sz="1400" b="0" u="none" strike="noStrike" dirty="0">
                          <a:solidFill>
                            <a:srgbClr val="000000"/>
                          </a:solidFill>
                          <a:effectLst/>
                          <a:highlight>
                            <a:srgbClr val="FFFF00"/>
                          </a:highlight>
                        </a:rPr>
                        <a:t>Unemployed*</a:t>
                      </a:r>
                      <a:endParaRPr lang="en-US" sz="1400" b="0" i="0" u="none" strike="noStrike" dirty="0">
                        <a:solidFill>
                          <a:srgbClr val="000000"/>
                        </a:solidFill>
                        <a:effectLst/>
                        <a:highlight>
                          <a:srgbClr val="FFFF00"/>
                        </a:highlight>
                        <a:latin typeface="Franklin Gothic Book"/>
                      </a:endParaRPr>
                    </a:p>
                  </a:txBody>
                  <a:tcPr marL="26708" marR="26708" marT="42739" marB="42739" anchor="ctr"/>
                </a:tc>
                <a:tc>
                  <a:txBody>
                    <a:bodyPr/>
                    <a:lstStyle/>
                    <a:p>
                      <a:pPr lvl="0" algn="r">
                        <a:lnSpc>
                          <a:spcPts val="2175"/>
                        </a:lnSpc>
                        <a:buNone/>
                      </a:pPr>
                      <a:r>
                        <a:rPr lang="en-US" sz="1400" b="0" u="none" strike="noStrike" noProof="0">
                          <a:solidFill>
                            <a:srgbClr val="000000"/>
                          </a:solidFill>
                          <a:effectLst/>
                          <a:highlight>
                            <a:srgbClr val="FFFF00"/>
                          </a:highlight>
                        </a:rPr>
                        <a:t>6,570</a:t>
                      </a:r>
                      <a:endParaRPr lang="en-US" sz="1400" b="0" i="0" u="none" strike="noStrike" noProof="0">
                        <a:solidFill>
                          <a:srgbClr val="000000"/>
                        </a:solidFill>
                        <a:effectLst/>
                        <a:highlight>
                          <a:srgbClr val="FFFF00"/>
                        </a:highlight>
                      </a:endParaRPr>
                    </a:p>
                  </a:txBody>
                  <a:tcPr marL="26708" marR="182880" marT="42739" marB="42739" anchor="ctr"/>
                </a:tc>
                <a:tc>
                  <a:txBody>
                    <a:bodyPr/>
                    <a:lstStyle/>
                    <a:p>
                      <a:pPr lvl="0" algn="r">
                        <a:lnSpc>
                          <a:spcPts val="2175"/>
                        </a:lnSpc>
                        <a:buNone/>
                      </a:pPr>
                      <a:r>
                        <a:rPr lang="en-US" sz="1400" b="0" u="none" strike="noStrike" dirty="0">
                          <a:solidFill>
                            <a:srgbClr val="000000"/>
                          </a:solidFill>
                          <a:effectLst/>
                          <a:highlight>
                            <a:srgbClr val="FFFF00"/>
                          </a:highlight>
                        </a:rPr>
                        <a:t>5.9%</a:t>
                      </a:r>
                      <a:endParaRPr lang="en-US" sz="1400" b="0" i="0" u="none" strike="noStrike" dirty="0">
                        <a:solidFill>
                          <a:srgbClr val="000000"/>
                        </a:solidFill>
                        <a:effectLst/>
                        <a:highlight>
                          <a:srgbClr val="FFFF00"/>
                        </a:highlight>
                        <a:latin typeface="Franklin Gothic Book"/>
                      </a:endParaRPr>
                    </a:p>
                  </a:txBody>
                  <a:tcPr marL="26708" marR="182880" marT="42739" marB="42739" anchor="ctr"/>
                </a:tc>
                <a:extLst>
                  <a:ext uri="{0D108BD9-81ED-4DB2-BD59-A6C34878D82A}">
                    <a16:rowId xmlns:a16="http://schemas.microsoft.com/office/drawing/2014/main" val="840601713"/>
                  </a:ext>
                </a:extLst>
              </a:tr>
            </a:tbl>
          </a:graphicData>
        </a:graphic>
      </p:graphicFrame>
      <p:sp>
        <p:nvSpPr>
          <p:cNvPr id="14" name="TextBox 13">
            <a:extLst>
              <a:ext uri="{FF2B5EF4-FFF2-40B4-BE49-F238E27FC236}">
                <a16:creationId xmlns:a16="http://schemas.microsoft.com/office/drawing/2014/main" id="{79C5BD92-5AA4-0415-80D4-D558A80C20F0}"/>
              </a:ext>
            </a:extLst>
          </p:cNvPr>
          <p:cNvSpPr txBox="1"/>
          <p:nvPr/>
        </p:nvSpPr>
        <p:spPr>
          <a:xfrm>
            <a:off x="6168875" y="5611113"/>
            <a:ext cx="544982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*excluding military housing units</a:t>
            </a:r>
          </a:p>
        </p:txBody>
      </p:sp>
      <p:sp>
        <p:nvSpPr>
          <p:cNvPr id="3" name="TextBox 2">
            <a:extLst>
              <a:ext uri="{FF2B5EF4-FFF2-40B4-BE49-F238E27FC236}">
                <a16:creationId xmlns:a16="http://schemas.microsoft.com/office/drawing/2014/main" id="{617C564A-1675-A9A3-FAE9-04F349C5A3B7}"/>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
        <p:nvSpPr>
          <p:cNvPr id="9" name="Text Placeholder 3">
            <a:extLst>
              <a:ext uri="{FF2B5EF4-FFF2-40B4-BE49-F238E27FC236}">
                <a16:creationId xmlns:a16="http://schemas.microsoft.com/office/drawing/2014/main" id="{C2E4E17B-D993-DEAA-92FC-1A5B4E947723}"/>
              </a:ext>
            </a:extLst>
          </p:cNvPr>
          <p:cNvSpPr txBox="1">
            <a:spLocks/>
          </p:cNvSpPr>
          <p:nvPr/>
        </p:nvSpPr>
        <p:spPr>
          <a:xfrm>
            <a:off x="336378" y="1744858"/>
            <a:ext cx="5478570" cy="4127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dirty="0"/>
              <a:t>Key BLUF/takeaway statement summarizing the most important information on this slide (bolded, no period, no bullet)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ea typeface="+mn-lt"/>
                <a:cs typeface="+mn-lt"/>
              </a:rPr>
              <a:t>Table comes from running python notebook: socio_demo.py</a:t>
            </a:r>
          </a:p>
          <a:p>
            <a:pPr>
              <a:lnSpc>
                <a:spcPct val="100000"/>
              </a:lnSpc>
            </a:pPr>
            <a:r>
              <a:rPr lang="en-US" sz="1800" b="0" dirty="0">
                <a:ea typeface="+mn-lt"/>
                <a:cs typeface="+mn-lt"/>
              </a:rPr>
              <a:t>Can also include CRCI information if available</a:t>
            </a:r>
            <a:endParaRPr lang="en-US" sz="1800" b="0" dirty="0"/>
          </a:p>
          <a:p>
            <a:pPr>
              <a:lnSpc>
                <a:spcPct val="100000"/>
              </a:lnSpc>
            </a:pPr>
            <a:endParaRPr lang="en-US" sz="1800" b="0" dirty="0"/>
          </a:p>
          <a:p>
            <a:pPr>
              <a:lnSpc>
                <a:spcPct val="100000"/>
              </a:lnSpc>
            </a:pPr>
            <a:endParaRPr lang="en-US" sz="1800" b="0" dirty="0"/>
          </a:p>
        </p:txBody>
      </p:sp>
    </p:spTree>
    <p:extLst>
      <p:ext uri="{BB962C8B-B14F-4D97-AF65-F5344CB8AC3E}">
        <p14:creationId xmlns:p14="http://schemas.microsoft.com/office/powerpoint/2010/main" val="3978268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4AE5E-4DB1-0CFD-7F76-6C3072E2D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2D420-5961-1ACF-CCD8-84223CED267B}"/>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766873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42FB-0F63-F9A6-A790-3D5594A2A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1D941-72C6-0077-A7A9-BAC2CBCCA3F7}"/>
              </a:ext>
            </a:extLst>
          </p:cNvPr>
          <p:cNvSpPr>
            <a:spLocks noGrp="1"/>
          </p:cNvSpPr>
          <p:nvPr>
            <p:ph type="title"/>
          </p:nvPr>
        </p:nvSpPr>
        <p:spPr/>
        <p:txBody>
          <a:bodyPr/>
          <a:lstStyle/>
          <a:p>
            <a:r>
              <a:rPr lang="en-US" dirty="0"/>
              <a:t>Data Sources</a:t>
            </a:r>
          </a:p>
        </p:txBody>
      </p:sp>
      <p:graphicFrame>
        <p:nvGraphicFramePr>
          <p:cNvPr id="4" name="Table 3">
            <a:extLst>
              <a:ext uri="{FF2B5EF4-FFF2-40B4-BE49-F238E27FC236}">
                <a16:creationId xmlns:a16="http://schemas.microsoft.com/office/drawing/2014/main" id="{F27FB42E-9867-3BD4-00B7-21BE15D7AFE9}"/>
              </a:ext>
            </a:extLst>
          </p:cNvPr>
          <p:cNvGraphicFramePr>
            <a:graphicFrameLocks noGrp="1"/>
          </p:cNvGraphicFramePr>
          <p:nvPr>
            <p:extLst>
              <p:ext uri="{D42A27DB-BD31-4B8C-83A1-F6EECF244321}">
                <p14:modId xmlns:p14="http://schemas.microsoft.com/office/powerpoint/2010/main" val="740754607"/>
              </p:ext>
            </p:extLst>
          </p:nvPr>
        </p:nvGraphicFramePr>
        <p:xfrm>
          <a:off x="439831" y="1717632"/>
          <a:ext cx="11301985" cy="2861192"/>
        </p:xfrm>
        <a:graphic>
          <a:graphicData uri="http://schemas.openxmlformats.org/drawingml/2006/table">
            <a:tbl>
              <a:tblPr>
                <a:tableStyleId>{69CF1AB2-1976-4502-BF36-3FF5EA218861}</a:tableStyleId>
              </a:tblPr>
              <a:tblGrid>
                <a:gridCol w="2372626">
                  <a:extLst>
                    <a:ext uri="{9D8B030D-6E8A-4147-A177-3AD203B41FA5}">
                      <a16:colId xmlns:a16="http://schemas.microsoft.com/office/drawing/2014/main" val="2134851212"/>
                    </a:ext>
                  </a:extLst>
                </a:gridCol>
                <a:gridCol w="3951384">
                  <a:extLst>
                    <a:ext uri="{9D8B030D-6E8A-4147-A177-3AD203B41FA5}">
                      <a16:colId xmlns:a16="http://schemas.microsoft.com/office/drawing/2014/main" val="3218596260"/>
                    </a:ext>
                  </a:extLst>
                </a:gridCol>
                <a:gridCol w="4977975">
                  <a:extLst>
                    <a:ext uri="{9D8B030D-6E8A-4147-A177-3AD203B41FA5}">
                      <a16:colId xmlns:a16="http://schemas.microsoft.com/office/drawing/2014/main" val="1385985816"/>
                    </a:ext>
                  </a:extLst>
                </a:gridCol>
              </a:tblGrid>
              <a:tr h="182838">
                <a:tc>
                  <a:txBody>
                    <a:bodyPr/>
                    <a:lstStyle/>
                    <a:p>
                      <a:pPr algn="ctr">
                        <a:buNone/>
                      </a:pPr>
                      <a:r>
                        <a:rPr lang="en-US" sz="1800" b="1" dirty="0">
                          <a:solidFill>
                            <a:schemeClr val="bg1"/>
                          </a:solidFill>
                        </a:rPr>
                        <a:t>Source</a:t>
                      </a:r>
                    </a:p>
                  </a:txBody>
                  <a:tcPr anchor="ctr">
                    <a:solidFill>
                      <a:srgbClr val="005188"/>
                    </a:solidFill>
                  </a:tcPr>
                </a:tc>
                <a:tc>
                  <a:txBody>
                    <a:bodyPr/>
                    <a:lstStyle/>
                    <a:p>
                      <a:pPr algn="ctr">
                        <a:buNone/>
                      </a:pPr>
                      <a:r>
                        <a:rPr lang="en-US" sz="1800" b="1" dirty="0">
                          <a:solidFill>
                            <a:schemeClr val="bg1"/>
                          </a:solidFill>
                        </a:rPr>
                        <a:t>Link</a:t>
                      </a:r>
                    </a:p>
                  </a:txBody>
                  <a:tcPr anchor="ctr">
                    <a:solidFill>
                      <a:srgbClr val="005188"/>
                    </a:solidFill>
                  </a:tcPr>
                </a:tc>
                <a:tc>
                  <a:txBody>
                    <a:bodyPr/>
                    <a:lstStyle/>
                    <a:p>
                      <a:pPr algn="ctr">
                        <a:buNone/>
                      </a:pPr>
                      <a:r>
                        <a:rPr lang="en-US" sz="1800" b="1" dirty="0">
                          <a:solidFill>
                            <a:schemeClr val="bg1"/>
                          </a:solidFill>
                        </a:rPr>
                        <a:t>Use Case</a:t>
                      </a:r>
                    </a:p>
                  </a:txBody>
                  <a:tcPr anchor="ctr">
                    <a:solidFill>
                      <a:srgbClr val="005188"/>
                    </a:solidFill>
                  </a:tcPr>
                </a:tc>
                <a:extLst>
                  <a:ext uri="{0D108BD9-81ED-4DB2-BD59-A6C34878D82A}">
                    <a16:rowId xmlns:a16="http://schemas.microsoft.com/office/drawing/2014/main" val="120494098"/>
                  </a:ext>
                </a:extLst>
              </a:tr>
              <a:tr h="311929">
                <a:tc>
                  <a:txBody>
                    <a:bodyPr/>
                    <a:lstStyle/>
                    <a:p>
                      <a:pPr>
                        <a:buNone/>
                      </a:pPr>
                      <a:r>
                        <a:rPr lang="en-US" sz="1400" dirty="0"/>
                        <a:t>Name of source</a:t>
                      </a:r>
                    </a:p>
                  </a:txBody>
                  <a:tcPr anchor="ctr"/>
                </a:tc>
                <a:tc>
                  <a:txBody>
                    <a:bodyPr/>
                    <a:lstStyle/>
                    <a:p>
                      <a:pPr>
                        <a:buNone/>
                      </a:pPr>
                      <a:r>
                        <a:rPr lang="en-US" sz="1400" dirty="0"/>
                        <a:t>Link to source </a:t>
                      </a:r>
                    </a:p>
                  </a:txBody>
                  <a:tcPr anchor="ctr"/>
                </a:tc>
                <a:tc>
                  <a:txBody>
                    <a:bodyPr/>
                    <a:lstStyle/>
                    <a:p>
                      <a:pPr>
                        <a:buNone/>
                      </a:pPr>
                      <a:r>
                        <a:rPr lang="en-US" sz="1400" dirty="0"/>
                        <a:t>How was the source used in analysis?</a:t>
                      </a:r>
                    </a:p>
                  </a:txBody>
                  <a:tcPr anchor="ctr"/>
                </a:tc>
                <a:extLst>
                  <a:ext uri="{0D108BD9-81ED-4DB2-BD59-A6C34878D82A}">
                    <a16:rowId xmlns:a16="http://schemas.microsoft.com/office/drawing/2014/main" val="3814781176"/>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4180616355"/>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29660603"/>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43485409"/>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3747984232"/>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610147540"/>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893729885"/>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1898542229"/>
                  </a:ext>
                </a:extLst>
              </a:tr>
            </a:tbl>
          </a:graphicData>
        </a:graphic>
      </p:graphicFrame>
      <p:sp>
        <p:nvSpPr>
          <p:cNvPr id="3" name="TextBox 2">
            <a:extLst>
              <a:ext uri="{FF2B5EF4-FFF2-40B4-BE49-F238E27FC236}">
                <a16:creationId xmlns:a16="http://schemas.microsoft.com/office/drawing/2014/main" id="{B6D51547-6129-7FA2-C186-2F79CB63BE5A}"/>
              </a:ext>
            </a:extLst>
          </p:cNvPr>
          <p:cNvSpPr txBox="1"/>
          <p:nvPr/>
        </p:nvSpPr>
        <p:spPr>
          <a:xfrm>
            <a:off x="575534" y="4835562"/>
            <a:ext cx="10574767" cy="369332"/>
          </a:xfrm>
          <a:prstGeom prst="rect">
            <a:avLst/>
          </a:prstGeom>
          <a:noFill/>
        </p:spPr>
        <p:txBody>
          <a:bodyPr wrap="square" rtlCol="0">
            <a:spAutoFit/>
          </a:bodyPr>
          <a:lstStyle/>
          <a:p>
            <a:r>
              <a:rPr lang="en-US" dirty="0"/>
              <a:t>Notes: Can go down to size 9 font, but if more room is needed, start another Data Sources slide</a:t>
            </a:r>
          </a:p>
        </p:txBody>
      </p:sp>
    </p:spTree>
    <p:extLst>
      <p:ext uri="{BB962C8B-B14F-4D97-AF65-F5344CB8AC3E}">
        <p14:creationId xmlns:p14="http://schemas.microsoft.com/office/powerpoint/2010/main" val="976028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16B4B-D570-D150-9C12-7CADF6AF3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52860-280B-AD34-D24D-E25996BC68DE}"/>
              </a:ext>
            </a:extLst>
          </p:cNvPr>
          <p:cNvSpPr>
            <a:spLocks noGrp="1"/>
          </p:cNvSpPr>
          <p:nvPr>
            <p:ph type="title"/>
          </p:nvPr>
        </p:nvSpPr>
        <p:spPr/>
        <p:txBody>
          <a:bodyPr/>
          <a:lstStyle/>
          <a:p>
            <a:r>
              <a:rPr lang="en-US" dirty="0"/>
              <a:t>BEAD Tier 1 Example: Guam</a:t>
            </a:r>
          </a:p>
        </p:txBody>
      </p:sp>
    </p:spTree>
    <p:extLst>
      <p:ext uri="{BB962C8B-B14F-4D97-AF65-F5344CB8AC3E}">
        <p14:creationId xmlns:p14="http://schemas.microsoft.com/office/powerpoint/2010/main" val="2188386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61BD4-5492-FB8E-9BCB-26765481E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64F4E-0725-E27F-487F-BF3C44176D6C}"/>
              </a:ext>
            </a:extLst>
          </p:cNvPr>
          <p:cNvSpPr>
            <a:spLocks noGrp="1"/>
          </p:cNvSpPr>
          <p:nvPr>
            <p:ph type="title"/>
          </p:nvPr>
        </p:nvSpPr>
        <p:spPr>
          <a:xfrm>
            <a:off x="576072" y="2267988"/>
            <a:ext cx="10820400" cy="1246472"/>
          </a:xfrm>
        </p:spPr>
        <p:txBody>
          <a:bodyPr/>
          <a:lstStyle/>
          <a:p>
            <a:r>
              <a:rPr lang="en-US" sz="4000" dirty="0"/>
              <a:t>Super Typhoon </a:t>
            </a:r>
            <a:r>
              <a:rPr lang="en-US" sz="4000" dirty="0" err="1"/>
              <a:t>Sinlaku</a:t>
            </a:r>
            <a:r>
              <a:rPr lang="en-US" sz="4000" dirty="0"/>
              <a:t>: Guam and Commonwealth of Northern Mariana Islands</a:t>
            </a:r>
          </a:p>
        </p:txBody>
      </p:sp>
      <p:sp>
        <p:nvSpPr>
          <p:cNvPr id="3" name="Text Placeholder 2">
            <a:extLst>
              <a:ext uri="{FF2B5EF4-FFF2-40B4-BE49-F238E27FC236}">
                <a16:creationId xmlns:a16="http://schemas.microsoft.com/office/drawing/2014/main" id="{6B6B8247-856B-36E8-1C05-971ABC8E7166}"/>
              </a:ext>
            </a:extLst>
          </p:cNvPr>
          <p:cNvSpPr>
            <a:spLocks noGrp="1"/>
          </p:cNvSpPr>
          <p:nvPr>
            <p:ph type="body" sz="quarter" idx="10"/>
          </p:nvPr>
        </p:nvSpPr>
        <p:spPr>
          <a:xfrm>
            <a:off x="649943" y="3738632"/>
            <a:ext cx="10820401" cy="410936"/>
          </a:xfrm>
        </p:spPr>
        <p:txBody>
          <a:bodyPr/>
          <a:lstStyle/>
          <a:p>
            <a:r>
              <a:rPr lang="en-US" dirty="0">
                <a:latin typeface="Franklin Gothic Book" panose="020B0503020102020204" pitchFamily="34" charset="0"/>
              </a:rPr>
              <a:t>Office of Business, Industry, and Infrastructure Integration (OB3I)</a:t>
            </a:r>
          </a:p>
        </p:txBody>
      </p:sp>
      <p:sp>
        <p:nvSpPr>
          <p:cNvPr id="4" name="Date Placeholder 3">
            <a:extLst>
              <a:ext uri="{FF2B5EF4-FFF2-40B4-BE49-F238E27FC236}">
                <a16:creationId xmlns:a16="http://schemas.microsoft.com/office/drawing/2014/main" id="{8A41084D-BD28-408A-3CD6-B9E5CED4F036}"/>
              </a:ext>
            </a:extLst>
          </p:cNvPr>
          <p:cNvSpPr>
            <a:spLocks noGrp="1"/>
          </p:cNvSpPr>
          <p:nvPr>
            <p:ph type="dt" sz="half" idx="13"/>
          </p:nvPr>
        </p:nvSpPr>
        <p:spPr>
          <a:xfrm>
            <a:off x="1262934" y="51218"/>
            <a:ext cx="1711412" cy="365125"/>
          </a:xfrm>
        </p:spPr>
        <p:txBody>
          <a:bodyPr/>
          <a:lstStyle/>
          <a:p>
            <a:fld id="{DD695F1D-170A-40BD-A110-7EA064E73210}" type="datetime3">
              <a:rPr lang="en-US" smtClean="0"/>
              <a:t>8 June 2026</a:t>
            </a:fld>
            <a:endParaRPr lang="en-US" dirty="0"/>
          </a:p>
        </p:txBody>
      </p:sp>
      <p:sp>
        <p:nvSpPr>
          <p:cNvPr id="8" name="Text Placeholder 2">
            <a:extLst>
              <a:ext uri="{FF2B5EF4-FFF2-40B4-BE49-F238E27FC236}">
                <a16:creationId xmlns:a16="http://schemas.microsoft.com/office/drawing/2014/main" id="{BF3D1012-16F7-4B9F-645F-838A12B978D0}"/>
              </a:ext>
            </a:extLst>
          </p:cNvPr>
          <p:cNvSpPr txBox="1">
            <a:spLocks/>
          </p:cNvSpPr>
          <p:nvPr/>
        </p:nvSpPr>
        <p:spPr>
          <a:xfrm>
            <a:off x="685799" y="4156074"/>
            <a:ext cx="10820401" cy="410936"/>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mj-lt"/>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mn-lt"/>
              </a:rPr>
              <a:t>Business Economic Analysis Data (BEAD) Tier 1 Report</a:t>
            </a:r>
          </a:p>
        </p:txBody>
      </p:sp>
    </p:spTree>
    <p:extLst>
      <p:ext uri="{BB962C8B-B14F-4D97-AF65-F5344CB8AC3E}">
        <p14:creationId xmlns:p14="http://schemas.microsoft.com/office/powerpoint/2010/main" val="3368402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5F467B-BFE9-7E0C-00CF-922182B3A6E2}"/>
              </a:ext>
            </a:extLst>
          </p:cNvPr>
          <p:cNvSpPr>
            <a:spLocks noGrp="1"/>
          </p:cNvSpPr>
          <p:nvPr>
            <p:ph type="body" sz="quarter" idx="15"/>
          </p:nvPr>
        </p:nvSpPr>
        <p:spPr>
          <a:xfrm>
            <a:off x="507999" y="2346476"/>
            <a:ext cx="10927471" cy="3713314"/>
          </a:xfrm>
        </p:spPr>
        <p:txBody>
          <a:bodyPr vert="horz" lIns="91440" tIns="45720" rIns="91440" bIns="45720" rtlCol="0" anchor="t">
            <a:noAutofit/>
          </a:bodyPr>
          <a:lstStyle/>
          <a:p>
            <a:pPr marL="285750" indent="-285750">
              <a:buFont typeface="Arial" panose="020B0604020202020204" pitchFamily="34" charset="0"/>
              <a:buChar char="•"/>
            </a:pPr>
            <a:r>
              <a:rPr lang="en-US" sz="1300" dirty="0" err="1"/>
              <a:t>Sinlaku</a:t>
            </a:r>
            <a:r>
              <a:rPr lang="en-US" sz="1300" dirty="0"/>
              <a:t> is forecast to impact Guam and CNMI as a Category 3 typhoon (~120 mph), bringing high winds, 15–20 inches of rain, coastal flooding, and tropical storm conditions.</a:t>
            </a:r>
          </a:p>
          <a:p>
            <a:pPr marL="285750" indent="-285750">
              <a:buFont typeface="Arial" panose="020B0604020202020204" pitchFamily="34" charset="0"/>
              <a:buChar char="•"/>
            </a:pPr>
            <a:r>
              <a:rPr lang="en-US" sz="1300" dirty="0"/>
              <a:t>Guam and CNMI are entering a constrained resupply period, with port operations degrading and limited ability to receive near-term shipments. Recent deliveries (Apr 6–8 cargo; late March fuel) provide short-term supply, but upcoming shipments (Apr 12–19 cargo; mid-April fuel tanker) are at risk if conditions escalate.</a:t>
            </a:r>
          </a:p>
          <a:p>
            <a:pPr marL="285750" indent="-285750">
              <a:buFont typeface="Arial" panose="020B0604020202020204" pitchFamily="34" charset="0"/>
              <a:buChar char="•"/>
            </a:pPr>
            <a:r>
              <a:rPr lang="en-US" sz="1300" dirty="0">
                <a:latin typeface="Franklin Gothic Book"/>
              </a:rPr>
              <a:t>Both territories are fully dependent on maritime imports for food and fuel, making port operability the primary driver of resupply timing and retail availability. Power outages are a key risk multiplier, with potential impacts to fuel distribution and food spoilage, especially for refrigerated goods.</a:t>
            </a:r>
          </a:p>
          <a:p>
            <a:pPr marL="285750" indent="-285750">
              <a:buFont typeface="Arial" panose="020B0604020202020204" pitchFamily="34" charset="0"/>
              <a:buChar char="•"/>
            </a:pPr>
            <a:r>
              <a:rPr lang="en-US" sz="1300" dirty="0"/>
              <a:t>CNMI faces elevated risk due to its multi-island structure: Saipan serves as the primary hub, while Tinian and Rota rely on more vulnerable inter-island transport. Impacts are expected to manifest as delays and localized shortages, not immediate depletion.</a:t>
            </a:r>
          </a:p>
          <a:p>
            <a:pPr marL="285750" indent="-285750">
              <a:buFont typeface="Arial" panose="020B0604020202020204" pitchFamily="34" charset="0"/>
              <a:buChar char="•"/>
            </a:pPr>
            <a:r>
              <a:rPr lang="en-US" sz="1300" dirty="0"/>
              <a:t>Guam has significant military and strategic infrastructure exposure, including Naval Base Guam, Andersen Air Force Base, and Camp Blaz, as well as its role as a trans-Pacific communications hub.</a:t>
            </a:r>
          </a:p>
          <a:p>
            <a:pPr marL="285750" indent="-285750">
              <a:buFont typeface="Arial" panose="020B0604020202020204" pitchFamily="34" charset="0"/>
              <a:buChar char="•"/>
            </a:pPr>
            <a:r>
              <a:rPr lang="en-US" sz="1300" dirty="0">
                <a:latin typeface="Franklin Gothic Book"/>
              </a:rPr>
              <a:t>While </a:t>
            </a:r>
            <a:r>
              <a:rPr lang="en-US" sz="1300" dirty="0" err="1">
                <a:latin typeface="Franklin Gothic Book"/>
              </a:rPr>
              <a:t>Sinlaku</a:t>
            </a:r>
            <a:r>
              <a:rPr lang="en-US" sz="1300" dirty="0">
                <a:latin typeface="Franklin Gothic Book"/>
              </a:rPr>
              <a:t> is expected to be less severe than Super Typhoon Mawar (2023), that event demonstrated the potential for widespread infrastructure disruption ($338M FEMA assistance; ~$10B DoD repairs) and prolonged lifeline impacts.</a:t>
            </a:r>
          </a:p>
          <a:p>
            <a:pPr marL="285750" indent="-285750">
              <a:buFont typeface="Arial" panose="020B0604020202020204" pitchFamily="34" charset="0"/>
              <a:buChar char="•"/>
            </a:pPr>
            <a:r>
              <a:rPr lang="en-US" sz="1300" dirty="0">
                <a:latin typeface="Franklin Gothic Book"/>
              </a:rPr>
              <a:t>Since Mawar, Guam’s power system resilience has improved through grid hardening, undergrounding, and the addition of the 198 MW </a:t>
            </a:r>
            <a:r>
              <a:rPr lang="en-US" sz="1300" dirty="0" err="1">
                <a:latin typeface="Franklin Gothic Book"/>
              </a:rPr>
              <a:t>Ukudu</a:t>
            </a:r>
            <a:r>
              <a:rPr lang="en-US" sz="1300" dirty="0">
                <a:latin typeface="Franklin Gothic Book"/>
              </a:rPr>
              <a:t> power plant, though systems remain dependent on imported fuel and functional port operations.</a:t>
            </a:r>
          </a:p>
        </p:txBody>
      </p:sp>
      <p:sp>
        <p:nvSpPr>
          <p:cNvPr id="3" name="Title 2">
            <a:extLst>
              <a:ext uri="{FF2B5EF4-FFF2-40B4-BE49-F238E27FC236}">
                <a16:creationId xmlns:a16="http://schemas.microsoft.com/office/drawing/2014/main" id="{9629EA44-D4B2-D935-1458-B6D0CB5CF4A5}"/>
              </a:ext>
            </a:extLst>
          </p:cNvPr>
          <p:cNvSpPr>
            <a:spLocks noGrp="1"/>
          </p:cNvSpPr>
          <p:nvPr>
            <p:ph type="ctrTitle"/>
          </p:nvPr>
        </p:nvSpPr>
        <p:spPr>
          <a:xfrm>
            <a:off x="579423" y="733393"/>
            <a:ext cx="10981116" cy="400553"/>
          </a:xfrm>
        </p:spPr>
        <p:txBody>
          <a:bodyPr/>
          <a:lstStyle/>
          <a:p>
            <a:r>
              <a:rPr lang="en-US" dirty="0">
                <a:latin typeface="Franklin Gothic Heavy"/>
              </a:rPr>
              <a:t>Executive Summary – Guam and CNMI | Typhoon </a:t>
            </a:r>
            <a:r>
              <a:rPr lang="en-US" dirty="0" err="1">
                <a:latin typeface="Franklin Gothic Heavy"/>
              </a:rPr>
              <a:t>Sinlaku</a:t>
            </a:r>
            <a:endParaRPr lang="en-US" dirty="0">
              <a:latin typeface="Franklin Gothic Heavy"/>
            </a:endParaRPr>
          </a:p>
        </p:txBody>
      </p:sp>
      <p:sp>
        <p:nvSpPr>
          <p:cNvPr id="4" name="Text Placeholder 3">
            <a:extLst>
              <a:ext uri="{FF2B5EF4-FFF2-40B4-BE49-F238E27FC236}">
                <a16:creationId xmlns:a16="http://schemas.microsoft.com/office/drawing/2014/main" id="{A50C660A-CBD2-050D-570A-8CC763DADD49}"/>
              </a:ext>
            </a:extLst>
          </p:cNvPr>
          <p:cNvSpPr>
            <a:spLocks noGrp="1"/>
          </p:cNvSpPr>
          <p:nvPr>
            <p:ph type="body" sz="quarter" idx="16"/>
          </p:nvPr>
        </p:nvSpPr>
        <p:spPr>
          <a:xfrm>
            <a:off x="422030" y="1519239"/>
            <a:ext cx="11416402" cy="725638"/>
          </a:xfrm>
        </p:spPr>
        <p:txBody>
          <a:bodyPr vert="horz" lIns="91440" tIns="45720" rIns="91440" bIns="45720" rtlCol="0" anchor="t">
            <a:normAutofit fontScale="85000" lnSpcReduction="10000"/>
          </a:bodyPr>
          <a:lstStyle/>
          <a:p>
            <a:r>
              <a:rPr lang="en-US" sz="1600" b="1" dirty="0" err="1"/>
              <a:t>Sinlaku</a:t>
            </a:r>
            <a:r>
              <a:rPr lang="en-US" sz="1600" b="1" dirty="0"/>
              <a:t> is forecast to impact Guam and CNMI as a Category 3 typhoon (~120 mph) on April 13. Both territories are expected to enter a constrained supply chain environment driven by port disruption. While short-term food and fuel supplies are adequate, delayed shipments, power outages, and communications disruptions will limit distribution, access, and recovery, particularly in CNMI due to inter-island dependencies.</a:t>
            </a:r>
          </a:p>
        </p:txBody>
      </p:sp>
      <p:sp>
        <p:nvSpPr>
          <p:cNvPr id="5" name="TextBox 4">
            <a:extLst>
              <a:ext uri="{FF2B5EF4-FFF2-40B4-BE49-F238E27FC236}">
                <a16:creationId xmlns:a16="http://schemas.microsoft.com/office/drawing/2014/main" id="{AA428E7D-D717-ABEF-4A69-974CA47BC1BF}"/>
              </a:ext>
            </a:extLst>
          </p:cNvPr>
          <p:cNvSpPr txBox="1"/>
          <p:nvPr/>
        </p:nvSpPr>
        <p:spPr>
          <a:xfrm>
            <a:off x="4309253" y="6313755"/>
            <a:ext cx="6285186" cy="230832"/>
          </a:xfrm>
          <a:prstGeom prst="rect">
            <a:avLst/>
          </a:prstGeom>
          <a:noFill/>
        </p:spPr>
        <p:txBody>
          <a:bodyPr wrap="square" rtlCol="0">
            <a:spAutoFit/>
          </a:bodyPr>
          <a:lstStyle/>
          <a:p>
            <a:r>
              <a:rPr lang="en-US" sz="900" dirty="0"/>
              <a:t>Sources: NOAA / NWS Guam; FEMA Western Pacific IAB; Port Authority of Guam; Guam &amp; CNMI SCAN Baseline Assessments</a:t>
            </a:r>
          </a:p>
        </p:txBody>
      </p:sp>
    </p:spTree>
    <p:extLst>
      <p:ext uri="{BB962C8B-B14F-4D97-AF65-F5344CB8AC3E}">
        <p14:creationId xmlns:p14="http://schemas.microsoft.com/office/powerpoint/2010/main" val="2684132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DC17D-8DD5-264B-3AE3-BFF7ECEEC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37717-8FC9-F195-BA50-6B2A45D79E40}"/>
              </a:ext>
            </a:extLst>
          </p:cNvPr>
          <p:cNvSpPr>
            <a:spLocks noGrp="1"/>
          </p:cNvSpPr>
          <p:nvPr>
            <p:ph type="title"/>
          </p:nvPr>
        </p:nvSpPr>
        <p:spPr>
          <a:xfrm>
            <a:off x="607320" y="820410"/>
            <a:ext cx="11329752" cy="457200"/>
          </a:xfrm>
        </p:spPr>
        <p:txBody>
          <a:bodyPr/>
          <a:lstStyle/>
          <a:p>
            <a:r>
              <a:rPr lang="en-US" sz="2800" dirty="0">
                <a:latin typeface="Franklin Gothic Heavy"/>
              </a:rPr>
              <a:t>Hazard Overview – Typhoon </a:t>
            </a:r>
            <a:r>
              <a:rPr lang="en-US" sz="2800" dirty="0" err="1">
                <a:latin typeface="Franklin Gothic Heavy"/>
              </a:rPr>
              <a:t>Sinlaku</a:t>
            </a:r>
            <a:r>
              <a:rPr lang="en-US" sz="2800" dirty="0">
                <a:latin typeface="Franklin Gothic Heavy"/>
              </a:rPr>
              <a:t> Winds</a:t>
            </a:r>
          </a:p>
        </p:txBody>
      </p:sp>
      <p:pic>
        <p:nvPicPr>
          <p:cNvPr id="6" name="Picture 5">
            <a:extLst>
              <a:ext uri="{FF2B5EF4-FFF2-40B4-BE49-F238E27FC236}">
                <a16:creationId xmlns:a16="http://schemas.microsoft.com/office/drawing/2014/main" id="{034DD0BB-9799-2913-A7D1-AB4E9B15232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35902" y="1515780"/>
            <a:ext cx="7752282" cy="4624884"/>
          </a:xfrm>
          <a:prstGeom prst="rect">
            <a:avLst/>
          </a:prstGeom>
          <a:ln w="12700">
            <a:solidFill>
              <a:schemeClr val="tx1"/>
            </a:solidFill>
          </a:ln>
        </p:spPr>
      </p:pic>
      <p:sp>
        <p:nvSpPr>
          <p:cNvPr id="8" name="Rectangle 7">
            <a:extLst>
              <a:ext uri="{FF2B5EF4-FFF2-40B4-BE49-F238E27FC236}">
                <a16:creationId xmlns:a16="http://schemas.microsoft.com/office/drawing/2014/main" id="{3D5FEE2F-DE67-6B35-5DB7-10EC3C50FC58}"/>
              </a:ext>
            </a:extLst>
          </p:cNvPr>
          <p:cNvSpPr/>
          <p:nvPr/>
        </p:nvSpPr>
        <p:spPr>
          <a:xfrm>
            <a:off x="7094677" y="3188519"/>
            <a:ext cx="308344" cy="318977"/>
          </a:xfrm>
          <a:prstGeom prst="rect">
            <a:avLst/>
          </a:prstGeom>
          <a:noFill/>
          <a:ln w="19050">
            <a:solidFill>
              <a:srgbClr val="1D1C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FED8FEE-22F9-BBFB-071B-64A0E2D6DB44}"/>
              </a:ext>
            </a:extLst>
          </p:cNvPr>
          <p:cNvSpPr/>
          <p:nvPr/>
        </p:nvSpPr>
        <p:spPr>
          <a:xfrm>
            <a:off x="7600951" y="2239922"/>
            <a:ext cx="323850" cy="676309"/>
          </a:xfrm>
          <a:prstGeom prst="rect">
            <a:avLst/>
          </a:prstGeom>
          <a:noFill/>
          <a:ln w="19050">
            <a:solidFill>
              <a:srgbClr val="1D1C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B0F3202-4F43-DBA0-A895-B6E20CDCD5BB}"/>
              </a:ext>
            </a:extLst>
          </p:cNvPr>
          <p:cNvSpPr txBox="1"/>
          <p:nvPr/>
        </p:nvSpPr>
        <p:spPr>
          <a:xfrm>
            <a:off x="9143097" y="2217723"/>
            <a:ext cx="1428135" cy="577081"/>
          </a:xfrm>
          <a:prstGeom prst="rect">
            <a:avLst/>
          </a:prstGeom>
          <a:solidFill>
            <a:schemeClr val="bg1"/>
          </a:solidFill>
          <a:ln>
            <a:solidFill>
              <a:schemeClr val="tx1"/>
            </a:solidFill>
          </a:ln>
        </p:spPr>
        <p:txBody>
          <a:bodyPr wrap="square" rtlCol="0">
            <a:spAutoFit/>
          </a:bodyPr>
          <a:lstStyle/>
          <a:p>
            <a:pPr algn="ctr"/>
            <a:r>
              <a:rPr lang="en-US" sz="1050"/>
              <a:t>Commonwealth of </a:t>
            </a:r>
          </a:p>
          <a:p>
            <a:pPr algn="ctr"/>
            <a:r>
              <a:rPr lang="en-US" sz="1050"/>
              <a:t>Northern Mariana Islands</a:t>
            </a:r>
          </a:p>
        </p:txBody>
      </p:sp>
      <p:sp>
        <p:nvSpPr>
          <p:cNvPr id="15" name="TextBox 14">
            <a:extLst>
              <a:ext uri="{FF2B5EF4-FFF2-40B4-BE49-F238E27FC236}">
                <a16:creationId xmlns:a16="http://schemas.microsoft.com/office/drawing/2014/main" id="{035F7E6F-9D37-C4B1-00EE-421F207AA18B}"/>
              </a:ext>
            </a:extLst>
          </p:cNvPr>
          <p:cNvSpPr txBox="1"/>
          <p:nvPr/>
        </p:nvSpPr>
        <p:spPr>
          <a:xfrm>
            <a:off x="7160243" y="3941769"/>
            <a:ext cx="574030" cy="253916"/>
          </a:xfrm>
          <a:prstGeom prst="rect">
            <a:avLst/>
          </a:prstGeom>
          <a:solidFill>
            <a:schemeClr val="bg1"/>
          </a:solidFill>
          <a:ln>
            <a:solidFill>
              <a:schemeClr val="tx1"/>
            </a:solidFill>
          </a:ln>
        </p:spPr>
        <p:txBody>
          <a:bodyPr wrap="square" rtlCol="0">
            <a:spAutoFit/>
          </a:bodyPr>
          <a:lstStyle/>
          <a:p>
            <a:pPr algn="ctr"/>
            <a:r>
              <a:rPr lang="en-US" sz="1050" dirty="0"/>
              <a:t>Guam</a:t>
            </a:r>
          </a:p>
        </p:txBody>
      </p:sp>
      <p:cxnSp>
        <p:nvCxnSpPr>
          <p:cNvPr id="17" name="Straight Arrow Connector 16">
            <a:extLst>
              <a:ext uri="{FF2B5EF4-FFF2-40B4-BE49-F238E27FC236}">
                <a16:creationId xmlns:a16="http://schemas.microsoft.com/office/drawing/2014/main" id="{D916A264-E40E-2F08-8E7A-3559B185F925}"/>
              </a:ext>
            </a:extLst>
          </p:cNvPr>
          <p:cNvCxnSpPr>
            <a:cxnSpLocks/>
            <a:stCxn id="15" idx="0"/>
            <a:endCxn id="8" idx="2"/>
          </p:cNvCxnSpPr>
          <p:nvPr/>
        </p:nvCxnSpPr>
        <p:spPr>
          <a:xfrm flipH="1" flipV="1">
            <a:off x="7248849" y="3507496"/>
            <a:ext cx="198409" cy="43427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FD03F11-3083-98E6-49D7-6983863C7BB8}"/>
              </a:ext>
            </a:extLst>
          </p:cNvPr>
          <p:cNvCxnSpPr>
            <a:cxnSpLocks/>
            <a:stCxn id="14" idx="1"/>
          </p:cNvCxnSpPr>
          <p:nvPr/>
        </p:nvCxnSpPr>
        <p:spPr>
          <a:xfrm flipH="1">
            <a:off x="7924801" y="2506264"/>
            <a:ext cx="121829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5614637-F230-84AD-117A-1C3B0D4AAC13}"/>
              </a:ext>
            </a:extLst>
          </p:cNvPr>
          <p:cNvSpPr txBox="1"/>
          <p:nvPr/>
        </p:nvSpPr>
        <p:spPr>
          <a:xfrm>
            <a:off x="4368420" y="6378834"/>
            <a:ext cx="6285186" cy="230832"/>
          </a:xfrm>
          <a:prstGeom prst="rect">
            <a:avLst/>
          </a:prstGeom>
          <a:noFill/>
        </p:spPr>
        <p:txBody>
          <a:bodyPr wrap="square" rtlCol="0">
            <a:spAutoFit/>
          </a:bodyPr>
          <a:lstStyle/>
          <a:p>
            <a:r>
              <a:rPr lang="en-US" sz="900" dirty="0"/>
              <a:t>Sources: NOAA / NWS Guam; HURREVAC</a:t>
            </a:r>
          </a:p>
        </p:txBody>
      </p:sp>
      <p:sp>
        <p:nvSpPr>
          <p:cNvPr id="10" name="Text Placeholder 3">
            <a:extLst>
              <a:ext uri="{FF2B5EF4-FFF2-40B4-BE49-F238E27FC236}">
                <a16:creationId xmlns:a16="http://schemas.microsoft.com/office/drawing/2014/main" id="{1DF175BC-7625-2490-727C-605CE91149D2}"/>
              </a:ext>
            </a:extLst>
          </p:cNvPr>
          <p:cNvSpPr txBox="1">
            <a:spLocks/>
          </p:cNvSpPr>
          <p:nvPr/>
        </p:nvSpPr>
        <p:spPr>
          <a:xfrm>
            <a:off x="336378" y="1744858"/>
            <a:ext cx="3206241" cy="431520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dirty="0"/>
              <a:t>Expected Hazard Timing &amp; Impacts</a:t>
            </a:r>
          </a:p>
          <a:p>
            <a:pPr>
              <a:lnSpc>
                <a:spcPct val="100000"/>
              </a:lnSpc>
            </a:pPr>
            <a:r>
              <a:rPr lang="en-US" sz="1800" dirty="0"/>
              <a:t>Guam (Primary Impact Area):</a:t>
            </a:r>
          </a:p>
          <a:p>
            <a:pPr marL="742950" lvl="1" indent="-285750">
              <a:lnSpc>
                <a:spcPct val="100000"/>
              </a:lnSpc>
              <a:buFont typeface="Arial" panose="020B0604020202020204" pitchFamily="34" charset="0"/>
              <a:buChar char="•"/>
            </a:pPr>
            <a:r>
              <a:rPr lang="en-US" sz="1800" dirty="0"/>
              <a:t>Typhoon-force winds expected Monday–Tuesday (Apr 13–14 EST)</a:t>
            </a:r>
          </a:p>
          <a:p>
            <a:pPr marL="742950" lvl="1" indent="-285750">
              <a:lnSpc>
                <a:spcPct val="100000"/>
              </a:lnSpc>
              <a:buFont typeface="Arial" panose="020B0604020202020204" pitchFamily="34" charset="0"/>
              <a:buChar char="•"/>
            </a:pPr>
            <a:r>
              <a:rPr lang="en-US" sz="1800" dirty="0"/>
              <a:t>Potential intensity: Category 3–4 (~120–130 mph sustained)</a:t>
            </a:r>
          </a:p>
          <a:p>
            <a:pPr marL="742950" lvl="1" indent="-285750">
              <a:lnSpc>
                <a:spcPct val="100000"/>
              </a:lnSpc>
              <a:buFont typeface="Arial" panose="020B0604020202020204" pitchFamily="34" charset="0"/>
              <a:buChar char="•"/>
            </a:pPr>
            <a:r>
              <a:rPr lang="en-US" sz="1800" dirty="0"/>
              <a:t>Highest risk for infrastructure damage, power outages, and port disruption</a:t>
            </a:r>
          </a:p>
          <a:p>
            <a:pPr>
              <a:lnSpc>
                <a:spcPct val="100000"/>
              </a:lnSpc>
            </a:pPr>
            <a:r>
              <a:rPr lang="en-US" sz="1800" dirty="0"/>
              <a:t>CNMI (Secondary Impact Area):</a:t>
            </a:r>
          </a:p>
          <a:p>
            <a:pPr marL="742950" lvl="1" indent="-285750">
              <a:lnSpc>
                <a:spcPct val="100000"/>
              </a:lnSpc>
              <a:buFont typeface="Arial" panose="020B0604020202020204" pitchFamily="34" charset="0"/>
              <a:buChar char="•"/>
            </a:pPr>
            <a:r>
              <a:rPr lang="en-US" sz="1800" b="1" dirty="0"/>
              <a:t>Rota: </a:t>
            </a:r>
            <a:r>
              <a:rPr lang="en-US" sz="1800" dirty="0"/>
              <a:t>Strong tropical storm to near-typhoon conditions</a:t>
            </a:r>
          </a:p>
          <a:p>
            <a:pPr marL="742950" lvl="1" indent="-285750">
              <a:lnSpc>
                <a:spcPct val="100000"/>
              </a:lnSpc>
              <a:buFont typeface="Arial" panose="020B0604020202020204" pitchFamily="34" charset="0"/>
              <a:buChar char="•"/>
            </a:pPr>
            <a:r>
              <a:rPr lang="en-US" sz="1800" b="1" dirty="0"/>
              <a:t>Tinian &amp; Saipan: </a:t>
            </a:r>
            <a:r>
              <a:rPr lang="en-US" sz="1800" dirty="0"/>
              <a:t>Tropical storm-force winds with heavy rainfall</a:t>
            </a:r>
          </a:p>
          <a:p>
            <a:pPr marL="742950" lvl="1" indent="-285750">
              <a:lnSpc>
                <a:spcPct val="100000"/>
              </a:lnSpc>
              <a:buFont typeface="Arial" panose="020B0604020202020204" pitchFamily="34" charset="0"/>
              <a:buChar char="•"/>
            </a:pPr>
            <a:r>
              <a:rPr lang="en-US" sz="1800" dirty="0"/>
              <a:t>Impacts likely focused on transportation, power, and inter-island movement</a:t>
            </a:r>
          </a:p>
        </p:txBody>
      </p:sp>
      <p:sp>
        <p:nvSpPr>
          <p:cNvPr id="16" name="TextBox 15">
            <a:extLst>
              <a:ext uri="{FF2B5EF4-FFF2-40B4-BE49-F238E27FC236}">
                <a16:creationId xmlns:a16="http://schemas.microsoft.com/office/drawing/2014/main" id="{36091CD3-2EA7-C42B-541B-C8E90BFF19F8}"/>
              </a:ext>
            </a:extLst>
          </p:cNvPr>
          <p:cNvSpPr txBox="1"/>
          <p:nvPr/>
        </p:nvSpPr>
        <p:spPr>
          <a:xfrm>
            <a:off x="4543096" y="1680051"/>
            <a:ext cx="10095186" cy="261610"/>
          </a:xfrm>
          <a:prstGeom prst="rect">
            <a:avLst/>
          </a:prstGeom>
          <a:noFill/>
        </p:spPr>
        <p:txBody>
          <a:bodyPr wrap="square">
            <a:spAutoFit/>
          </a:bodyPr>
          <a:lstStyle/>
          <a:p>
            <a:r>
              <a:rPr lang="en-US" sz="1050" b="1" dirty="0"/>
              <a:t>Based on JTWC Advisory 9 (</a:t>
            </a:r>
            <a:r>
              <a:rPr lang="en-US" sz="1050" b="1" i="1" dirty="0"/>
              <a:t>Chamorro Standard Time (</a:t>
            </a:r>
            <a:r>
              <a:rPr lang="en-US" sz="1050" b="1" i="1" dirty="0" err="1"/>
              <a:t>ChST</a:t>
            </a:r>
            <a:r>
              <a:rPr lang="en-US" sz="1050" b="1" i="1" dirty="0"/>
              <a:t>) is 14 hours ahead of Eastern Daylight Time (EDT)</a:t>
            </a:r>
            <a:r>
              <a:rPr lang="en-US" sz="1050" b="1" dirty="0"/>
              <a:t>)</a:t>
            </a:r>
          </a:p>
        </p:txBody>
      </p:sp>
    </p:spTree>
    <p:extLst>
      <p:ext uri="{BB962C8B-B14F-4D97-AF65-F5344CB8AC3E}">
        <p14:creationId xmlns:p14="http://schemas.microsoft.com/office/powerpoint/2010/main" val="636542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ACCB3-1FC5-7A8A-3EDC-C4CFE9A92B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1D41A-B564-847F-0A48-480A19C8B87C}"/>
              </a:ext>
            </a:extLst>
          </p:cNvPr>
          <p:cNvSpPr>
            <a:spLocks noGrp="1"/>
          </p:cNvSpPr>
          <p:nvPr>
            <p:ph type="title"/>
          </p:nvPr>
        </p:nvSpPr>
        <p:spPr>
          <a:xfrm>
            <a:off x="595844" y="922941"/>
            <a:ext cx="11329752" cy="457200"/>
          </a:xfrm>
        </p:spPr>
        <p:txBody>
          <a:bodyPr/>
          <a:lstStyle/>
          <a:p>
            <a:r>
              <a:rPr lang="en-US" sz="2800" dirty="0"/>
              <a:t>Hazard Overview – Typhon </a:t>
            </a:r>
            <a:r>
              <a:rPr lang="en-US" sz="2800" dirty="0" err="1"/>
              <a:t>Sinlaku</a:t>
            </a:r>
            <a:r>
              <a:rPr lang="en-US" sz="2800" dirty="0"/>
              <a:t> Precipitation</a:t>
            </a:r>
          </a:p>
        </p:txBody>
      </p:sp>
      <p:pic>
        <p:nvPicPr>
          <p:cNvPr id="6" name="Picture 5">
            <a:extLst>
              <a:ext uri="{FF2B5EF4-FFF2-40B4-BE49-F238E27FC236}">
                <a16:creationId xmlns:a16="http://schemas.microsoft.com/office/drawing/2014/main" id="{195AFA38-7E83-0ECB-D1CD-9F0AF84D149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13569" y="1733550"/>
            <a:ext cx="4427268" cy="4555596"/>
          </a:xfrm>
          <a:prstGeom prst="rect">
            <a:avLst/>
          </a:prstGeom>
          <a:ln w="12700">
            <a:solidFill>
              <a:schemeClr val="tx1"/>
            </a:solidFill>
          </a:ln>
        </p:spPr>
      </p:pic>
      <p:pic>
        <p:nvPicPr>
          <p:cNvPr id="10" name="Picture 9" descr="The image depicts a map showing various Pacific islands, including Saipan, Tinian, and Rota, all located in the Northern Mariana Islands.&#10;&#10;AI-generated content may be incorrect.">
            <a:extLst>
              <a:ext uri="{FF2B5EF4-FFF2-40B4-BE49-F238E27FC236}">
                <a16:creationId xmlns:a16="http://schemas.microsoft.com/office/drawing/2014/main" id="{EDB1D19A-96AD-0B63-F279-B068FD1105C6}"/>
              </a:ext>
            </a:extLst>
          </p:cNvPr>
          <p:cNvPicPr>
            <a:picLocks noChangeAspect="1"/>
          </p:cNvPicPr>
          <p:nvPr/>
        </p:nvPicPr>
        <p:blipFill>
          <a:blip r:embed="rId4"/>
          <a:stretch>
            <a:fillRect/>
          </a:stretch>
        </p:blipFill>
        <p:spPr>
          <a:xfrm>
            <a:off x="9038574" y="1819124"/>
            <a:ext cx="2887022" cy="4362898"/>
          </a:xfrm>
          <a:prstGeom prst="rect">
            <a:avLst/>
          </a:prstGeom>
        </p:spPr>
      </p:pic>
      <p:sp>
        <p:nvSpPr>
          <p:cNvPr id="5" name="TextBox 4">
            <a:extLst>
              <a:ext uri="{FF2B5EF4-FFF2-40B4-BE49-F238E27FC236}">
                <a16:creationId xmlns:a16="http://schemas.microsoft.com/office/drawing/2014/main" id="{D892B2F4-B449-31BA-03BB-37879145FB5C}"/>
              </a:ext>
            </a:extLst>
          </p:cNvPr>
          <p:cNvSpPr txBox="1"/>
          <p:nvPr/>
        </p:nvSpPr>
        <p:spPr>
          <a:xfrm>
            <a:off x="4309253" y="6313755"/>
            <a:ext cx="6285186" cy="230832"/>
          </a:xfrm>
          <a:prstGeom prst="rect">
            <a:avLst/>
          </a:prstGeom>
          <a:noFill/>
        </p:spPr>
        <p:txBody>
          <a:bodyPr wrap="square" rtlCol="0">
            <a:spAutoFit/>
          </a:bodyPr>
          <a:lstStyle/>
          <a:p>
            <a:r>
              <a:rPr lang="en-US" sz="900" dirty="0"/>
              <a:t>Sources: NOAA / NWS Guam – National Blend of Models (NBM) Quantitative Precipitation Forecast (QPF) 72-hour cumulation</a:t>
            </a:r>
          </a:p>
        </p:txBody>
      </p:sp>
      <p:sp>
        <p:nvSpPr>
          <p:cNvPr id="9" name="TextBox 8">
            <a:extLst>
              <a:ext uri="{FF2B5EF4-FFF2-40B4-BE49-F238E27FC236}">
                <a16:creationId xmlns:a16="http://schemas.microsoft.com/office/drawing/2014/main" id="{583C34B0-1907-5365-F6D2-401B5B89E92A}"/>
              </a:ext>
            </a:extLst>
          </p:cNvPr>
          <p:cNvSpPr txBox="1"/>
          <p:nvPr/>
        </p:nvSpPr>
        <p:spPr>
          <a:xfrm>
            <a:off x="250435" y="1731201"/>
            <a:ext cx="4056820" cy="2800767"/>
          </a:xfrm>
          <a:prstGeom prst="rect">
            <a:avLst/>
          </a:prstGeom>
          <a:noFill/>
        </p:spPr>
        <p:txBody>
          <a:bodyPr wrap="square">
            <a:spAutoFit/>
          </a:bodyPr>
          <a:lstStyle/>
          <a:p>
            <a:pPr>
              <a:buNone/>
            </a:pPr>
            <a:r>
              <a:rPr lang="en-US" sz="1600" b="1" dirty="0"/>
              <a:t>Expected Rainfall &amp; Secondary Hazards</a:t>
            </a:r>
          </a:p>
          <a:p>
            <a:pPr marL="285750" indent="-285750">
              <a:buFont typeface="Arial" panose="020B0604020202020204" pitchFamily="34" charset="0"/>
              <a:buChar char="•"/>
            </a:pPr>
            <a:r>
              <a:rPr lang="en-US" sz="1600" b="1" dirty="0"/>
              <a:t>Guam &amp; Rota:</a:t>
            </a:r>
            <a:r>
              <a:rPr lang="en-US" sz="1600" dirty="0"/>
              <a:t> </a:t>
            </a:r>
          </a:p>
          <a:p>
            <a:pPr marL="742950" lvl="1" indent="-285750">
              <a:buFont typeface="Arial" panose="020B0604020202020204" pitchFamily="34" charset="0"/>
              <a:buChar char="•"/>
            </a:pPr>
            <a:r>
              <a:rPr lang="en-US" sz="1600" b="1" dirty="0"/>
              <a:t>15–20 inches</a:t>
            </a:r>
            <a:r>
              <a:rPr lang="en-US" sz="1600" dirty="0"/>
              <a:t> of rainfall (Sunday night–Wednesday) </a:t>
            </a:r>
          </a:p>
          <a:p>
            <a:pPr marL="285750" indent="-285750">
              <a:buFont typeface="Arial" panose="020B0604020202020204" pitchFamily="34" charset="0"/>
              <a:buChar char="•"/>
            </a:pPr>
            <a:r>
              <a:rPr lang="en-US" sz="1600" b="1" dirty="0"/>
              <a:t>Saipan &amp; Tinian:</a:t>
            </a:r>
            <a:r>
              <a:rPr lang="en-US" sz="1600" dirty="0"/>
              <a:t> </a:t>
            </a:r>
          </a:p>
          <a:p>
            <a:pPr marL="742950" lvl="1" indent="-285750">
              <a:buFont typeface="Arial" panose="020B0604020202020204" pitchFamily="34" charset="0"/>
              <a:buChar char="•"/>
            </a:pPr>
            <a:r>
              <a:rPr lang="en-US" sz="1600" b="1" dirty="0"/>
              <a:t>8–15 inches</a:t>
            </a:r>
            <a:r>
              <a:rPr lang="en-US" sz="1600" dirty="0"/>
              <a:t> of rainfall </a:t>
            </a:r>
          </a:p>
          <a:p>
            <a:pPr marL="285750" indent="-285750">
              <a:buFont typeface="Arial" panose="020B0604020202020204" pitchFamily="34" charset="0"/>
              <a:buChar char="•"/>
            </a:pPr>
            <a:r>
              <a:rPr lang="en-US" sz="1600" b="1" dirty="0"/>
              <a:t>Highest rainfall concentrations</a:t>
            </a:r>
            <a:r>
              <a:rPr lang="en-US" sz="1600" dirty="0"/>
              <a:t> expected in </a:t>
            </a:r>
            <a:r>
              <a:rPr lang="en-US" sz="1600" b="1" dirty="0"/>
              <a:t>central and southern Guam</a:t>
            </a:r>
            <a:r>
              <a:rPr lang="en-US" sz="1600" dirty="0"/>
              <a:t>, increasing risk of localized impacts.</a:t>
            </a:r>
          </a:p>
          <a:p>
            <a:pPr marL="285750" indent="-285750">
              <a:buFont typeface="Arial" panose="020B0604020202020204" pitchFamily="34" charset="0"/>
              <a:buChar char="•"/>
            </a:pPr>
            <a:r>
              <a:rPr lang="en-US" sz="1600" dirty="0"/>
              <a:t>Flash floods and mudslides over central to southern Guam are possible.</a:t>
            </a:r>
          </a:p>
        </p:txBody>
      </p:sp>
    </p:spTree>
    <p:extLst>
      <p:ext uri="{BB962C8B-B14F-4D97-AF65-F5344CB8AC3E}">
        <p14:creationId xmlns:p14="http://schemas.microsoft.com/office/powerpoint/2010/main" val="1919180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D6B6D-33B9-B3D3-9EE6-2C02402381F3}"/>
              </a:ext>
            </a:extLst>
          </p:cNvPr>
          <p:cNvSpPr>
            <a:spLocks noGrp="1"/>
          </p:cNvSpPr>
          <p:nvPr>
            <p:ph type="title"/>
          </p:nvPr>
        </p:nvSpPr>
        <p:spPr/>
        <p:txBody>
          <a:bodyPr/>
          <a:lstStyle/>
          <a:p>
            <a:r>
              <a:rPr lang="en-US"/>
              <a:t>Guam</a:t>
            </a:r>
          </a:p>
        </p:txBody>
      </p:sp>
    </p:spTree>
    <p:extLst>
      <p:ext uri="{BB962C8B-B14F-4D97-AF65-F5344CB8AC3E}">
        <p14:creationId xmlns:p14="http://schemas.microsoft.com/office/powerpoint/2010/main" val="3050998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7B586-BE8D-7AD7-C6B7-D46B0A70E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4FCB1-480C-B1D9-C0B5-5C75454CD708}"/>
              </a:ext>
            </a:extLst>
          </p:cNvPr>
          <p:cNvSpPr>
            <a:spLocks noGrp="1"/>
          </p:cNvSpPr>
          <p:nvPr>
            <p:ph type="title"/>
          </p:nvPr>
        </p:nvSpPr>
        <p:spPr>
          <a:xfrm>
            <a:off x="684519" y="909839"/>
            <a:ext cx="10822962" cy="457200"/>
          </a:xfrm>
        </p:spPr>
        <p:txBody>
          <a:bodyPr/>
          <a:lstStyle/>
          <a:p>
            <a:r>
              <a:rPr lang="en-US" sz="3200">
                <a:latin typeface="Franklin Gothic Heavy"/>
              </a:rPr>
              <a:t>Event Footprint vs. U.S. Economy: Guam</a:t>
            </a:r>
            <a:endParaRPr lang="en-US" sz="3200"/>
          </a:p>
        </p:txBody>
      </p:sp>
      <p:sp>
        <p:nvSpPr>
          <p:cNvPr id="4" name="Text Placeholder 3">
            <a:extLst>
              <a:ext uri="{FF2B5EF4-FFF2-40B4-BE49-F238E27FC236}">
                <a16:creationId xmlns:a16="http://schemas.microsoft.com/office/drawing/2014/main" id="{E26EE963-18AC-2CFD-ED5D-2F549B80A5F7}"/>
              </a:ext>
            </a:extLst>
          </p:cNvPr>
          <p:cNvSpPr>
            <a:spLocks noGrp="1"/>
          </p:cNvSpPr>
          <p:nvPr>
            <p:ph type="body" sz="quarter" idx="14"/>
          </p:nvPr>
        </p:nvSpPr>
        <p:spPr>
          <a:xfrm>
            <a:off x="365127" y="1817688"/>
            <a:ext cx="5487867" cy="2793017"/>
          </a:xfrm>
        </p:spPr>
        <p:txBody>
          <a:bodyPr vert="horz" lIns="91440" tIns="45720" rIns="91440" bIns="45720" rtlCol="0" anchor="t">
            <a:normAutofit/>
          </a:bodyPr>
          <a:lstStyle/>
          <a:p>
            <a:r>
              <a:rPr lang="en-US" dirty="0">
                <a:ea typeface="+mn-lt"/>
                <a:cs typeface="+mn-lt"/>
              </a:rPr>
              <a:t>Guam ≈ 0.027% of U.S. GDP</a:t>
            </a:r>
            <a:r>
              <a:rPr lang="en-US" b="0" dirty="0">
                <a:ea typeface="+mn-lt"/>
                <a:cs typeface="+mn-lt"/>
              </a:rPr>
              <a:t> — economic disruption will not ripple into national supply chains or U.S. financial markets.</a:t>
            </a:r>
            <a:endParaRPr lang="en-US" dirty="0"/>
          </a:p>
          <a:p>
            <a:r>
              <a:rPr lang="en-US" b="0" dirty="0">
                <a:ea typeface="+mn-lt"/>
                <a:cs typeface="+mn-lt"/>
              </a:rPr>
              <a:t>Guam has </a:t>
            </a:r>
            <a:r>
              <a:rPr lang="en-US" dirty="0">
                <a:ea typeface="+mn-lt"/>
                <a:cs typeface="+mn-lt"/>
              </a:rPr>
              <a:t>zero domestic fuel or food production</a:t>
            </a:r>
            <a:r>
              <a:rPr lang="en-US" b="0" dirty="0">
                <a:ea typeface="+mn-lt"/>
                <a:cs typeface="+mn-lt"/>
              </a:rPr>
              <a:t> — 100% of both arrive by sea, making port operability the single most critical recovery variable.</a:t>
            </a:r>
            <a:endParaRPr lang="en-US" dirty="0"/>
          </a:p>
          <a:p>
            <a:r>
              <a:rPr lang="en-US" b="0" dirty="0">
                <a:ea typeface="+mn-lt"/>
                <a:cs typeface="+mn-lt"/>
              </a:rPr>
              <a:t>Federal military bases on Guam contribute 16% of total GDP, but their importance to national security exceeds their dollar contribution to the local economy. </a:t>
            </a:r>
            <a:endParaRPr lang="en-US" b="0" dirty="0"/>
          </a:p>
          <a:p>
            <a:endParaRPr lang="en-US" b="0" dirty="0">
              <a:ea typeface="+mn-lt"/>
              <a:cs typeface="+mn-lt"/>
            </a:endParaRPr>
          </a:p>
          <a:p>
            <a:endParaRPr lang="en-US" b="0" dirty="0"/>
          </a:p>
        </p:txBody>
      </p:sp>
      <p:sp>
        <p:nvSpPr>
          <p:cNvPr id="6" name="TextBox 5">
            <a:extLst>
              <a:ext uri="{FF2B5EF4-FFF2-40B4-BE49-F238E27FC236}">
                <a16:creationId xmlns:a16="http://schemas.microsoft.com/office/drawing/2014/main" id="{94E6E476-E3E0-5CAA-3FD2-99C18C0DD238}"/>
              </a:ext>
            </a:extLst>
          </p:cNvPr>
          <p:cNvSpPr txBox="1"/>
          <p:nvPr/>
        </p:nvSpPr>
        <p:spPr>
          <a:xfrm>
            <a:off x="6536155" y="1817086"/>
            <a:ext cx="4658833"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Key Takeaway: </a:t>
            </a:r>
            <a:endParaRPr lang="en-US" sz="1600" dirty="0"/>
          </a:p>
          <a:p>
            <a:pPr marL="285750" indent="-285750">
              <a:buFont typeface="Arial"/>
              <a:buChar char="•"/>
            </a:pPr>
            <a:r>
              <a:rPr lang="en-US" sz="1600" dirty="0">
                <a:ea typeface="+mn-lt"/>
                <a:cs typeface="+mn-lt"/>
              </a:rPr>
              <a:t>A typhoon poses no threat to U.S. macroeconomic stability — its</a:t>
            </a:r>
            <a:r>
              <a:rPr lang="en-US" sz="1600" b="1" dirty="0">
                <a:ea typeface="+mn-lt"/>
                <a:cs typeface="+mn-lt"/>
              </a:rPr>
              <a:t> economic footprint is nationally negligible.</a:t>
            </a:r>
            <a:r>
              <a:rPr lang="en-US" sz="1600" dirty="0">
                <a:ea typeface="+mn-lt"/>
                <a:cs typeface="+mn-lt"/>
              </a:rPr>
              <a:t> </a:t>
            </a:r>
          </a:p>
          <a:p>
            <a:pPr marL="285750" indent="-285750">
              <a:buFont typeface="Arial"/>
              <a:buChar char="•"/>
            </a:pPr>
            <a:r>
              <a:rPr lang="en-US" sz="1600" b="1" dirty="0">
                <a:ea typeface="+mn-lt"/>
                <a:cs typeface="+mn-lt"/>
              </a:rPr>
              <a:t>No domestic fuel production and minimal food production</a:t>
            </a:r>
            <a:r>
              <a:rPr lang="en-US" sz="1600" dirty="0">
                <a:ea typeface="+mn-lt"/>
                <a:cs typeface="+mn-lt"/>
              </a:rPr>
              <a:t>; nearly all essential commodities arrive by sea, making the port the single point of failure.</a:t>
            </a:r>
          </a:p>
          <a:p>
            <a:pPr marL="285750" indent="-285750">
              <a:buFont typeface="Arial"/>
              <a:buChar char="•"/>
            </a:pPr>
            <a:r>
              <a:rPr lang="en-US" sz="1600" dirty="0">
                <a:ea typeface="+mn-lt"/>
                <a:cs typeface="+mn-lt"/>
              </a:rPr>
              <a:t>Port clearance and seaborne resupply of fuel and food are required to restore economic activity; local recovery capacity is limited without external support.</a:t>
            </a:r>
          </a:p>
          <a:p>
            <a:pPr marL="285750" indent="-285750">
              <a:buFont typeface="Arial"/>
              <a:buChar char="•"/>
            </a:pPr>
            <a:endParaRPr lang="en-US" sz="1600" dirty="0"/>
          </a:p>
          <a:p>
            <a:pPr algn="ctr"/>
            <a:endParaRPr lang="en-US" sz="1600" dirty="0"/>
          </a:p>
        </p:txBody>
      </p:sp>
      <p:graphicFrame>
        <p:nvGraphicFramePr>
          <p:cNvPr id="8" name="Table 7">
            <a:extLst>
              <a:ext uri="{FF2B5EF4-FFF2-40B4-BE49-F238E27FC236}">
                <a16:creationId xmlns:a16="http://schemas.microsoft.com/office/drawing/2014/main" id="{78ECB5DB-1B74-B3B4-9036-AC37413C4AE5}"/>
              </a:ext>
            </a:extLst>
          </p:cNvPr>
          <p:cNvGraphicFramePr>
            <a:graphicFrameLocks noGrp="1"/>
          </p:cNvGraphicFramePr>
          <p:nvPr>
            <p:extLst>
              <p:ext uri="{D42A27DB-BD31-4B8C-83A1-F6EECF244321}">
                <p14:modId xmlns:p14="http://schemas.microsoft.com/office/powerpoint/2010/main" val="385191898"/>
              </p:ext>
            </p:extLst>
          </p:nvPr>
        </p:nvGraphicFramePr>
        <p:xfrm>
          <a:off x="557784" y="4266159"/>
          <a:ext cx="5230254" cy="1353133"/>
        </p:xfrm>
        <a:graphic>
          <a:graphicData uri="http://schemas.openxmlformats.org/drawingml/2006/table">
            <a:tbl>
              <a:tblPr bandRow="1">
                <a:tableStyleId>{69012ECD-51FC-41F1-AA8D-1B2483CD663E}</a:tableStyleId>
              </a:tblPr>
              <a:tblGrid>
                <a:gridCol w="2004600">
                  <a:extLst>
                    <a:ext uri="{9D8B030D-6E8A-4147-A177-3AD203B41FA5}">
                      <a16:colId xmlns:a16="http://schemas.microsoft.com/office/drawing/2014/main" val="2264177730"/>
                    </a:ext>
                  </a:extLst>
                </a:gridCol>
                <a:gridCol w="1652679">
                  <a:extLst>
                    <a:ext uri="{9D8B030D-6E8A-4147-A177-3AD203B41FA5}">
                      <a16:colId xmlns:a16="http://schemas.microsoft.com/office/drawing/2014/main" val="2521575143"/>
                    </a:ext>
                  </a:extLst>
                </a:gridCol>
                <a:gridCol w="1572975">
                  <a:extLst>
                    <a:ext uri="{9D8B030D-6E8A-4147-A177-3AD203B41FA5}">
                      <a16:colId xmlns:a16="http://schemas.microsoft.com/office/drawing/2014/main" val="623568642"/>
                    </a:ext>
                  </a:extLst>
                </a:gridCol>
              </a:tblGrid>
              <a:tr h="391063">
                <a:tc gridSpan="3">
                  <a:txBody>
                    <a:bodyPr/>
                    <a:lstStyle/>
                    <a:p>
                      <a:pPr algn="ctr" fontAlgn="base">
                        <a:lnSpc>
                          <a:spcPts val="2175"/>
                        </a:lnSpc>
                        <a:buNone/>
                      </a:pPr>
                      <a:r>
                        <a:rPr lang="en-US" sz="1800" b="1" dirty="0">
                          <a:solidFill>
                            <a:srgbClr val="FFFFFF"/>
                          </a:solidFill>
                          <a:effectLst/>
                        </a:rPr>
                        <a:t>Share of Total US GDP</a:t>
                      </a:r>
                    </a:p>
                  </a:txBody>
                  <a:tcPr marL="4877" marR="4877" marT="3896" marB="3896" anchor="ctr">
                    <a:solidFill>
                      <a:srgbClr val="00518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88061391"/>
                  </a:ext>
                </a:extLst>
              </a:tr>
              <a:tr h="266858">
                <a:tc>
                  <a:txBody>
                    <a:bodyPr/>
                    <a:lstStyle/>
                    <a:p>
                      <a:pPr fontAlgn="b">
                        <a:buNone/>
                      </a:pPr>
                      <a:endParaRPr lang="en-US" sz="1200" dirty="0">
                        <a:effectLst/>
                      </a:endParaRPr>
                    </a:p>
                  </a:txBody>
                  <a:tcPr marL="4877" marR="4877" marT="4877" marB="4877" anchor="b">
                    <a:solidFill>
                      <a:srgbClr val="005188"/>
                    </a:solidFill>
                  </a:tcPr>
                </a:tc>
                <a:tc>
                  <a:txBody>
                    <a:bodyPr/>
                    <a:lstStyle/>
                    <a:p>
                      <a:pPr algn="r" fontAlgn="base">
                        <a:lnSpc>
                          <a:spcPts val="2175"/>
                        </a:lnSpc>
                        <a:buNone/>
                      </a:pPr>
                      <a:r>
                        <a:rPr lang="en-US" sz="1400" b="1" dirty="0">
                          <a:solidFill>
                            <a:srgbClr val="FFFFFF"/>
                          </a:solidFill>
                          <a:effectLst/>
                        </a:rPr>
                        <a:t>GDP (USD)</a:t>
                      </a:r>
                      <a:endParaRPr lang="en-US" sz="1400" b="0" i="0" dirty="0">
                        <a:solidFill>
                          <a:srgbClr val="000000"/>
                        </a:solidFill>
                        <a:effectLst/>
                      </a:endParaRPr>
                    </a:p>
                  </a:txBody>
                  <a:tcPr marL="4877" marR="182880" marT="4877" marB="4877" anchor="b">
                    <a:solidFill>
                      <a:srgbClr val="005188"/>
                    </a:solidFill>
                  </a:tcPr>
                </a:tc>
                <a:tc>
                  <a:txBody>
                    <a:bodyPr/>
                    <a:lstStyle/>
                    <a:p>
                      <a:pPr algn="r" fontAlgn="base">
                        <a:lnSpc>
                          <a:spcPts val="2175"/>
                        </a:lnSpc>
                        <a:buNone/>
                      </a:pPr>
                      <a:r>
                        <a:rPr lang="en-US" sz="1400" b="1" dirty="0">
                          <a:solidFill>
                            <a:srgbClr val="FFFFFF"/>
                          </a:solidFill>
                          <a:effectLst/>
                        </a:rPr>
                        <a:t>% of Total US GDP</a:t>
                      </a:r>
                      <a:endParaRPr lang="en-US" sz="1400" b="0" i="0" dirty="0">
                        <a:solidFill>
                          <a:srgbClr val="000000"/>
                        </a:solidFill>
                        <a:effectLst/>
                      </a:endParaRPr>
                    </a:p>
                  </a:txBody>
                  <a:tcPr marL="4877" marR="182880" marT="4877" marB="4877" anchor="b">
                    <a:solidFill>
                      <a:srgbClr val="005188"/>
                    </a:solidFill>
                  </a:tcPr>
                </a:tc>
                <a:extLst>
                  <a:ext uri="{0D108BD9-81ED-4DB2-BD59-A6C34878D82A}">
                    <a16:rowId xmlns:a16="http://schemas.microsoft.com/office/drawing/2014/main" val="455503944"/>
                  </a:ext>
                </a:extLst>
              </a:tr>
              <a:tr h="312439">
                <a:tc>
                  <a:txBody>
                    <a:bodyPr/>
                    <a:lstStyle/>
                    <a:p>
                      <a:pPr lvl="0" algn="l">
                        <a:lnSpc>
                          <a:spcPts val="2175"/>
                        </a:lnSpc>
                        <a:buNone/>
                      </a:pPr>
                      <a:r>
                        <a:rPr lang="en-US" sz="1800" b="0" i="0" u="none" strike="noStrike" noProof="0" dirty="0">
                          <a:solidFill>
                            <a:srgbClr val="000000"/>
                          </a:solidFill>
                          <a:effectLst/>
                          <a:latin typeface="Franklin Gothic Book"/>
                        </a:rPr>
                        <a:t>Guam</a:t>
                      </a:r>
                      <a:endParaRPr lang="en-US" dirty="0"/>
                    </a:p>
                  </a:txBody>
                  <a:tcPr marL="26708" marR="26708" marT="42739" marB="42739" anchor="ctr"/>
                </a:tc>
                <a:tc>
                  <a:txBody>
                    <a:bodyPr/>
                    <a:lstStyle/>
                    <a:p>
                      <a:pPr lvl="0" algn="r">
                        <a:lnSpc>
                          <a:spcPts val="2175"/>
                        </a:lnSpc>
                        <a:buNone/>
                      </a:pPr>
                      <a:r>
                        <a:rPr lang="en-US" sz="1800" b="0" i="0" u="none" strike="noStrike" noProof="0" dirty="0">
                          <a:solidFill>
                            <a:srgbClr val="000000"/>
                          </a:solidFill>
                          <a:effectLst/>
                        </a:rPr>
                        <a:t>$6.3B (2019)</a:t>
                      </a:r>
                      <a:endParaRPr lang="en-US" dirty="0"/>
                    </a:p>
                  </a:txBody>
                  <a:tcPr marL="26708" marR="26708" marT="42739" marB="42739" anchor="ctr"/>
                </a:tc>
                <a:tc>
                  <a:txBody>
                    <a:bodyPr/>
                    <a:lstStyle/>
                    <a:p>
                      <a:pPr lvl="0" algn="r">
                        <a:lnSpc>
                          <a:spcPts val="2175"/>
                        </a:lnSpc>
                        <a:buNone/>
                      </a:pPr>
                      <a:r>
                        <a:rPr lang="en-US" sz="1800" b="0" i="0" u="none" strike="noStrike" dirty="0">
                          <a:solidFill>
                            <a:srgbClr val="000000"/>
                          </a:solidFill>
                          <a:effectLst/>
                          <a:latin typeface="Franklin Gothic Book"/>
                        </a:rPr>
                        <a:t>0.027%</a:t>
                      </a:r>
                      <a:endParaRPr lang="en-US" b="0" i="0" dirty="0">
                        <a:solidFill>
                          <a:srgbClr val="000000"/>
                        </a:solidFill>
                        <a:effectLst/>
                        <a:latin typeface="Franklin Gothic Book"/>
                      </a:endParaRPr>
                    </a:p>
                  </a:txBody>
                  <a:tcPr marL="26708" marR="26708" marT="42739" marB="42739" anchor="ctr"/>
                </a:tc>
                <a:extLst>
                  <a:ext uri="{0D108BD9-81ED-4DB2-BD59-A6C34878D82A}">
                    <a16:rowId xmlns:a16="http://schemas.microsoft.com/office/drawing/2014/main" val="3982282628"/>
                  </a:ext>
                </a:extLst>
              </a:tr>
              <a:tr h="312439">
                <a:tc>
                  <a:txBody>
                    <a:bodyPr/>
                    <a:lstStyle/>
                    <a:p>
                      <a:pPr lvl="0" algn="l">
                        <a:lnSpc>
                          <a:spcPts val="2175"/>
                        </a:lnSpc>
                        <a:buNone/>
                      </a:pPr>
                      <a:r>
                        <a:rPr lang="en-US" sz="1800" b="0" i="0" u="none" strike="noStrike" dirty="0">
                          <a:solidFill>
                            <a:srgbClr val="000000"/>
                          </a:solidFill>
                          <a:effectLst/>
                          <a:latin typeface="Franklin Gothic Book"/>
                        </a:rPr>
                        <a:t>United States</a:t>
                      </a:r>
                      <a:endParaRPr lang="en-US" b="0" i="0" dirty="0">
                        <a:solidFill>
                          <a:srgbClr val="000000"/>
                        </a:solidFill>
                        <a:effectLst/>
                        <a:latin typeface="Franklin Gothic Book"/>
                      </a:endParaRPr>
                    </a:p>
                  </a:txBody>
                  <a:tcPr marL="26708" marR="26708" marT="42739" marB="42739" anchor="ctr">
                    <a:solidFill>
                      <a:schemeClr val="tx2">
                        <a:lumMod val="10000"/>
                        <a:lumOff val="90000"/>
                      </a:schemeClr>
                    </a:solidFill>
                  </a:tcPr>
                </a:tc>
                <a:tc>
                  <a:txBody>
                    <a:bodyPr/>
                    <a:lstStyle/>
                    <a:p>
                      <a:pPr lvl="0" algn="r">
                        <a:lnSpc>
                          <a:spcPts val="2175"/>
                        </a:lnSpc>
                        <a:buNone/>
                      </a:pPr>
                      <a:r>
                        <a:rPr lang="en-US" sz="1800" b="0" i="0" u="none" strike="noStrike" noProof="0" dirty="0">
                          <a:solidFill>
                            <a:srgbClr val="000000"/>
                          </a:solidFill>
                          <a:effectLst/>
                        </a:rPr>
                        <a:t>$29T (2024)</a:t>
                      </a:r>
                      <a:endParaRPr lang="en-US" dirty="0"/>
                    </a:p>
                  </a:txBody>
                  <a:tcPr marL="26708" marR="26708" marT="42739" marB="42739" anchor="ctr">
                    <a:solidFill>
                      <a:schemeClr val="tx2">
                        <a:lumMod val="10000"/>
                        <a:lumOff val="90000"/>
                      </a:schemeClr>
                    </a:solidFill>
                  </a:tcPr>
                </a:tc>
                <a:tc>
                  <a:txBody>
                    <a:bodyPr/>
                    <a:lstStyle/>
                    <a:p>
                      <a:pPr lvl="0" algn="r">
                        <a:lnSpc>
                          <a:spcPts val="2175"/>
                        </a:lnSpc>
                        <a:buNone/>
                      </a:pPr>
                      <a:r>
                        <a:rPr lang="en-US" sz="1800" b="0" i="0" u="none" strike="noStrike" dirty="0">
                          <a:solidFill>
                            <a:srgbClr val="000000"/>
                          </a:solidFill>
                          <a:effectLst/>
                          <a:latin typeface="Franklin Gothic Book"/>
                        </a:rPr>
                        <a:t>100%</a:t>
                      </a:r>
                      <a:endParaRPr lang="en-US" b="0" i="0" dirty="0">
                        <a:solidFill>
                          <a:srgbClr val="000000"/>
                        </a:solidFill>
                        <a:effectLst/>
                        <a:latin typeface="Franklin Gothic Book"/>
                      </a:endParaRPr>
                    </a:p>
                  </a:txBody>
                  <a:tcPr marL="26708" marR="26708" marT="42739" marB="42739" anchor="ctr">
                    <a:solidFill>
                      <a:schemeClr val="tx2">
                        <a:lumMod val="10000"/>
                        <a:lumOff val="90000"/>
                      </a:schemeClr>
                    </a:solidFill>
                  </a:tcPr>
                </a:tc>
                <a:extLst>
                  <a:ext uri="{0D108BD9-81ED-4DB2-BD59-A6C34878D82A}">
                    <a16:rowId xmlns:a16="http://schemas.microsoft.com/office/drawing/2014/main" val="928929574"/>
                  </a:ext>
                </a:extLst>
              </a:tr>
            </a:tbl>
          </a:graphicData>
        </a:graphic>
      </p:graphicFrame>
      <p:sp>
        <p:nvSpPr>
          <p:cNvPr id="7" name="TextBox 6">
            <a:extLst>
              <a:ext uri="{FF2B5EF4-FFF2-40B4-BE49-F238E27FC236}">
                <a16:creationId xmlns:a16="http://schemas.microsoft.com/office/drawing/2014/main" id="{E51A39E3-7347-3A0F-5F84-C8B38BFE1A40}"/>
              </a:ext>
            </a:extLst>
          </p:cNvPr>
          <p:cNvSpPr txBox="1"/>
          <p:nvPr/>
        </p:nvSpPr>
        <p:spPr>
          <a:xfrm>
            <a:off x="4309253" y="6313755"/>
            <a:ext cx="6285186" cy="230832"/>
          </a:xfrm>
          <a:prstGeom prst="rect">
            <a:avLst/>
          </a:prstGeom>
          <a:noFill/>
        </p:spPr>
        <p:txBody>
          <a:bodyPr wrap="square" rtlCol="0">
            <a:spAutoFit/>
          </a:bodyPr>
          <a:lstStyle/>
          <a:p>
            <a:r>
              <a:rPr lang="en-US" sz="900" dirty="0"/>
              <a:t>Sources: IMPLAN – Data from 2019 for Guam and CNMII</a:t>
            </a:r>
          </a:p>
        </p:txBody>
      </p:sp>
    </p:spTree>
    <p:extLst>
      <p:ext uri="{BB962C8B-B14F-4D97-AF65-F5344CB8AC3E}">
        <p14:creationId xmlns:p14="http://schemas.microsoft.com/office/powerpoint/2010/main" val="2935954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01796-FB59-4AF2-126E-05B08230EB3D}"/>
              </a:ext>
            </a:extLst>
          </p:cNvPr>
          <p:cNvSpPr>
            <a:spLocks noGrp="1"/>
          </p:cNvSpPr>
          <p:nvPr>
            <p:ph type="title"/>
          </p:nvPr>
        </p:nvSpPr>
        <p:spPr>
          <a:xfrm>
            <a:off x="684519" y="966450"/>
            <a:ext cx="10822962" cy="457200"/>
          </a:xfrm>
        </p:spPr>
        <p:txBody>
          <a:bodyPr/>
          <a:lstStyle/>
          <a:p>
            <a:r>
              <a:rPr lang="en-US" sz="3200" dirty="0">
                <a:latin typeface="Franklin Gothic Heavy"/>
              </a:rPr>
              <a:t>Headliner Industries (Total GDP): Guam</a:t>
            </a:r>
          </a:p>
        </p:txBody>
      </p:sp>
      <p:sp>
        <p:nvSpPr>
          <p:cNvPr id="4" name="Text Placeholder 3">
            <a:extLst>
              <a:ext uri="{FF2B5EF4-FFF2-40B4-BE49-F238E27FC236}">
                <a16:creationId xmlns:a16="http://schemas.microsoft.com/office/drawing/2014/main" id="{1CA7D3D4-6F24-B7A1-FB1E-2125E319F1E9}"/>
              </a:ext>
            </a:extLst>
          </p:cNvPr>
          <p:cNvSpPr>
            <a:spLocks noGrp="1"/>
          </p:cNvSpPr>
          <p:nvPr>
            <p:ph type="body" sz="quarter" idx="14"/>
          </p:nvPr>
        </p:nvSpPr>
        <p:spPr>
          <a:xfrm>
            <a:off x="365125" y="1817688"/>
            <a:ext cx="5038979" cy="4316645"/>
          </a:xfrm>
        </p:spPr>
        <p:txBody>
          <a:bodyPr vert="horz" lIns="91440" tIns="45720" rIns="91440" bIns="45720" rtlCol="0" anchor="t">
            <a:normAutofit fontScale="85000" lnSpcReduction="10000"/>
          </a:bodyPr>
          <a:lstStyle/>
          <a:p>
            <a:r>
              <a:rPr lang="en-US" sz="1400" b="0" dirty="0"/>
              <a:t>Guam's</a:t>
            </a:r>
            <a:r>
              <a:rPr lang="en-US" sz="1400" b="0" dirty="0">
                <a:ea typeface="+mn-lt"/>
                <a:cs typeface="+mn-lt"/>
              </a:rPr>
              <a:t> private economy is concentrated in two sectors </a:t>
            </a:r>
            <a:r>
              <a:rPr lang="en-US" sz="1400" b="0">
                <a:ea typeface="+mn-lt"/>
                <a:cs typeface="+mn-lt"/>
              </a:rPr>
              <a:t>-</a:t>
            </a:r>
            <a:r>
              <a:rPr lang="en-US" sz="1400" b="0" dirty="0">
                <a:ea typeface="+mn-lt"/>
                <a:cs typeface="+mn-lt"/>
              </a:rPr>
              <a:t> tourism (hotels + air transport) and retail trade.</a:t>
            </a:r>
            <a:endParaRPr lang="en-US" sz="1400" b="0" dirty="0"/>
          </a:p>
          <a:p>
            <a:r>
              <a:rPr lang="en-US" sz="1400" b="0" dirty="0">
                <a:ea typeface="+mn-lt"/>
                <a:cs typeface="+mn-lt"/>
              </a:rPr>
              <a:t>Of the top 10</a:t>
            </a:r>
            <a:r>
              <a:rPr lang="en-US" sz="1400" b="0">
                <a:ea typeface="+mn-lt"/>
                <a:cs typeface="+mn-lt"/>
              </a:rPr>
              <a:t> industries</a:t>
            </a:r>
            <a:r>
              <a:rPr lang="en-US" sz="1400" b="0" dirty="0">
                <a:ea typeface="+mn-lt"/>
                <a:cs typeface="+mn-lt"/>
              </a:rPr>
              <a:t>, </a:t>
            </a:r>
            <a:r>
              <a:rPr lang="en-US" sz="1400">
                <a:ea typeface="+mn-lt"/>
                <a:cs typeface="+mn-lt"/>
              </a:rPr>
              <a:t>food and beverage retail</a:t>
            </a:r>
            <a:r>
              <a:rPr lang="en-US" sz="1400" b="0" dirty="0">
                <a:ea typeface="+mn-lt"/>
                <a:cs typeface="+mn-lt"/>
              </a:rPr>
              <a:t> and </a:t>
            </a:r>
            <a:r>
              <a:rPr lang="en-US" sz="1400">
                <a:ea typeface="+mn-lt"/>
                <a:cs typeface="+mn-lt"/>
              </a:rPr>
              <a:t>building material and garden supply retail</a:t>
            </a:r>
            <a:r>
              <a:rPr lang="en-US" sz="1400" b="0" dirty="0">
                <a:ea typeface="+mn-lt"/>
                <a:cs typeface="+mn-lt"/>
              </a:rPr>
              <a:t> </a:t>
            </a:r>
            <a:r>
              <a:rPr lang="en-US" sz="1400" b="0">
                <a:ea typeface="+mn-lt"/>
                <a:cs typeface="+mn-lt"/>
              </a:rPr>
              <a:t>are the most operationally critical, serving </a:t>
            </a:r>
            <a:r>
              <a:rPr lang="en-US" sz="1400" b="0" dirty="0">
                <a:ea typeface="+mn-lt"/>
                <a:cs typeface="+mn-lt"/>
              </a:rPr>
              <a:t>as the </a:t>
            </a:r>
            <a:r>
              <a:rPr lang="en-US" sz="1400" b="0">
                <a:ea typeface="+mn-lt"/>
                <a:cs typeface="+mn-lt"/>
              </a:rPr>
              <a:t>primary channels for food distribution </a:t>
            </a:r>
            <a:r>
              <a:rPr lang="en-US" sz="1400" b="0" dirty="0">
                <a:ea typeface="+mn-lt"/>
                <a:cs typeface="+mn-lt"/>
              </a:rPr>
              <a:t>and reconstruction materials</a:t>
            </a:r>
            <a:r>
              <a:rPr lang="en-US" sz="1400" b="0">
                <a:ea typeface="+mn-lt"/>
                <a:cs typeface="+mn-lt"/>
              </a:rPr>
              <a:t>;</a:t>
            </a:r>
            <a:r>
              <a:rPr lang="en-US" sz="1400" b="0" dirty="0">
                <a:ea typeface="+mn-lt"/>
                <a:cs typeface="+mn-lt"/>
              </a:rPr>
              <a:t> both </a:t>
            </a:r>
            <a:r>
              <a:rPr lang="en-US" sz="1400" b="0">
                <a:ea typeface="+mn-lt"/>
                <a:cs typeface="+mn-lt"/>
              </a:rPr>
              <a:t>depend </a:t>
            </a:r>
            <a:r>
              <a:rPr lang="en-US" sz="1400" b="0" dirty="0">
                <a:ea typeface="+mn-lt"/>
                <a:cs typeface="+mn-lt"/>
              </a:rPr>
              <a:t>entirely on restored port operations </a:t>
            </a:r>
            <a:r>
              <a:rPr lang="en-US" sz="1400" b="0">
                <a:ea typeface="+mn-lt"/>
                <a:cs typeface="+mn-lt"/>
              </a:rPr>
              <a:t>for resupply</a:t>
            </a:r>
            <a:r>
              <a:rPr lang="en-US" sz="1400" b="0" dirty="0">
                <a:ea typeface="+mn-lt"/>
                <a:cs typeface="+mn-lt"/>
              </a:rPr>
              <a:t>.</a:t>
            </a:r>
            <a:endParaRPr lang="en-US" sz="1400">
              <a:ea typeface="+mn-lt"/>
              <a:cs typeface="+mn-lt"/>
            </a:endParaRPr>
          </a:p>
          <a:p>
            <a:r>
              <a:rPr lang="en-US" sz="1400" b="0" dirty="0">
                <a:ea typeface="+mn-lt"/>
                <a:cs typeface="+mn-lt"/>
              </a:rPr>
              <a:t>No critical infrastructure industries </a:t>
            </a:r>
            <a:r>
              <a:rPr lang="en-US" sz="1400" b="0">
                <a:ea typeface="+mn-lt"/>
                <a:cs typeface="+mn-lt"/>
              </a:rPr>
              <a:t>- </a:t>
            </a:r>
            <a:r>
              <a:rPr lang="en-US" sz="1400" b="0" dirty="0">
                <a:ea typeface="+mn-lt"/>
                <a:cs typeface="+mn-lt"/>
              </a:rPr>
              <a:t>power generation, water systems, fuel distribution, healthcare, or communications </a:t>
            </a:r>
            <a:r>
              <a:rPr lang="en-US" sz="1400" b="0">
                <a:ea typeface="+mn-lt"/>
                <a:cs typeface="+mn-lt"/>
              </a:rPr>
              <a:t>-</a:t>
            </a:r>
            <a:r>
              <a:rPr lang="en-US" sz="1400" b="0" dirty="0">
                <a:ea typeface="+mn-lt"/>
                <a:cs typeface="+mn-lt"/>
              </a:rPr>
              <a:t> appear in the top 10 private industries; those sectors operate largely outside the market economy through government or regulated utilities and are not captured here.</a:t>
            </a:r>
            <a:endParaRPr lang="en-US" sz="1400" dirty="0"/>
          </a:p>
          <a:p>
            <a:pPr marL="0" indent="0">
              <a:buNone/>
            </a:pPr>
            <a:r>
              <a:rPr lang="en-US" sz="1400" dirty="0">
                <a:solidFill>
                  <a:srgbClr val="000000"/>
                </a:solidFill>
                <a:ea typeface="+mn-lt"/>
                <a:cs typeface="+mn-lt"/>
              </a:rPr>
              <a:t>Key Takeaways:</a:t>
            </a:r>
          </a:p>
          <a:p>
            <a:r>
              <a:rPr lang="en-US" sz="1400" b="0" dirty="0">
                <a:solidFill>
                  <a:srgbClr val="000000"/>
                </a:solidFill>
                <a:ea typeface="+mn-lt"/>
                <a:cs typeface="+mn-lt"/>
              </a:rPr>
              <a:t>The private economy is overwhelmingly tourism and retail </a:t>
            </a:r>
            <a:r>
              <a:rPr lang="en-US" sz="1400" b="0">
                <a:solidFill>
                  <a:srgbClr val="000000"/>
                </a:solidFill>
                <a:ea typeface="+mn-lt"/>
                <a:cs typeface="+mn-lt"/>
              </a:rPr>
              <a:t>- </a:t>
            </a:r>
            <a:r>
              <a:rPr lang="en-US" sz="1400" b="0" dirty="0">
                <a:solidFill>
                  <a:srgbClr val="000000"/>
                </a:solidFill>
                <a:ea typeface="+mn-lt"/>
                <a:cs typeface="+mn-lt"/>
              </a:rPr>
              <a:t>neither sector generates revenue during or immediately after a </a:t>
            </a:r>
            <a:r>
              <a:rPr lang="en-US" sz="1400" b="0">
                <a:solidFill>
                  <a:srgbClr val="000000"/>
                </a:solidFill>
                <a:ea typeface="+mn-lt"/>
                <a:cs typeface="+mn-lt"/>
              </a:rPr>
              <a:t>typhoon</a:t>
            </a:r>
            <a:r>
              <a:rPr lang="en-US" sz="1400" b="0" dirty="0">
                <a:solidFill>
                  <a:srgbClr val="000000"/>
                </a:solidFill>
                <a:ea typeface="+mn-lt"/>
                <a:cs typeface="+mn-lt"/>
              </a:rPr>
              <a:t>, meaning there is no private-sector financial cushion to absorb recovery costs; federal support is the only near-term stabilization mechanism.</a:t>
            </a:r>
            <a:endParaRPr lang="en-US" sz="1400" b="0" dirty="0">
              <a:solidFill>
                <a:srgbClr val="000000"/>
              </a:solidFill>
            </a:endParaRPr>
          </a:p>
          <a:p>
            <a:r>
              <a:rPr lang="en-US" sz="1400" b="0" dirty="0">
                <a:solidFill>
                  <a:srgbClr val="000000"/>
                </a:solidFill>
                <a:ea typeface="+mn-lt"/>
                <a:cs typeface="+mn-lt"/>
              </a:rPr>
              <a:t>The retail-heavy industry mix means Guam's economy restarts only when import supply chains restart </a:t>
            </a:r>
            <a:r>
              <a:rPr lang="en-US" sz="1400" b="0">
                <a:solidFill>
                  <a:srgbClr val="000000"/>
                </a:solidFill>
                <a:ea typeface="+mn-lt"/>
                <a:cs typeface="+mn-lt"/>
              </a:rPr>
              <a:t>-</a:t>
            </a:r>
            <a:r>
              <a:rPr lang="en-US" sz="1400" b="0" dirty="0">
                <a:solidFill>
                  <a:srgbClr val="000000"/>
                </a:solidFill>
                <a:ea typeface="+mn-lt"/>
                <a:cs typeface="+mn-lt"/>
              </a:rPr>
              <a:t> port clearance is not just a logistics priority, it is the economic recovery trigger.</a:t>
            </a:r>
            <a:endParaRPr lang="en-US" sz="1400" dirty="0"/>
          </a:p>
          <a:p>
            <a:r>
              <a:rPr lang="en-US" sz="1400" b="0" dirty="0">
                <a:solidFill>
                  <a:srgbClr val="000000"/>
                </a:solidFill>
                <a:ea typeface="+mn-lt"/>
                <a:cs typeface="+mn-lt"/>
              </a:rPr>
              <a:t>Construction ranked 6th </a:t>
            </a:r>
            <a:r>
              <a:rPr lang="en-US" sz="1400" b="0">
                <a:solidFill>
                  <a:srgbClr val="000000"/>
                </a:solidFill>
                <a:ea typeface="+mn-lt"/>
                <a:cs typeface="+mn-lt"/>
              </a:rPr>
              <a:t>prior to impact</a:t>
            </a:r>
            <a:r>
              <a:rPr lang="en-US" sz="1400" b="0" dirty="0">
                <a:solidFill>
                  <a:srgbClr val="000000"/>
                </a:solidFill>
                <a:ea typeface="+mn-lt"/>
                <a:cs typeface="+mn-lt"/>
              </a:rPr>
              <a:t>; </a:t>
            </a:r>
            <a:r>
              <a:rPr lang="en-US" sz="1400" b="0">
                <a:solidFill>
                  <a:srgbClr val="000000"/>
                </a:solidFill>
                <a:ea typeface="+mn-lt"/>
                <a:cs typeface="+mn-lt"/>
              </a:rPr>
              <a:t>post-typhoon</a:t>
            </a:r>
            <a:r>
              <a:rPr lang="en-US" sz="1400" b="0" dirty="0">
                <a:solidFill>
                  <a:srgbClr val="000000"/>
                </a:solidFill>
                <a:ea typeface="+mn-lt"/>
                <a:cs typeface="+mn-lt"/>
              </a:rPr>
              <a:t> rebuilding demand </a:t>
            </a:r>
            <a:r>
              <a:rPr lang="en-US" sz="1400" b="0">
                <a:solidFill>
                  <a:srgbClr val="000000"/>
                </a:solidFill>
                <a:ea typeface="+mn-lt"/>
                <a:cs typeface="+mn-lt"/>
              </a:rPr>
              <a:t>is expected to </a:t>
            </a:r>
            <a:r>
              <a:rPr lang="en-US" sz="1400" b="0" dirty="0">
                <a:solidFill>
                  <a:srgbClr val="000000"/>
                </a:solidFill>
                <a:ea typeface="+mn-lt"/>
                <a:cs typeface="+mn-lt"/>
              </a:rPr>
              <a:t>exceed local capacity, requiring outside contractor mobilization and </a:t>
            </a:r>
            <a:r>
              <a:rPr lang="en-US" sz="1400" b="0">
                <a:solidFill>
                  <a:srgbClr val="000000"/>
                </a:solidFill>
                <a:ea typeface="+mn-lt"/>
                <a:cs typeface="+mn-lt"/>
              </a:rPr>
              <a:t>increased material throughput</a:t>
            </a:r>
            <a:r>
              <a:rPr lang="en-US" sz="1400" b="0" dirty="0">
                <a:solidFill>
                  <a:srgbClr val="000000"/>
                </a:solidFill>
                <a:ea typeface="+mn-lt"/>
                <a:cs typeface="+mn-lt"/>
              </a:rPr>
              <a:t> through the port.</a:t>
            </a:r>
            <a:endParaRPr lang="en-US" sz="1400" b="0">
              <a:ea typeface="+mn-lt"/>
              <a:cs typeface="+mn-lt"/>
            </a:endParaRPr>
          </a:p>
          <a:p>
            <a:endParaRPr lang="en-US" sz="1400" b="0" dirty="0"/>
          </a:p>
          <a:p>
            <a:endParaRPr lang="en-US" sz="1400" dirty="0"/>
          </a:p>
        </p:txBody>
      </p:sp>
      <p:graphicFrame>
        <p:nvGraphicFramePr>
          <p:cNvPr id="3" name="Table 2">
            <a:extLst>
              <a:ext uri="{FF2B5EF4-FFF2-40B4-BE49-F238E27FC236}">
                <a16:creationId xmlns:a16="http://schemas.microsoft.com/office/drawing/2014/main" id="{3C0B8115-6591-6683-7D3B-BCA2CBC4BD74}"/>
              </a:ext>
            </a:extLst>
          </p:cNvPr>
          <p:cNvGraphicFramePr>
            <a:graphicFrameLocks noGrp="1"/>
          </p:cNvGraphicFramePr>
          <p:nvPr>
            <p:extLst>
              <p:ext uri="{D42A27DB-BD31-4B8C-83A1-F6EECF244321}">
                <p14:modId xmlns:p14="http://schemas.microsoft.com/office/powerpoint/2010/main" val="2496372091"/>
              </p:ext>
            </p:extLst>
          </p:nvPr>
        </p:nvGraphicFramePr>
        <p:xfrm>
          <a:off x="5686806" y="1905375"/>
          <a:ext cx="6308911" cy="3926655"/>
        </p:xfrm>
        <a:graphic>
          <a:graphicData uri="http://schemas.openxmlformats.org/drawingml/2006/table">
            <a:tbl>
              <a:tblPr bandRow="1">
                <a:tableStyleId>{69012ECD-51FC-41F1-AA8D-1B2483CD663E}</a:tableStyleId>
              </a:tblPr>
              <a:tblGrid>
                <a:gridCol w="3639312">
                  <a:extLst>
                    <a:ext uri="{9D8B030D-6E8A-4147-A177-3AD203B41FA5}">
                      <a16:colId xmlns:a16="http://schemas.microsoft.com/office/drawing/2014/main" val="2264177730"/>
                    </a:ext>
                  </a:extLst>
                </a:gridCol>
                <a:gridCol w="2669599">
                  <a:extLst>
                    <a:ext uri="{9D8B030D-6E8A-4147-A177-3AD203B41FA5}">
                      <a16:colId xmlns:a16="http://schemas.microsoft.com/office/drawing/2014/main" val="2521575143"/>
                    </a:ext>
                  </a:extLst>
                </a:gridCol>
              </a:tblGrid>
              <a:tr h="421109">
                <a:tc gridSpan="2">
                  <a:txBody>
                    <a:bodyPr/>
                    <a:lstStyle/>
                    <a:p>
                      <a:pPr algn="ctr" fontAlgn="base">
                        <a:lnSpc>
                          <a:spcPts val="2175"/>
                        </a:lnSpc>
                        <a:buNone/>
                      </a:pPr>
                      <a:r>
                        <a:rPr lang="en-US" sz="1800" b="1" dirty="0">
                          <a:solidFill>
                            <a:srgbClr val="FFFFFF"/>
                          </a:solidFill>
                          <a:effectLst/>
                        </a:rPr>
                        <a:t>Top 10 Industries by GDP (2019): Guam</a:t>
                      </a:r>
                    </a:p>
                  </a:txBody>
                  <a:tcPr marL="4877" marR="4877" marT="3896" marB="3896" anchor="ctr">
                    <a:solidFill>
                      <a:srgbClr val="005188"/>
                    </a:solidFill>
                  </a:tcPr>
                </a:tc>
                <a:tc hMerge="1">
                  <a:txBody>
                    <a:bodyPr/>
                    <a:lstStyle/>
                    <a:p>
                      <a:endParaRPr lang="en-US"/>
                    </a:p>
                  </a:txBody>
                  <a:tcPr/>
                </a:tc>
                <a:extLst>
                  <a:ext uri="{0D108BD9-81ED-4DB2-BD59-A6C34878D82A}">
                    <a16:rowId xmlns:a16="http://schemas.microsoft.com/office/drawing/2014/main" val="2288061391"/>
                  </a:ext>
                </a:extLst>
              </a:tr>
              <a:tr h="227454">
                <a:tc>
                  <a:txBody>
                    <a:bodyPr/>
                    <a:lstStyle/>
                    <a:p>
                      <a:pPr algn="ctr" fontAlgn="b">
                        <a:buNone/>
                      </a:pPr>
                      <a:r>
                        <a:rPr lang="en-US" sz="1600" b="1" dirty="0">
                          <a:solidFill>
                            <a:schemeClr val="bg1"/>
                          </a:solidFill>
                          <a:effectLst/>
                        </a:rPr>
                        <a:t>Industry</a:t>
                      </a:r>
                    </a:p>
                  </a:txBody>
                  <a:tcPr marL="4877" marR="4877" marT="4877" marB="4877" anchor="b">
                    <a:solidFill>
                      <a:srgbClr val="005188"/>
                    </a:solidFill>
                  </a:tcPr>
                </a:tc>
                <a:tc>
                  <a:txBody>
                    <a:bodyPr/>
                    <a:lstStyle/>
                    <a:p>
                      <a:pPr algn="r" fontAlgn="base">
                        <a:lnSpc>
                          <a:spcPts val="2175"/>
                        </a:lnSpc>
                        <a:buNone/>
                      </a:pPr>
                      <a:r>
                        <a:rPr lang="en-US" sz="1400" b="1" dirty="0">
                          <a:solidFill>
                            <a:srgbClr val="FFFFFF"/>
                          </a:solidFill>
                          <a:effectLst/>
                        </a:rPr>
                        <a:t>GDP in USD (% of total GDP)</a:t>
                      </a:r>
                      <a:endParaRPr lang="en-US" sz="1400" b="0" i="0" dirty="0">
                        <a:solidFill>
                          <a:srgbClr val="000000"/>
                        </a:solidFill>
                        <a:effectLst/>
                      </a:endParaRPr>
                    </a:p>
                  </a:txBody>
                  <a:tcPr marL="4877" marR="182880" marT="4877" marB="4877" anchor="b">
                    <a:solidFill>
                      <a:srgbClr val="005188"/>
                    </a:solidFill>
                  </a:tcPr>
                </a:tc>
                <a:extLst>
                  <a:ext uri="{0D108BD9-81ED-4DB2-BD59-A6C34878D82A}">
                    <a16:rowId xmlns:a16="http://schemas.microsoft.com/office/drawing/2014/main" val="455503944"/>
                  </a:ext>
                </a:extLst>
              </a:tr>
              <a:tr h="266305">
                <a:tc>
                  <a:txBody>
                    <a:bodyPr/>
                    <a:lstStyle/>
                    <a:p>
                      <a:pPr lvl="0" algn="l">
                        <a:lnSpc>
                          <a:spcPct val="100000"/>
                        </a:lnSpc>
                        <a:spcBef>
                          <a:spcPts val="0"/>
                        </a:spcBef>
                        <a:spcAft>
                          <a:spcPts val="0"/>
                        </a:spcAft>
                        <a:buNone/>
                      </a:pPr>
                      <a:r>
                        <a:rPr lang="en-US" sz="1400" b="0" i="0" u="none" strike="noStrike" noProof="0" dirty="0">
                          <a:solidFill>
                            <a:srgbClr val="000000"/>
                          </a:solidFill>
                          <a:effectLst/>
                        </a:rPr>
                        <a:t>Hotels and motels (incl. casino hotels) </a:t>
                      </a:r>
                      <a:endParaRPr lang="en-US" dirty="0"/>
                    </a:p>
                  </a:txBody>
                  <a:tcPr anchor="ctr"/>
                </a:tc>
                <a:tc>
                  <a:txBody>
                    <a:bodyPr/>
                    <a:lstStyle/>
                    <a:p>
                      <a:pPr lvl="0" algn="r">
                        <a:lnSpc>
                          <a:spcPct val="100000"/>
                        </a:lnSpc>
                        <a:spcBef>
                          <a:spcPts val="0"/>
                        </a:spcBef>
                        <a:spcAft>
                          <a:spcPts val="0"/>
                        </a:spcAft>
                        <a:buNone/>
                      </a:pPr>
                      <a:r>
                        <a:rPr lang="en-US" sz="1400" b="0" i="0" u="none" strike="noStrike" kern="1200" noProof="0" dirty="0">
                          <a:solidFill>
                            <a:srgbClr val="000000"/>
                          </a:solidFill>
                          <a:effectLst/>
                        </a:rPr>
                        <a:t>$594M (7.62%)</a:t>
                      </a:r>
                      <a:endParaRPr lang="en-US" dirty="0"/>
                    </a:p>
                  </a:txBody>
                  <a:tcPr anchor="ctr"/>
                </a:tc>
                <a:extLst>
                  <a:ext uri="{0D108BD9-81ED-4DB2-BD59-A6C34878D82A}">
                    <a16:rowId xmlns:a16="http://schemas.microsoft.com/office/drawing/2014/main" val="3982282628"/>
                  </a:ext>
                </a:extLst>
              </a:tr>
              <a:tr h="266305">
                <a:tc>
                  <a:txBody>
                    <a:bodyPr/>
                    <a:lstStyle/>
                    <a:p>
                      <a:pPr lvl="0" algn="l">
                        <a:lnSpc>
                          <a:spcPts val="1650"/>
                        </a:lnSpc>
                        <a:buNone/>
                      </a:pPr>
                      <a:r>
                        <a:rPr lang="en-US" sz="1400" b="0" i="0" u="none" strike="noStrike" noProof="0" dirty="0">
                          <a:solidFill>
                            <a:srgbClr val="000000"/>
                          </a:solidFill>
                          <a:effectLst/>
                        </a:rPr>
                        <a:t>Air transportation </a:t>
                      </a:r>
                      <a:endParaRPr lang="en-US" dirty="0"/>
                    </a:p>
                  </a:txBody>
                  <a:tcPr anchor="ctr">
                    <a:solidFill>
                      <a:schemeClr val="tx2">
                        <a:lumMod val="10000"/>
                        <a:lumOff val="90000"/>
                      </a:schemeClr>
                    </a:solidFill>
                  </a:tcPr>
                </a:tc>
                <a:tc>
                  <a:txBody>
                    <a:bodyPr/>
                    <a:lstStyle/>
                    <a:p>
                      <a:pPr lvl="0" algn="r">
                        <a:lnSpc>
                          <a:spcPct val="100000"/>
                        </a:lnSpc>
                        <a:spcBef>
                          <a:spcPts val="0"/>
                        </a:spcBef>
                        <a:spcAft>
                          <a:spcPts val="0"/>
                        </a:spcAft>
                        <a:buNone/>
                      </a:pPr>
                      <a:r>
                        <a:rPr lang="en-US" sz="1400" b="0" i="0" u="none" strike="noStrike" noProof="0" dirty="0">
                          <a:solidFill>
                            <a:srgbClr val="000000"/>
                          </a:solidFill>
                          <a:effectLst/>
                        </a:rPr>
                        <a:t>$375M (4.81%) </a:t>
                      </a:r>
                      <a:endParaRPr lang="en-US" sz="1400" b="0" i="0" u="none" strike="noStrike" noProof="0" dirty="0">
                        <a:solidFill>
                          <a:srgbClr val="000000"/>
                        </a:solidFill>
                        <a:effectLst/>
                        <a:latin typeface="Franklin Gothic Book"/>
                      </a:endParaRPr>
                    </a:p>
                  </a:txBody>
                  <a:tcPr anchor="ctr">
                    <a:solidFill>
                      <a:schemeClr val="tx2">
                        <a:lumMod val="10000"/>
                        <a:lumOff val="90000"/>
                      </a:schemeClr>
                    </a:solidFill>
                  </a:tcPr>
                </a:tc>
                <a:extLst>
                  <a:ext uri="{0D108BD9-81ED-4DB2-BD59-A6C34878D82A}">
                    <a16:rowId xmlns:a16="http://schemas.microsoft.com/office/drawing/2014/main" val="928929574"/>
                  </a:ext>
                </a:extLst>
              </a:tr>
              <a:tr h="266305">
                <a:tc>
                  <a:txBody>
                    <a:bodyPr/>
                    <a:lstStyle/>
                    <a:p>
                      <a:pPr lvl="0" algn="l">
                        <a:lnSpc>
                          <a:spcPts val="1650"/>
                        </a:lnSpc>
                        <a:buNone/>
                      </a:pPr>
                      <a:r>
                        <a:rPr lang="en-US" sz="1400" b="0" i="0" u="none" strike="noStrike" noProof="0" dirty="0">
                          <a:solidFill>
                            <a:srgbClr val="000000"/>
                          </a:solidFill>
                          <a:effectLst/>
                        </a:rPr>
                        <a:t>Retail — food and beverage stores </a:t>
                      </a:r>
                      <a:endParaRPr lang="en-US" dirty="0"/>
                    </a:p>
                  </a:txBody>
                  <a:tcPr anchor="ctr"/>
                </a:tc>
                <a:tc>
                  <a:txBody>
                    <a:bodyPr/>
                    <a:lstStyle/>
                    <a:p>
                      <a:pPr lvl="0" algn="r">
                        <a:lnSpc>
                          <a:spcPts val="1650"/>
                        </a:lnSpc>
                        <a:buNone/>
                      </a:pPr>
                      <a:r>
                        <a:rPr lang="en-US" sz="1400" b="0" i="0" u="none" strike="noStrike" noProof="0">
                          <a:solidFill>
                            <a:srgbClr val="000000"/>
                          </a:solidFill>
                          <a:effectLst/>
                        </a:rPr>
                        <a:t>$191M (2.45%)</a:t>
                      </a:r>
                      <a:endParaRPr lang="en-US"/>
                    </a:p>
                  </a:txBody>
                  <a:tcPr anchor="ctr"/>
                </a:tc>
                <a:extLst>
                  <a:ext uri="{0D108BD9-81ED-4DB2-BD59-A6C34878D82A}">
                    <a16:rowId xmlns:a16="http://schemas.microsoft.com/office/drawing/2014/main" val="3317895345"/>
                  </a:ext>
                </a:extLst>
              </a:tr>
              <a:tr h="266305">
                <a:tc>
                  <a:txBody>
                    <a:bodyPr/>
                    <a:lstStyle/>
                    <a:p>
                      <a:pPr lvl="0" algn="l">
                        <a:lnSpc>
                          <a:spcPts val="1650"/>
                        </a:lnSpc>
                        <a:buNone/>
                      </a:pPr>
                      <a:r>
                        <a:rPr lang="en-US" sz="1400" b="0" i="0" u="none" strike="noStrike" noProof="0" dirty="0">
                          <a:solidFill>
                            <a:srgbClr val="000000"/>
                          </a:solidFill>
                          <a:effectLst/>
                        </a:rPr>
                        <a:t>Retail — clothing and accessories </a:t>
                      </a:r>
                      <a:endParaRPr lang="en-US" dirty="0"/>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rPr>
                        <a:t>$167M (2.14%) </a:t>
                      </a:r>
                      <a:endParaRPr lang="en-US" dirty="0"/>
                    </a:p>
                  </a:txBody>
                  <a:tcPr anchor="ctr">
                    <a:solidFill>
                      <a:schemeClr val="tx2">
                        <a:lumMod val="10000"/>
                        <a:lumOff val="90000"/>
                      </a:schemeClr>
                    </a:solidFill>
                  </a:tcPr>
                </a:tc>
                <a:extLst>
                  <a:ext uri="{0D108BD9-81ED-4DB2-BD59-A6C34878D82A}">
                    <a16:rowId xmlns:a16="http://schemas.microsoft.com/office/drawing/2014/main" val="3700267936"/>
                  </a:ext>
                </a:extLst>
              </a:tr>
              <a:tr h="266305">
                <a:tc>
                  <a:txBody>
                    <a:bodyPr/>
                    <a:lstStyle/>
                    <a:p>
                      <a:pPr lvl="0" algn="l">
                        <a:lnSpc>
                          <a:spcPts val="1650"/>
                        </a:lnSpc>
                        <a:buNone/>
                      </a:pPr>
                      <a:r>
                        <a:rPr lang="en-US" sz="1400" b="0" i="0" u="none" strike="noStrike" noProof="0">
                          <a:solidFill>
                            <a:srgbClr val="000000"/>
                          </a:solidFill>
                          <a:effectLst/>
                        </a:rPr>
                        <a:t>Monetary authorities and banking </a:t>
                      </a:r>
                      <a:endParaRPr lang="en-US"/>
                    </a:p>
                  </a:txBody>
                  <a:tcPr anchor="ctr"/>
                </a:tc>
                <a:tc>
                  <a:txBody>
                    <a:bodyPr/>
                    <a:lstStyle/>
                    <a:p>
                      <a:pPr lvl="0" algn="r">
                        <a:lnSpc>
                          <a:spcPts val="1650"/>
                        </a:lnSpc>
                        <a:buNone/>
                      </a:pPr>
                      <a:r>
                        <a:rPr lang="en-US" sz="1400" b="0" i="0" u="none" strike="noStrike" noProof="0" dirty="0">
                          <a:solidFill>
                            <a:srgbClr val="000000"/>
                          </a:solidFill>
                          <a:effectLst/>
                        </a:rPr>
                        <a:t>$141M (1.81%) </a:t>
                      </a:r>
                      <a:endParaRPr lang="en-US" dirty="0"/>
                    </a:p>
                  </a:txBody>
                  <a:tcPr anchor="ctr"/>
                </a:tc>
                <a:extLst>
                  <a:ext uri="{0D108BD9-81ED-4DB2-BD59-A6C34878D82A}">
                    <a16:rowId xmlns:a16="http://schemas.microsoft.com/office/drawing/2014/main" val="3977687381"/>
                  </a:ext>
                </a:extLst>
              </a:tr>
              <a:tr h="485431">
                <a:tc>
                  <a:txBody>
                    <a:bodyPr/>
                    <a:lstStyle/>
                    <a:p>
                      <a:pPr lvl="0" algn="l">
                        <a:lnSpc>
                          <a:spcPts val="1650"/>
                        </a:lnSpc>
                        <a:buNone/>
                      </a:pPr>
                      <a:r>
                        <a:rPr lang="en-US" sz="1400" b="0" i="0" u="none" strike="noStrike" noProof="0" dirty="0">
                          <a:solidFill>
                            <a:srgbClr val="000000"/>
                          </a:solidFill>
                          <a:effectLst/>
                        </a:rPr>
                        <a:t>Construction — single-family residential </a:t>
                      </a:r>
                      <a:endParaRPr lang="en-US" dirty="0"/>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rPr>
                        <a:t>$141M (1.81%) </a:t>
                      </a:r>
                      <a:endParaRPr lang="en-US" dirty="0"/>
                    </a:p>
                  </a:txBody>
                  <a:tcPr anchor="ctr">
                    <a:solidFill>
                      <a:schemeClr val="tx2">
                        <a:lumMod val="10000"/>
                        <a:lumOff val="90000"/>
                      </a:schemeClr>
                    </a:solidFill>
                  </a:tcPr>
                </a:tc>
                <a:extLst>
                  <a:ext uri="{0D108BD9-81ED-4DB2-BD59-A6C34878D82A}">
                    <a16:rowId xmlns:a16="http://schemas.microsoft.com/office/drawing/2014/main" val="2122974324"/>
                  </a:ext>
                </a:extLst>
              </a:tr>
              <a:tr h="316885">
                <a:tc>
                  <a:txBody>
                    <a:bodyPr/>
                    <a:lstStyle/>
                    <a:p>
                      <a:pPr lvl="0" algn="l">
                        <a:lnSpc>
                          <a:spcPts val="1650"/>
                        </a:lnSpc>
                        <a:buNone/>
                      </a:pPr>
                      <a:r>
                        <a:rPr lang="en-US" sz="1400" b="0" i="0" u="none" strike="noStrike" noProof="0" dirty="0">
                          <a:solidFill>
                            <a:srgbClr val="000000"/>
                          </a:solidFill>
                          <a:effectLst/>
                        </a:rPr>
                        <a:t>Retail — motor vehicle and parts dealers </a:t>
                      </a:r>
                      <a:endParaRPr lang="en-US" dirty="0"/>
                    </a:p>
                  </a:txBody>
                  <a:tcPr anchor="ctr"/>
                </a:tc>
                <a:tc>
                  <a:txBody>
                    <a:bodyPr/>
                    <a:lstStyle/>
                    <a:p>
                      <a:pPr lvl="0" algn="r">
                        <a:lnSpc>
                          <a:spcPts val="1650"/>
                        </a:lnSpc>
                        <a:buNone/>
                      </a:pPr>
                      <a:r>
                        <a:rPr lang="en-US" sz="1400" b="0" i="0" u="none" strike="noStrike" noProof="0" dirty="0">
                          <a:solidFill>
                            <a:srgbClr val="000000"/>
                          </a:solidFill>
                          <a:effectLst/>
                        </a:rPr>
                        <a:t>$140M (1.79%) </a:t>
                      </a:r>
                      <a:endParaRPr lang="en-US" dirty="0"/>
                    </a:p>
                  </a:txBody>
                  <a:tcPr anchor="ctr"/>
                </a:tc>
                <a:extLst>
                  <a:ext uri="{0D108BD9-81ED-4DB2-BD59-A6C34878D82A}">
                    <a16:rowId xmlns:a16="http://schemas.microsoft.com/office/drawing/2014/main" val="840601713"/>
                  </a:ext>
                </a:extLst>
              </a:tr>
              <a:tr h="316885">
                <a:tc>
                  <a:txBody>
                    <a:bodyPr/>
                    <a:lstStyle/>
                    <a:p>
                      <a:pPr lvl="0" algn="l">
                        <a:lnSpc>
                          <a:spcPts val="1650"/>
                        </a:lnSpc>
                        <a:buNone/>
                      </a:pPr>
                      <a:r>
                        <a:rPr lang="en-US" sz="1400" b="0" i="0" u="none" strike="noStrike" noProof="0" dirty="0">
                          <a:solidFill>
                            <a:srgbClr val="000000"/>
                          </a:solidFill>
                          <a:effectLst/>
                        </a:rPr>
                        <a:t>Retail — general merchandise stores </a:t>
                      </a:r>
                      <a:endParaRPr lang="en-US" dirty="0"/>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rPr>
                        <a:t>$129M (1.65%) </a:t>
                      </a:r>
                      <a:endParaRPr lang="en-US" dirty="0"/>
                    </a:p>
                  </a:txBody>
                  <a:tcPr anchor="ctr">
                    <a:solidFill>
                      <a:schemeClr val="tx2">
                        <a:lumMod val="10000"/>
                        <a:lumOff val="90000"/>
                      </a:schemeClr>
                    </a:solidFill>
                  </a:tcPr>
                </a:tc>
                <a:extLst>
                  <a:ext uri="{0D108BD9-81ED-4DB2-BD59-A6C34878D82A}">
                    <a16:rowId xmlns:a16="http://schemas.microsoft.com/office/drawing/2014/main" val="2957203038"/>
                  </a:ext>
                </a:extLst>
              </a:tr>
              <a:tr h="316885">
                <a:tc>
                  <a:txBody>
                    <a:bodyPr/>
                    <a:lstStyle/>
                    <a:p>
                      <a:pPr lvl="0" algn="l">
                        <a:lnSpc>
                          <a:spcPts val="1650"/>
                        </a:lnSpc>
                        <a:buNone/>
                      </a:pPr>
                      <a:r>
                        <a:rPr lang="en-US" sz="1400" b="0" i="0" u="none" strike="noStrike" noProof="0" dirty="0">
                          <a:solidFill>
                            <a:srgbClr val="000000"/>
                          </a:solidFill>
                          <a:effectLst/>
                        </a:rPr>
                        <a:t>Insurance agencies and brokerages </a:t>
                      </a:r>
                      <a:endParaRPr lang="en-US" dirty="0"/>
                    </a:p>
                  </a:txBody>
                  <a:tcPr anchor="ctr"/>
                </a:tc>
                <a:tc>
                  <a:txBody>
                    <a:bodyPr/>
                    <a:lstStyle/>
                    <a:p>
                      <a:pPr lvl="0" algn="r">
                        <a:lnSpc>
                          <a:spcPts val="1650"/>
                        </a:lnSpc>
                        <a:buNone/>
                      </a:pPr>
                      <a:r>
                        <a:rPr lang="en-US" sz="1400" b="0" i="0" u="none" strike="noStrike" noProof="0" dirty="0">
                          <a:solidFill>
                            <a:srgbClr val="000000"/>
                          </a:solidFill>
                          <a:effectLst/>
                        </a:rPr>
                        <a:t>$116M (1.49%) </a:t>
                      </a:r>
                      <a:endParaRPr lang="en-US" dirty="0"/>
                    </a:p>
                  </a:txBody>
                  <a:tcPr anchor="ctr"/>
                </a:tc>
                <a:extLst>
                  <a:ext uri="{0D108BD9-81ED-4DB2-BD59-A6C34878D82A}">
                    <a16:rowId xmlns:a16="http://schemas.microsoft.com/office/drawing/2014/main" val="585110735"/>
                  </a:ext>
                </a:extLst>
              </a:tr>
              <a:tr h="316885">
                <a:tc>
                  <a:txBody>
                    <a:bodyPr/>
                    <a:lstStyle/>
                    <a:p>
                      <a:pPr lvl="0" algn="l">
                        <a:lnSpc>
                          <a:spcPts val="1650"/>
                        </a:lnSpc>
                        <a:buNone/>
                      </a:pPr>
                      <a:r>
                        <a:rPr lang="en-US" sz="1400" b="0" i="0" u="none" strike="noStrike" noProof="0" dirty="0">
                          <a:solidFill>
                            <a:srgbClr val="000000"/>
                          </a:solidFill>
                          <a:effectLst/>
                        </a:rPr>
                        <a:t>Retail — building material and garden supply </a:t>
                      </a:r>
                      <a:endParaRPr lang="en-US" dirty="0"/>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rPr>
                        <a:t>$102M (1.31%) </a:t>
                      </a:r>
                      <a:endParaRPr lang="en-US" dirty="0"/>
                    </a:p>
                  </a:txBody>
                  <a:tcPr anchor="ctr">
                    <a:solidFill>
                      <a:schemeClr val="tx2">
                        <a:lumMod val="10000"/>
                        <a:lumOff val="90000"/>
                      </a:schemeClr>
                    </a:solidFill>
                  </a:tcPr>
                </a:tc>
                <a:extLst>
                  <a:ext uri="{0D108BD9-81ED-4DB2-BD59-A6C34878D82A}">
                    <a16:rowId xmlns:a16="http://schemas.microsoft.com/office/drawing/2014/main" val="494519924"/>
                  </a:ext>
                </a:extLst>
              </a:tr>
            </a:tbl>
          </a:graphicData>
        </a:graphic>
      </p:graphicFrame>
      <p:sp>
        <p:nvSpPr>
          <p:cNvPr id="6" name="TextBox 5">
            <a:extLst>
              <a:ext uri="{FF2B5EF4-FFF2-40B4-BE49-F238E27FC236}">
                <a16:creationId xmlns:a16="http://schemas.microsoft.com/office/drawing/2014/main" id="{924E6F7E-F7F0-49AE-6EAF-56D962C15848}"/>
              </a:ext>
            </a:extLst>
          </p:cNvPr>
          <p:cNvSpPr txBox="1"/>
          <p:nvPr/>
        </p:nvSpPr>
        <p:spPr>
          <a:xfrm>
            <a:off x="4309253" y="6313755"/>
            <a:ext cx="6285186" cy="230832"/>
          </a:xfrm>
          <a:prstGeom prst="rect">
            <a:avLst/>
          </a:prstGeom>
          <a:noFill/>
        </p:spPr>
        <p:txBody>
          <a:bodyPr wrap="square" rtlCol="0">
            <a:spAutoFit/>
          </a:bodyPr>
          <a:lstStyle/>
          <a:p>
            <a:r>
              <a:rPr lang="en-US" sz="900" dirty="0"/>
              <a:t>Sources: IMPLAN – Data from 2019 for Guam and CNMII</a:t>
            </a:r>
          </a:p>
        </p:txBody>
      </p:sp>
      <p:sp>
        <p:nvSpPr>
          <p:cNvPr id="8" name="TextBox 7">
            <a:extLst>
              <a:ext uri="{FF2B5EF4-FFF2-40B4-BE49-F238E27FC236}">
                <a16:creationId xmlns:a16="http://schemas.microsoft.com/office/drawing/2014/main" id="{AACD0D49-6ABE-7277-A09D-B95D9FD31B19}"/>
              </a:ext>
            </a:extLst>
          </p:cNvPr>
          <p:cNvSpPr txBox="1"/>
          <p:nvPr/>
        </p:nvSpPr>
        <p:spPr>
          <a:xfrm>
            <a:off x="5793261" y="5826786"/>
            <a:ext cx="6096000" cy="230832"/>
          </a:xfrm>
          <a:prstGeom prst="rect">
            <a:avLst/>
          </a:prstGeom>
          <a:noFill/>
        </p:spPr>
        <p:txBody>
          <a:bodyPr wrap="square">
            <a:spAutoFit/>
          </a:bodyPr>
          <a:lstStyle/>
          <a:p>
            <a:pPr marL="0" indent="0">
              <a:buNone/>
            </a:pPr>
            <a:r>
              <a:rPr lang="en-US" sz="900" b="0" dirty="0"/>
              <a:t>† Government as an industry was excluded from rankings. </a:t>
            </a:r>
          </a:p>
        </p:txBody>
      </p:sp>
    </p:spTree>
    <p:extLst>
      <p:ext uri="{BB962C8B-B14F-4D97-AF65-F5344CB8AC3E}">
        <p14:creationId xmlns:p14="http://schemas.microsoft.com/office/powerpoint/2010/main" val="1192663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F8DCC-5563-737D-8F5B-CAA32636D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8F20E-D676-49F1-CCA1-2E1E5C831D7E}"/>
              </a:ext>
            </a:extLst>
          </p:cNvPr>
          <p:cNvSpPr>
            <a:spLocks noGrp="1"/>
          </p:cNvSpPr>
          <p:nvPr>
            <p:ph type="title"/>
          </p:nvPr>
        </p:nvSpPr>
        <p:spPr>
          <a:xfrm>
            <a:off x="684519" y="968037"/>
            <a:ext cx="10822962" cy="457200"/>
          </a:xfrm>
        </p:spPr>
        <p:txBody>
          <a:bodyPr/>
          <a:lstStyle/>
          <a:p>
            <a:r>
              <a:rPr lang="en-US" sz="3200" dirty="0">
                <a:latin typeface="Franklin Gothic Heavy"/>
              </a:rPr>
              <a:t>Headliner Industries (Employee Count): Guam</a:t>
            </a:r>
            <a:endParaRPr lang="en-US" sz="3200" dirty="0"/>
          </a:p>
        </p:txBody>
      </p:sp>
      <p:sp>
        <p:nvSpPr>
          <p:cNvPr id="4" name="Text Placeholder 3">
            <a:extLst>
              <a:ext uri="{FF2B5EF4-FFF2-40B4-BE49-F238E27FC236}">
                <a16:creationId xmlns:a16="http://schemas.microsoft.com/office/drawing/2014/main" id="{8A85DC9C-38B2-F9E7-CF81-AE9C9D77B910}"/>
              </a:ext>
            </a:extLst>
          </p:cNvPr>
          <p:cNvSpPr>
            <a:spLocks noGrp="1"/>
          </p:cNvSpPr>
          <p:nvPr>
            <p:ph type="body" sz="quarter" idx="14"/>
          </p:nvPr>
        </p:nvSpPr>
        <p:spPr>
          <a:xfrm>
            <a:off x="365125" y="1817688"/>
            <a:ext cx="4692649" cy="4319238"/>
          </a:xfrm>
        </p:spPr>
        <p:txBody>
          <a:bodyPr vert="horz" lIns="91440" tIns="45720" rIns="91440" bIns="45720" rtlCol="0" anchor="t">
            <a:normAutofit/>
          </a:bodyPr>
          <a:lstStyle/>
          <a:p>
            <a:r>
              <a:rPr lang="en-US" sz="1200" b="0" dirty="0"/>
              <a:t>The</a:t>
            </a:r>
            <a:r>
              <a:rPr lang="en-US" sz="1200" b="0" dirty="0">
                <a:ea typeface="+mn-lt"/>
                <a:cs typeface="+mn-lt"/>
              </a:rPr>
              <a:t> top 10 by employment is dominated by tourism and hospitality.</a:t>
            </a:r>
            <a:endParaRPr lang="en-US" sz="1200" dirty="0">
              <a:ea typeface="+mn-lt"/>
              <a:cs typeface="+mn-lt"/>
            </a:endParaRPr>
          </a:p>
          <a:p>
            <a:r>
              <a:rPr lang="en-US" sz="1200" b="0" dirty="0">
                <a:ea typeface="+mn-lt"/>
                <a:cs typeface="+mn-lt"/>
              </a:rPr>
              <a:t>Of the 10 industries, only </a:t>
            </a:r>
            <a:r>
              <a:rPr lang="en-US" sz="1200" dirty="0">
                <a:ea typeface="+mn-lt"/>
                <a:cs typeface="+mn-lt"/>
              </a:rPr>
              <a:t>food and beverage retail</a:t>
            </a:r>
            <a:r>
              <a:rPr lang="en-US" sz="1200" b="0" dirty="0">
                <a:ea typeface="+mn-lt"/>
                <a:cs typeface="+mn-lt"/>
              </a:rPr>
              <a:t> has direct and immediate relevance to civilian disaster response </a:t>
            </a:r>
            <a:r>
              <a:rPr lang="en-US" sz="1200" b="0">
                <a:ea typeface="+mn-lt"/>
                <a:cs typeface="+mn-lt"/>
              </a:rPr>
              <a:t>-</a:t>
            </a:r>
            <a:r>
              <a:rPr lang="en-US" sz="1200" b="0" dirty="0">
                <a:ea typeface="+mn-lt"/>
                <a:cs typeface="+mn-lt"/>
              </a:rPr>
              <a:t> as the primary workforce responsible for restocking and operating the stores that feed the population once resupply arrives.</a:t>
            </a:r>
            <a:endParaRPr lang="en-US" sz="1200" dirty="0"/>
          </a:p>
          <a:p>
            <a:r>
              <a:rPr lang="en-US" sz="1200" b="0" dirty="0">
                <a:ea typeface="+mn-lt"/>
                <a:cs typeface="+mn-lt"/>
              </a:rPr>
              <a:t>Construction is the only other industry with recovery relevance, but </a:t>
            </a:r>
            <a:r>
              <a:rPr lang="en-US" sz="1200" b="0">
                <a:ea typeface="+mn-lt"/>
                <a:cs typeface="+mn-lt"/>
              </a:rPr>
              <a:t>post-typhoon</a:t>
            </a:r>
            <a:r>
              <a:rPr lang="en-US" sz="1200" b="0" dirty="0">
                <a:ea typeface="+mn-lt"/>
                <a:cs typeface="+mn-lt"/>
              </a:rPr>
              <a:t> rebuilding demand will far outpace this existing local capacity.</a:t>
            </a:r>
          </a:p>
          <a:p>
            <a:pPr marL="0" indent="0">
              <a:buNone/>
            </a:pPr>
            <a:r>
              <a:rPr lang="en-US" sz="1200" dirty="0">
                <a:ea typeface="+mn-lt"/>
                <a:cs typeface="+mn-lt"/>
              </a:rPr>
              <a:t>Key Takeaways:</a:t>
            </a:r>
          </a:p>
          <a:p>
            <a:r>
              <a:rPr lang="en-US" sz="1200" b="0" dirty="0">
                <a:ea typeface="+mn-lt"/>
                <a:cs typeface="+mn-lt"/>
              </a:rPr>
              <a:t>This industry list confirms Guam's private economy offers minimal built-in response capacity </a:t>
            </a:r>
            <a:r>
              <a:rPr lang="en-US" sz="1200" b="0">
                <a:ea typeface="+mn-lt"/>
                <a:cs typeface="+mn-lt"/>
              </a:rPr>
              <a:t>- </a:t>
            </a:r>
            <a:r>
              <a:rPr lang="en-US" sz="1200" b="0" dirty="0">
                <a:ea typeface="+mn-lt"/>
                <a:cs typeface="+mn-lt"/>
              </a:rPr>
              <a:t>no manufacturing, no energy production, no logistics infrastructure ranks in the top 10.</a:t>
            </a:r>
          </a:p>
          <a:p>
            <a:r>
              <a:rPr lang="en-US" sz="1200" b="0" dirty="0">
                <a:ea typeface="+mn-lt"/>
                <a:cs typeface="+mn-lt"/>
              </a:rPr>
              <a:t>The two privately-operated industries most relevant to civilian recovery </a:t>
            </a:r>
            <a:r>
              <a:rPr lang="en-US" sz="1200" b="0">
                <a:ea typeface="+mn-lt"/>
                <a:cs typeface="+mn-lt"/>
              </a:rPr>
              <a:t>-</a:t>
            </a:r>
            <a:r>
              <a:rPr lang="en-US" sz="1200" b="0" dirty="0">
                <a:ea typeface="+mn-lt"/>
                <a:cs typeface="+mn-lt"/>
              </a:rPr>
              <a:t> food retail and building supply </a:t>
            </a:r>
            <a:r>
              <a:rPr lang="en-US" sz="1200" b="0">
                <a:ea typeface="+mn-lt"/>
                <a:cs typeface="+mn-lt"/>
              </a:rPr>
              <a:t>-</a:t>
            </a:r>
            <a:r>
              <a:rPr lang="en-US" sz="1200" b="0" dirty="0">
                <a:ea typeface="+mn-lt"/>
                <a:cs typeface="+mn-lt"/>
              </a:rPr>
              <a:t> are restock-dependent businesses with no production capacity of their own; restoring their function is a port clearance problem, not a local industry problem.</a:t>
            </a:r>
            <a:endParaRPr lang="en-US" sz="1200" dirty="0"/>
          </a:p>
          <a:p>
            <a:r>
              <a:rPr lang="en-US" sz="1200" b="0" dirty="0">
                <a:ea typeface="+mn-lt"/>
                <a:cs typeface="+mn-lt"/>
              </a:rPr>
              <a:t>Workforce capacity is constrained; response and recovery operations depend on imported labor and external contractor mobilization.</a:t>
            </a:r>
          </a:p>
          <a:p>
            <a:endParaRPr lang="en-US" sz="1800" b="0" dirty="0">
              <a:ea typeface="+mn-lt"/>
              <a:cs typeface="+mn-lt"/>
            </a:endParaRPr>
          </a:p>
        </p:txBody>
      </p:sp>
      <p:graphicFrame>
        <p:nvGraphicFramePr>
          <p:cNvPr id="7" name="Table 6">
            <a:extLst>
              <a:ext uri="{FF2B5EF4-FFF2-40B4-BE49-F238E27FC236}">
                <a16:creationId xmlns:a16="http://schemas.microsoft.com/office/drawing/2014/main" id="{34C8EFA8-4AF1-5DF1-87B3-269CEDE3CF9F}"/>
              </a:ext>
            </a:extLst>
          </p:cNvPr>
          <p:cNvGraphicFramePr>
            <a:graphicFrameLocks noGrp="1"/>
          </p:cNvGraphicFramePr>
          <p:nvPr>
            <p:extLst>
              <p:ext uri="{D42A27DB-BD31-4B8C-83A1-F6EECF244321}">
                <p14:modId xmlns:p14="http://schemas.microsoft.com/office/powerpoint/2010/main" val="1290544189"/>
              </p:ext>
            </p:extLst>
          </p:nvPr>
        </p:nvGraphicFramePr>
        <p:xfrm>
          <a:off x="5408295" y="1720558"/>
          <a:ext cx="6308911" cy="4301028"/>
        </p:xfrm>
        <a:graphic>
          <a:graphicData uri="http://schemas.openxmlformats.org/drawingml/2006/table">
            <a:tbl>
              <a:tblPr bandRow="1">
                <a:tableStyleId>{69012ECD-51FC-41F1-AA8D-1B2483CD663E}</a:tableStyleId>
              </a:tblPr>
              <a:tblGrid>
                <a:gridCol w="3639312">
                  <a:extLst>
                    <a:ext uri="{9D8B030D-6E8A-4147-A177-3AD203B41FA5}">
                      <a16:colId xmlns:a16="http://schemas.microsoft.com/office/drawing/2014/main" val="2264177730"/>
                    </a:ext>
                  </a:extLst>
                </a:gridCol>
                <a:gridCol w="2669599">
                  <a:extLst>
                    <a:ext uri="{9D8B030D-6E8A-4147-A177-3AD203B41FA5}">
                      <a16:colId xmlns:a16="http://schemas.microsoft.com/office/drawing/2014/main" val="2521575143"/>
                    </a:ext>
                  </a:extLst>
                </a:gridCol>
              </a:tblGrid>
              <a:tr h="336183">
                <a:tc gridSpan="2">
                  <a:txBody>
                    <a:bodyPr/>
                    <a:lstStyle/>
                    <a:p>
                      <a:pPr algn="ctr" fontAlgn="base">
                        <a:lnSpc>
                          <a:spcPts val="2175"/>
                        </a:lnSpc>
                        <a:buNone/>
                      </a:pPr>
                      <a:r>
                        <a:rPr lang="en-US" sz="1800" b="1" dirty="0">
                          <a:solidFill>
                            <a:srgbClr val="FFFFFF"/>
                          </a:solidFill>
                          <a:effectLst/>
                        </a:rPr>
                        <a:t>Top 10 Industries by GDP (2019): Guam</a:t>
                      </a:r>
                    </a:p>
                  </a:txBody>
                  <a:tcPr marL="4877" marR="4877" marT="3896" marB="3896" anchor="ctr">
                    <a:solidFill>
                      <a:srgbClr val="005188"/>
                    </a:solidFill>
                  </a:tcPr>
                </a:tc>
                <a:tc hMerge="1">
                  <a:txBody>
                    <a:bodyPr/>
                    <a:lstStyle/>
                    <a:p>
                      <a:endParaRPr lang="en-US"/>
                    </a:p>
                  </a:txBody>
                  <a:tcPr/>
                </a:tc>
                <a:extLst>
                  <a:ext uri="{0D108BD9-81ED-4DB2-BD59-A6C34878D82A}">
                    <a16:rowId xmlns:a16="http://schemas.microsoft.com/office/drawing/2014/main" val="2288061391"/>
                  </a:ext>
                </a:extLst>
              </a:tr>
              <a:tr h="237400">
                <a:tc>
                  <a:txBody>
                    <a:bodyPr/>
                    <a:lstStyle/>
                    <a:p>
                      <a:pPr algn="ctr" fontAlgn="b">
                        <a:buNone/>
                      </a:pPr>
                      <a:r>
                        <a:rPr lang="en-US" sz="1600" b="1" dirty="0">
                          <a:solidFill>
                            <a:schemeClr val="bg1"/>
                          </a:solidFill>
                          <a:effectLst/>
                        </a:rPr>
                        <a:t>Industry</a:t>
                      </a:r>
                    </a:p>
                  </a:txBody>
                  <a:tcPr marL="4877" marR="4877" marT="4877" marB="4877" anchor="b">
                    <a:solidFill>
                      <a:srgbClr val="005188"/>
                    </a:solidFill>
                  </a:tcPr>
                </a:tc>
                <a:tc>
                  <a:txBody>
                    <a:bodyPr/>
                    <a:lstStyle/>
                    <a:p>
                      <a:pPr algn="r" fontAlgn="base">
                        <a:lnSpc>
                          <a:spcPts val="2175"/>
                        </a:lnSpc>
                        <a:buNone/>
                      </a:pPr>
                      <a:r>
                        <a:rPr lang="en-US" sz="1400" b="1" dirty="0">
                          <a:solidFill>
                            <a:srgbClr val="FFFFFF"/>
                          </a:solidFill>
                          <a:effectLst/>
                        </a:rPr>
                        <a:t>Total No. of Employees</a:t>
                      </a:r>
                      <a:endParaRPr lang="en-US" sz="1400" b="0" i="0" dirty="0">
                        <a:solidFill>
                          <a:srgbClr val="000000"/>
                        </a:solidFill>
                        <a:effectLst/>
                      </a:endParaRPr>
                    </a:p>
                  </a:txBody>
                  <a:tcPr marL="4877" marR="182880" marT="4877" marB="4877" anchor="b">
                    <a:solidFill>
                      <a:srgbClr val="005188"/>
                    </a:solidFill>
                  </a:tcPr>
                </a:tc>
                <a:extLst>
                  <a:ext uri="{0D108BD9-81ED-4DB2-BD59-A6C34878D82A}">
                    <a16:rowId xmlns:a16="http://schemas.microsoft.com/office/drawing/2014/main" val="455503944"/>
                  </a:ext>
                </a:extLst>
              </a:tr>
              <a:tr h="278094">
                <a:tc>
                  <a:txBody>
                    <a:bodyPr/>
                    <a:lstStyle/>
                    <a:p>
                      <a:pPr lvl="0" algn="l">
                        <a:lnSpc>
                          <a:spcPct val="100000"/>
                        </a:lnSpc>
                        <a:spcBef>
                          <a:spcPts val="0"/>
                        </a:spcBef>
                        <a:spcAft>
                          <a:spcPts val="0"/>
                        </a:spcAft>
                        <a:buNone/>
                      </a:pPr>
                      <a:r>
                        <a:rPr lang="en-US" sz="1400" b="0" i="0" u="none" strike="noStrike" noProof="0" dirty="0">
                          <a:solidFill>
                            <a:srgbClr val="000000"/>
                          </a:solidFill>
                          <a:effectLst/>
                          <a:latin typeface="Franklin Gothic Book"/>
                        </a:rPr>
                        <a:t>Hotels and motels, including casino hotels</a:t>
                      </a:r>
                      <a:endParaRPr lang="en-US" dirty="0">
                        <a:latin typeface="Franklin Gothic Book"/>
                      </a:endParaRPr>
                    </a:p>
                  </a:txBody>
                  <a:tcPr anchor="ctr"/>
                </a:tc>
                <a:tc>
                  <a:txBody>
                    <a:bodyPr/>
                    <a:lstStyle/>
                    <a:p>
                      <a:pPr lvl="0" algn="r">
                        <a:lnSpc>
                          <a:spcPct val="100000"/>
                        </a:lnSpc>
                        <a:spcBef>
                          <a:spcPts val="0"/>
                        </a:spcBef>
                        <a:spcAft>
                          <a:spcPts val="0"/>
                        </a:spcAft>
                        <a:buNone/>
                      </a:pPr>
                      <a:r>
                        <a:rPr lang="en-US" sz="1400" b="0" i="0" u="none" strike="noStrike" kern="1200" noProof="0" dirty="0">
                          <a:solidFill>
                            <a:srgbClr val="000000"/>
                          </a:solidFill>
                          <a:effectLst/>
                          <a:latin typeface="Franklin Gothic Book"/>
                        </a:rPr>
                        <a:t>8,290</a:t>
                      </a:r>
                      <a:endParaRPr lang="en-US" dirty="0"/>
                    </a:p>
                  </a:txBody>
                  <a:tcPr anchor="ctr"/>
                </a:tc>
                <a:extLst>
                  <a:ext uri="{0D108BD9-81ED-4DB2-BD59-A6C34878D82A}">
                    <a16:rowId xmlns:a16="http://schemas.microsoft.com/office/drawing/2014/main" val="3982282628"/>
                  </a:ext>
                </a:extLst>
              </a:tr>
              <a:tr h="278094">
                <a:tc>
                  <a:txBody>
                    <a:bodyPr/>
                    <a:lstStyle/>
                    <a:p>
                      <a:pPr lvl="0" algn="l">
                        <a:lnSpc>
                          <a:spcPts val="1650"/>
                        </a:lnSpc>
                        <a:buNone/>
                      </a:pPr>
                      <a:r>
                        <a:rPr lang="en-US" sz="1400" b="0" i="0" u="none" strike="noStrike" noProof="0" dirty="0">
                          <a:solidFill>
                            <a:srgbClr val="000000"/>
                          </a:solidFill>
                          <a:effectLst/>
                          <a:latin typeface="Franklin Gothic Book"/>
                        </a:rPr>
                        <a:t>Retail - Food and beverage stores </a:t>
                      </a:r>
                      <a:endParaRPr lang="en-US" dirty="0"/>
                    </a:p>
                  </a:txBody>
                  <a:tcPr anchor="ctr">
                    <a:solidFill>
                      <a:schemeClr val="tx2">
                        <a:lumMod val="10000"/>
                        <a:lumOff val="90000"/>
                      </a:schemeClr>
                    </a:solidFill>
                  </a:tcPr>
                </a:tc>
                <a:tc>
                  <a:txBody>
                    <a:bodyPr/>
                    <a:lstStyle/>
                    <a:p>
                      <a:pPr lvl="0" algn="r">
                        <a:lnSpc>
                          <a:spcPct val="100000"/>
                        </a:lnSpc>
                        <a:spcBef>
                          <a:spcPts val="0"/>
                        </a:spcBef>
                        <a:spcAft>
                          <a:spcPts val="0"/>
                        </a:spcAft>
                        <a:buNone/>
                      </a:pPr>
                      <a:r>
                        <a:rPr lang="en-US" sz="1400" b="0" i="0" u="none" strike="noStrike" noProof="0" dirty="0">
                          <a:solidFill>
                            <a:srgbClr val="000000"/>
                          </a:solidFill>
                          <a:effectLst/>
                          <a:latin typeface="Franklin Gothic Book"/>
                        </a:rPr>
                        <a:t>3,892</a:t>
                      </a:r>
                      <a:endParaRPr lang="en-US" dirty="0"/>
                    </a:p>
                  </a:txBody>
                  <a:tcPr anchor="ctr">
                    <a:solidFill>
                      <a:schemeClr val="tx2">
                        <a:lumMod val="10000"/>
                        <a:lumOff val="90000"/>
                      </a:schemeClr>
                    </a:solidFill>
                  </a:tcPr>
                </a:tc>
                <a:extLst>
                  <a:ext uri="{0D108BD9-81ED-4DB2-BD59-A6C34878D82A}">
                    <a16:rowId xmlns:a16="http://schemas.microsoft.com/office/drawing/2014/main" val="928929574"/>
                  </a:ext>
                </a:extLst>
              </a:tr>
              <a:tr h="465459">
                <a:tc>
                  <a:txBody>
                    <a:bodyPr/>
                    <a:lstStyle/>
                    <a:p>
                      <a:pPr lvl="0" algn="l">
                        <a:lnSpc>
                          <a:spcPts val="1650"/>
                        </a:lnSpc>
                        <a:buNone/>
                      </a:pPr>
                      <a:r>
                        <a:rPr lang="en-US" sz="1400" b="0" i="0" u="none" strike="noStrike" noProof="0" dirty="0">
                          <a:solidFill>
                            <a:srgbClr val="000000"/>
                          </a:solidFill>
                          <a:effectLst/>
                          <a:latin typeface="Franklin Gothic Book"/>
                        </a:rPr>
                        <a:t>Retail - Clothing and clothing accessories stores </a:t>
                      </a:r>
                      <a:endParaRPr lang="en-US" dirty="0"/>
                    </a:p>
                  </a:txBody>
                  <a:tcPr anchor="ctr"/>
                </a:tc>
                <a:tc>
                  <a:txBody>
                    <a:bodyPr/>
                    <a:lstStyle/>
                    <a:p>
                      <a:pPr lvl="0" algn="r">
                        <a:lnSpc>
                          <a:spcPts val="1650"/>
                        </a:lnSpc>
                        <a:buNone/>
                      </a:pPr>
                      <a:r>
                        <a:rPr lang="en-US" sz="1400" b="0" i="0" u="none" strike="noStrike" noProof="0" dirty="0">
                          <a:solidFill>
                            <a:srgbClr val="000000"/>
                          </a:solidFill>
                          <a:effectLst/>
                          <a:latin typeface="Franklin Gothic Book"/>
                        </a:rPr>
                        <a:t>3,271</a:t>
                      </a:r>
                      <a:endParaRPr lang="en-US" dirty="0"/>
                    </a:p>
                  </a:txBody>
                  <a:tcPr anchor="ctr"/>
                </a:tc>
                <a:extLst>
                  <a:ext uri="{0D108BD9-81ED-4DB2-BD59-A6C34878D82A}">
                    <a16:rowId xmlns:a16="http://schemas.microsoft.com/office/drawing/2014/main" val="3317895345"/>
                  </a:ext>
                </a:extLst>
              </a:tr>
              <a:tr h="268476">
                <a:tc>
                  <a:txBody>
                    <a:bodyPr/>
                    <a:lstStyle/>
                    <a:p>
                      <a:pPr lvl="0" algn="l">
                        <a:lnSpc>
                          <a:spcPts val="1650"/>
                        </a:lnSpc>
                        <a:buNone/>
                      </a:pPr>
                      <a:r>
                        <a:rPr lang="en-US" sz="1400" b="0" i="0" u="none" strike="noStrike" noProof="0" dirty="0">
                          <a:solidFill>
                            <a:srgbClr val="000000"/>
                          </a:solidFill>
                          <a:effectLst/>
                          <a:latin typeface="Franklin Gothic Book"/>
                        </a:rPr>
                        <a:t>Full-service restaurants </a:t>
                      </a:r>
                      <a:endParaRPr lang="en-US" dirty="0"/>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latin typeface="Franklin Gothic Book"/>
                        </a:rPr>
                        <a:t>2,550</a:t>
                      </a:r>
                      <a:endParaRPr lang="en-US" dirty="0"/>
                    </a:p>
                  </a:txBody>
                  <a:tcPr anchor="ctr">
                    <a:solidFill>
                      <a:schemeClr val="tx2">
                        <a:lumMod val="10000"/>
                        <a:lumOff val="90000"/>
                      </a:schemeClr>
                    </a:solidFill>
                  </a:tcPr>
                </a:tc>
                <a:extLst>
                  <a:ext uri="{0D108BD9-81ED-4DB2-BD59-A6C34878D82A}">
                    <a16:rowId xmlns:a16="http://schemas.microsoft.com/office/drawing/2014/main" val="3700267936"/>
                  </a:ext>
                </a:extLst>
              </a:tr>
              <a:tr h="465459">
                <a:tc>
                  <a:txBody>
                    <a:bodyPr/>
                    <a:lstStyle/>
                    <a:p>
                      <a:pPr lvl="0" algn="l">
                        <a:lnSpc>
                          <a:spcPts val="1650"/>
                        </a:lnSpc>
                        <a:buNone/>
                      </a:pPr>
                      <a:r>
                        <a:rPr lang="en-US" sz="1400" b="0" i="0" u="none" strike="noStrike" noProof="0">
                          <a:solidFill>
                            <a:srgbClr val="000000"/>
                          </a:solidFill>
                          <a:effectLst/>
                          <a:latin typeface="Franklin Gothic Book"/>
                        </a:rPr>
                        <a:t>Construction of new single-family residential structures </a:t>
                      </a:r>
                      <a:endParaRPr lang="en-US"/>
                    </a:p>
                  </a:txBody>
                  <a:tcPr anchor="ctr"/>
                </a:tc>
                <a:tc>
                  <a:txBody>
                    <a:bodyPr/>
                    <a:lstStyle/>
                    <a:p>
                      <a:pPr lvl="0" algn="r">
                        <a:lnSpc>
                          <a:spcPts val="1650"/>
                        </a:lnSpc>
                        <a:buNone/>
                      </a:pPr>
                      <a:r>
                        <a:rPr lang="en-US" sz="1400" b="0" i="0" u="none" strike="noStrike" noProof="0">
                          <a:solidFill>
                            <a:srgbClr val="000000"/>
                          </a:solidFill>
                          <a:effectLst/>
                          <a:latin typeface="Franklin Gothic Book"/>
                        </a:rPr>
                        <a:t>2,334</a:t>
                      </a:r>
                      <a:endParaRPr lang="en-US"/>
                    </a:p>
                  </a:txBody>
                  <a:tcPr anchor="ctr"/>
                </a:tc>
                <a:extLst>
                  <a:ext uri="{0D108BD9-81ED-4DB2-BD59-A6C34878D82A}">
                    <a16:rowId xmlns:a16="http://schemas.microsoft.com/office/drawing/2014/main" val="3977687381"/>
                  </a:ext>
                </a:extLst>
              </a:tr>
              <a:tr h="387534">
                <a:tc>
                  <a:txBody>
                    <a:bodyPr/>
                    <a:lstStyle/>
                    <a:p>
                      <a:pPr lvl="0" algn="l">
                        <a:lnSpc>
                          <a:spcPts val="1650"/>
                        </a:lnSpc>
                        <a:buNone/>
                      </a:pPr>
                      <a:r>
                        <a:rPr lang="en-US" sz="1400" b="0" i="0" u="none" strike="noStrike" noProof="0" dirty="0">
                          <a:solidFill>
                            <a:srgbClr val="000000"/>
                          </a:solidFill>
                          <a:effectLst/>
                          <a:latin typeface="Franklin Gothic Book"/>
                        </a:rPr>
                        <a:t>Retail - General merchandise stores </a:t>
                      </a:r>
                      <a:endParaRPr lang="en-US" dirty="0"/>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latin typeface="Franklin Gothic Book"/>
                        </a:rPr>
                        <a:t>2,117</a:t>
                      </a:r>
                      <a:endParaRPr lang="en-US" dirty="0"/>
                    </a:p>
                  </a:txBody>
                  <a:tcPr anchor="ctr">
                    <a:solidFill>
                      <a:schemeClr val="tx2">
                        <a:lumMod val="10000"/>
                        <a:lumOff val="90000"/>
                      </a:schemeClr>
                    </a:solidFill>
                  </a:tcPr>
                </a:tc>
                <a:extLst>
                  <a:ext uri="{0D108BD9-81ED-4DB2-BD59-A6C34878D82A}">
                    <a16:rowId xmlns:a16="http://schemas.microsoft.com/office/drawing/2014/main" val="2122974324"/>
                  </a:ext>
                </a:extLst>
              </a:tr>
              <a:tr h="465459">
                <a:tc>
                  <a:txBody>
                    <a:bodyPr/>
                    <a:lstStyle/>
                    <a:p>
                      <a:pPr lvl="0" algn="l">
                        <a:lnSpc>
                          <a:spcPts val="1650"/>
                        </a:lnSpc>
                        <a:buNone/>
                      </a:pPr>
                      <a:r>
                        <a:rPr lang="en-US" sz="1400" b="0" i="0" u="none" strike="noStrike" noProof="0" dirty="0">
                          <a:solidFill>
                            <a:srgbClr val="000000"/>
                          </a:solidFill>
                          <a:effectLst/>
                          <a:latin typeface="Franklin Gothic Book"/>
                        </a:rPr>
                        <a:t>Scenic and sightseeing transportation and support activities for transportation </a:t>
                      </a:r>
                      <a:endParaRPr lang="en-US" dirty="0"/>
                    </a:p>
                  </a:txBody>
                  <a:tcPr anchor="ctr"/>
                </a:tc>
                <a:tc>
                  <a:txBody>
                    <a:bodyPr/>
                    <a:lstStyle/>
                    <a:p>
                      <a:pPr lvl="0" algn="r">
                        <a:lnSpc>
                          <a:spcPts val="1650"/>
                        </a:lnSpc>
                        <a:buNone/>
                      </a:pPr>
                      <a:r>
                        <a:rPr lang="en-US" sz="1400" b="0" i="0" u="none" strike="noStrike" noProof="0" dirty="0">
                          <a:solidFill>
                            <a:srgbClr val="000000"/>
                          </a:solidFill>
                          <a:effectLst/>
                          <a:latin typeface="Franklin Gothic Book"/>
                        </a:rPr>
                        <a:t>2,040</a:t>
                      </a:r>
                      <a:endParaRPr lang="en-US" dirty="0"/>
                    </a:p>
                  </a:txBody>
                  <a:tcPr anchor="ctr"/>
                </a:tc>
                <a:extLst>
                  <a:ext uri="{0D108BD9-81ED-4DB2-BD59-A6C34878D82A}">
                    <a16:rowId xmlns:a16="http://schemas.microsoft.com/office/drawing/2014/main" val="840601713"/>
                  </a:ext>
                </a:extLst>
              </a:tr>
              <a:tr h="268476">
                <a:tc>
                  <a:txBody>
                    <a:bodyPr/>
                    <a:lstStyle/>
                    <a:p>
                      <a:pPr lvl="0" algn="l">
                        <a:lnSpc>
                          <a:spcPts val="1650"/>
                        </a:lnSpc>
                        <a:buNone/>
                      </a:pPr>
                      <a:r>
                        <a:rPr lang="en-US" sz="1400" b="0" i="0" u="none" strike="noStrike" noProof="0" dirty="0">
                          <a:solidFill>
                            <a:srgbClr val="000000"/>
                          </a:solidFill>
                          <a:effectLst/>
                          <a:latin typeface="Franklin Gothic Book"/>
                        </a:rPr>
                        <a:t>Retail - Miscellaneous store retailers </a:t>
                      </a:r>
                      <a:endParaRPr lang="en-US" dirty="0"/>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latin typeface="Franklin Gothic Book"/>
                        </a:rPr>
                        <a:t>1,874</a:t>
                      </a:r>
                      <a:endParaRPr lang="en-US" dirty="0"/>
                    </a:p>
                  </a:txBody>
                  <a:tcPr anchor="ctr">
                    <a:solidFill>
                      <a:schemeClr val="tx2">
                        <a:lumMod val="10000"/>
                        <a:lumOff val="90000"/>
                      </a:schemeClr>
                    </a:solidFill>
                  </a:tcPr>
                </a:tc>
                <a:extLst>
                  <a:ext uri="{0D108BD9-81ED-4DB2-BD59-A6C34878D82A}">
                    <a16:rowId xmlns:a16="http://schemas.microsoft.com/office/drawing/2014/main" val="2957203038"/>
                  </a:ext>
                </a:extLst>
              </a:tr>
              <a:tr h="268476">
                <a:tc>
                  <a:txBody>
                    <a:bodyPr/>
                    <a:lstStyle/>
                    <a:p>
                      <a:pPr lvl="0" algn="l">
                        <a:lnSpc>
                          <a:spcPts val="1650"/>
                        </a:lnSpc>
                        <a:buNone/>
                      </a:pPr>
                      <a:r>
                        <a:rPr lang="en-US" sz="1400" b="0" i="0" u="none" strike="noStrike" noProof="0">
                          <a:solidFill>
                            <a:srgbClr val="000000"/>
                          </a:solidFill>
                          <a:effectLst/>
                          <a:latin typeface="Franklin Gothic Book"/>
                        </a:rPr>
                        <a:t>Retail - Motor vehicle and parts dealers </a:t>
                      </a:r>
                      <a:endParaRPr lang="en-US"/>
                    </a:p>
                  </a:txBody>
                  <a:tcPr anchor="ctr"/>
                </a:tc>
                <a:tc>
                  <a:txBody>
                    <a:bodyPr/>
                    <a:lstStyle/>
                    <a:p>
                      <a:pPr lvl="0" algn="r">
                        <a:lnSpc>
                          <a:spcPts val="1650"/>
                        </a:lnSpc>
                        <a:buNone/>
                      </a:pPr>
                      <a:r>
                        <a:rPr lang="en-US" sz="1400" b="0" i="0" u="none" strike="noStrike" noProof="0" dirty="0">
                          <a:solidFill>
                            <a:srgbClr val="000000"/>
                          </a:solidFill>
                          <a:effectLst/>
                          <a:latin typeface="Franklin Gothic Book"/>
                        </a:rPr>
                        <a:t>1,594</a:t>
                      </a:r>
                      <a:endParaRPr lang="en-US" dirty="0"/>
                    </a:p>
                  </a:txBody>
                  <a:tcPr anchor="ctr"/>
                </a:tc>
                <a:extLst>
                  <a:ext uri="{0D108BD9-81ED-4DB2-BD59-A6C34878D82A}">
                    <a16:rowId xmlns:a16="http://schemas.microsoft.com/office/drawing/2014/main" val="585110735"/>
                  </a:ext>
                </a:extLst>
              </a:tr>
              <a:tr h="268476">
                <a:tc>
                  <a:txBody>
                    <a:bodyPr/>
                    <a:lstStyle/>
                    <a:p>
                      <a:pPr lvl="0" algn="l">
                        <a:lnSpc>
                          <a:spcPts val="1650"/>
                        </a:lnSpc>
                        <a:buNone/>
                      </a:pPr>
                      <a:r>
                        <a:rPr lang="en-US" sz="1400" b="0" i="0" u="none" strike="noStrike" noProof="0" dirty="0">
                          <a:solidFill>
                            <a:srgbClr val="000000"/>
                          </a:solidFill>
                          <a:effectLst/>
                          <a:latin typeface="Franklin Gothic Book"/>
                        </a:rPr>
                        <a:t>Other real estate </a:t>
                      </a:r>
                      <a:endParaRPr lang="en-US" dirty="0"/>
                    </a:p>
                  </a:txBody>
                  <a:tcPr anchor="ctr">
                    <a:solidFill>
                      <a:schemeClr val="tx2">
                        <a:lumMod val="10000"/>
                        <a:lumOff val="90000"/>
                      </a:schemeClr>
                    </a:solidFill>
                  </a:tcPr>
                </a:tc>
                <a:tc>
                  <a:txBody>
                    <a:bodyPr/>
                    <a:lstStyle/>
                    <a:p>
                      <a:pPr lvl="0" algn="r">
                        <a:lnSpc>
                          <a:spcPts val="1650"/>
                        </a:lnSpc>
                        <a:buNone/>
                      </a:pPr>
                      <a:r>
                        <a:rPr lang="en-US" sz="1400" b="0" i="0" u="none" strike="noStrike" noProof="0" dirty="0">
                          <a:solidFill>
                            <a:srgbClr val="000000"/>
                          </a:solidFill>
                          <a:effectLst/>
                          <a:latin typeface="Franklin Gothic Book"/>
                        </a:rPr>
                        <a:t>1,591</a:t>
                      </a:r>
                      <a:endParaRPr lang="en-US" dirty="0"/>
                    </a:p>
                  </a:txBody>
                  <a:tcPr anchor="ctr">
                    <a:solidFill>
                      <a:schemeClr val="tx2">
                        <a:lumMod val="10000"/>
                        <a:lumOff val="90000"/>
                      </a:schemeClr>
                    </a:solidFill>
                  </a:tcPr>
                </a:tc>
                <a:extLst>
                  <a:ext uri="{0D108BD9-81ED-4DB2-BD59-A6C34878D82A}">
                    <a16:rowId xmlns:a16="http://schemas.microsoft.com/office/drawing/2014/main" val="494519924"/>
                  </a:ext>
                </a:extLst>
              </a:tr>
            </a:tbl>
          </a:graphicData>
        </a:graphic>
      </p:graphicFrame>
      <p:sp>
        <p:nvSpPr>
          <p:cNvPr id="5" name="TextBox 4">
            <a:extLst>
              <a:ext uri="{FF2B5EF4-FFF2-40B4-BE49-F238E27FC236}">
                <a16:creationId xmlns:a16="http://schemas.microsoft.com/office/drawing/2014/main" id="{326EF503-0B9A-DADF-559F-0B0DF8103095}"/>
              </a:ext>
            </a:extLst>
          </p:cNvPr>
          <p:cNvSpPr txBox="1"/>
          <p:nvPr/>
        </p:nvSpPr>
        <p:spPr>
          <a:xfrm>
            <a:off x="4309253" y="6313755"/>
            <a:ext cx="6285186" cy="230832"/>
          </a:xfrm>
          <a:prstGeom prst="rect">
            <a:avLst/>
          </a:prstGeom>
          <a:noFill/>
        </p:spPr>
        <p:txBody>
          <a:bodyPr wrap="square" rtlCol="0">
            <a:spAutoFit/>
          </a:bodyPr>
          <a:lstStyle/>
          <a:p>
            <a:r>
              <a:rPr lang="en-US" sz="900" dirty="0"/>
              <a:t>Sources: IMPLAN – Data from 2019 for Guam and CNMII</a:t>
            </a:r>
          </a:p>
        </p:txBody>
      </p:sp>
      <p:sp>
        <p:nvSpPr>
          <p:cNvPr id="6" name="TextBox 5">
            <a:extLst>
              <a:ext uri="{FF2B5EF4-FFF2-40B4-BE49-F238E27FC236}">
                <a16:creationId xmlns:a16="http://schemas.microsoft.com/office/drawing/2014/main" id="{04AAAF64-3DCC-0D6B-2BF5-372AF38B4CD2}"/>
              </a:ext>
            </a:extLst>
          </p:cNvPr>
          <p:cNvSpPr txBox="1"/>
          <p:nvPr/>
        </p:nvSpPr>
        <p:spPr>
          <a:xfrm>
            <a:off x="5408295" y="6018917"/>
            <a:ext cx="6096000" cy="230832"/>
          </a:xfrm>
          <a:prstGeom prst="rect">
            <a:avLst/>
          </a:prstGeom>
          <a:noFill/>
        </p:spPr>
        <p:txBody>
          <a:bodyPr wrap="square">
            <a:spAutoFit/>
          </a:bodyPr>
          <a:lstStyle/>
          <a:p>
            <a:pPr marL="0" indent="0">
              <a:buNone/>
            </a:pPr>
            <a:r>
              <a:rPr lang="en-US" sz="900" b="0" dirty="0"/>
              <a:t>† Government as an industry was excluded from rankings. </a:t>
            </a:r>
          </a:p>
        </p:txBody>
      </p:sp>
    </p:spTree>
    <p:extLst>
      <p:ext uri="{BB962C8B-B14F-4D97-AF65-F5344CB8AC3E}">
        <p14:creationId xmlns:p14="http://schemas.microsoft.com/office/powerpoint/2010/main" val="3072713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CBE11-62A5-7A1D-EB26-26E1B4448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3CBF2-31C7-DEAE-44C2-660E6EA40631}"/>
              </a:ext>
            </a:extLst>
          </p:cNvPr>
          <p:cNvSpPr>
            <a:spLocks noGrp="1"/>
          </p:cNvSpPr>
          <p:nvPr>
            <p:ph type="title"/>
          </p:nvPr>
        </p:nvSpPr>
        <p:spPr>
          <a:xfrm>
            <a:off x="684519" y="909664"/>
            <a:ext cx="10822962" cy="457200"/>
          </a:xfrm>
        </p:spPr>
        <p:txBody>
          <a:bodyPr/>
          <a:lstStyle/>
          <a:p>
            <a:r>
              <a:rPr lang="en-US" sz="3200" dirty="0"/>
              <a:t>Critical Infrastructure &amp; Commodity Flows: Fuel </a:t>
            </a:r>
          </a:p>
        </p:txBody>
      </p:sp>
      <p:sp>
        <p:nvSpPr>
          <p:cNvPr id="4" name="Text Placeholder 3">
            <a:extLst>
              <a:ext uri="{FF2B5EF4-FFF2-40B4-BE49-F238E27FC236}">
                <a16:creationId xmlns:a16="http://schemas.microsoft.com/office/drawing/2014/main" id="{37FF0D9A-2D55-64AD-2E0B-91329A478B80}"/>
              </a:ext>
            </a:extLst>
          </p:cNvPr>
          <p:cNvSpPr>
            <a:spLocks noGrp="1"/>
          </p:cNvSpPr>
          <p:nvPr>
            <p:ph type="body" sz="quarter" idx="14"/>
          </p:nvPr>
        </p:nvSpPr>
        <p:spPr>
          <a:xfrm>
            <a:off x="306877" y="1819735"/>
            <a:ext cx="4941779" cy="4314598"/>
          </a:xfrm>
        </p:spPr>
        <p:txBody>
          <a:bodyPr vert="horz" lIns="91440" tIns="45720" rIns="91440" bIns="45720" rtlCol="0" anchor="t">
            <a:normAutofit fontScale="92500" lnSpcReduction="10000"/>
          </a:bodyPr>
          <a:lstStyle/>
          <a:p>
            <a:r>
              <a:rPr lang="en-US" b="0" dirty="0">
                <a:ea typeface="+mn-lt"/>
                <a:cs typeface="+mn-lt"/>
              </a:rPr>
              <a:t>The Port of Guam moved to Condition X-Ray (Apr 10), with cargo operations slowing and potential escalation to full closure within 24–48 hours. </a:t>
            </a:r>
          </a:p>
          <a:p>
            <a:r>
              <a:rPr lang="en-US" dirty="0"/>
              <a:t>Recent fuel shipments:</a:t>
            </a:r>
          </a:p>
          <a:p>
            <a:pPr marL="742950" lvl="1" indent="-285750">
              <a:buFont typeface="Arial" panose="020B0604020202020204" pitchFamily="34" charset="0"/>
              <a:buChar char="•"/>
            </a:pPr>
            <a:r>
              <a:rPr lang="pt-BR" b="0" dirty="0"/>
              <a:t>Gas Quest — Mar 24 (17:42 ChST)</a:t>
            </a:r>
          </a:p>
          <a:p>
            <a:pPr marL="742950" lvl="1" indent="-285750">
              <a:buFont typeface="Arial" panose="020B0604020202020204" pitchFamily="34" charset="0"/>
              <a:buChar char="•"/>
            </a:pPr>
            <a:r>
              <a:rPr lang="pt-BR" b="0" dirty="0"/>
              <a:t>Ardmore — Mar 26 (21:00 ChST)</a:t>
            </a:r>
            <a:endParaRPr lang="en-US" b="0" dirty="0"/>
          </a:p>
          <a:p>
            <a:r>
              <a:rPr lang="en-US" dirty="0"/>
              <a:t>Next scheduled fuel shipment: </a:t>
            </a:r>
            <a:endParaRPr lang="en-US" b="0" dirty="0"/>
          </a:p>
          <a:p>
            <a:pPr marL="742950" lvl="1" indent="-285750">
              <a:buFont typeface="Arial" panose="020B0604020202020204" pitchFamily="34" charset="0"/>
              <a:buChar char="•"/>
            </a:pPr>
            <a:r>
              <a:rPr lang="en-US" b="0" dirty="0"/>
              <a:t>Zhuo Hang Guang — Apr 18</a:t>
            </a:r>
          </a:p>
          <a:p>
            <a:r>
              <a:rPr lang="en-US" dirty="0"/>
              <a:t>Fuel supply posture: </a:t>
            </a:r>
          </a:p>
          <a:p>
            <a:pPr marL="742950" lvl="1" indent="-285750">
              <a:buFont typeface="Arial" panose="020B0604020202020204" pitchFamily="34" charset="0"/>
              <a:buChar char="•"/>
            </a:pPr>
            <a:r>
              <a:rPr lang="en-US" b="0" dirty="0"/>
              <a:t>~60 days of fuel for power generation (Guam Power Authority planning basis) </a:t>
            </a:r>
          </a:p>
          <a:p>
            <a:r>
              <a:rPr lang="en-US" dirty="0"/>
              <a:t>Key risk: </a:t>
            </a:r>
          </a:p>
          <a:p>
            <a:pPr marL="742950" lvl="1" indent="-285750">
              <a:buFont typeface="Arial" panose="020B0604020202020204" pitchFamily="34" charset="0"/>
              <a:buChar char="•"/>
            </a:pPr>
            <a:r>
              <a:rPr lang="en-US" b="0" dirty="0"/>
              <a:t>No immediate shortage expected; however, missed tanker offload or port closure could delay replenishment and compress distribution timelines</a:t>
            </a:r>
          </a:p>
          <a:p>
            <a:pPr marL="742950" lvl="1" indent="-285750">
              <a:buFont typeface="Arial" panose="020B0604020202020204" pitchFamily="34" charset="0"/>
              <a:buChar char="•"/>
            </a:pPr>
            <a:r>
              <a:rPr lang="en-US" dirty="0">
                <a:ea typeface="+mn-lt"/>
                <a:cs typeface="+mn-lt"/>
              </a:rPr>
              <a:t>Power outages will constrain fuel pumping and distribution.</a:t>
            </a:r>
            <a:endParaRPr lang="en-US" dirty="0"/>
          </a:p>
        </p:txBody>
      </p:sp>
      <p:pic>
        <p:nvPicPr>
          <p:cNvPr id="8" name="Picture 7" descr="A map of a road&#10;&#10;AI-generated content may be incorrect.">
            <a:extLst>
              <a:ext uri="{FF2B5EF4-FFF2-40B4-BE49-F238E27FC236}">
                <a16:creationId xmlns:a16="http://schemas.microsoft.com/office/drawing/2014/main" id="{9D52D4E2-9859-053E-6150-42299CA9BCDE}"/>
              </a:ext>
            </a:extLst>
          </p:cNvPr>
          <p:cNvPicPr>
            <a:picLocks noChangeAspect="1"/>
          </p:cNvPicPr>
          <p:nvPr/>
        </p:nvPicPr>
        <p:blipFill>
          <a:blip r:embed="rId3"/>
          <a:stretch>
            <a:fillRect/>
          </a:stretch>
        </p:blipFill>
        <p:spPr>
          <a:xfrm>
            <a:off x="5393474" y="1614713"/>
            <a:ext cx="6491649" cy="4619832"/>
          </a:xfrm>
          <a:prstGeom prst="rect">
            <a:avLst/>
          </a:prstGeom>
          <a:ln>
            <a:solidFill>
              <a:schemeClr val="tx1"/>
            </a:solidFill>
          </a:ln>
        </p:spPr>
      </p:pic>
      <p:sp>
        <p:nvSpPr>
          <p:cNvPr id="6" name="TextBox 5">
            <a:extLst>
              <a:ext uri="{FF2B5EF4-FFF2-40B4-BE49-F238E27FC236}">
                <a16:creationId xmlns:a16="http://schemas.microsoft.com/office/drawing/2014/main" id="{3F47317C-E5F4-A338-1178-5B1129CFF4AF}"/>
              </a:ext>
            </a:extLst>
          </p:cNvPr>
          <p:cNvSpPr txBox="1"/>
          <p:nvPr/>
        </p:nvSpPr>
        <p:spPr>
          <a:xfrm>
            <a:off x="4309253" y="6313755"/>
            <a:ext cx="6387322" cy="230832"/>
          </a:xfrm>
          <a:prstGeom prst="rect">
            <a:avLst/>
          </a:prstGeom>
          <a:noFill/>
        </p:spPr>
        <p:txBody>
          <a:bodyPr wrap="square" rtlCol="0">
            <a:spAutoFit/>
          </a:bodyPr>
          <a:lstStyle/>
          <a:p>
            <a:r>
              <a:rPr lang="en-US" sz="900" dirty="0"/>
              <a:t>Sources: Port Authority of Guam; U.S. Coast Guard; Vessel AIS (</a:t>
            </a:r>
            <a:r>
              <a:rPr lang="en-US" sz="900" dirty="0" err="1"/>
              <a:t>MarineTraffic</a:t>
            </a:r>
            <a:r>
              <a:rPr lang="en-US" sz="900" dirty="0"/>
              <a:t>/</a:t>
            </a:r>
            <a:r>
              <a:rPr lang="en-US" sz="900" dirty="0" err="1"/>
              <a:t>VesselFinder</a:t>
            </a:r>
            <a:r>
              <a:rPr lang="en-US" sz="900" dirty="0"/>
              <a:t>); DOE Territory Energy Profile – Guam</a:t>
            </a:r>
          </a:p>
        </p:txBody>
      </p:sp>
      <p:sp>
        <p:nvSpPr>
          <p:cNvPr id="7" name="TextBox 6">
            <a:extLst>
              <a:ext uri="{FF2B5EF4-FFF2-40B4-BE49-F238E27FC236}">
                <a16:creationId xmlns:a16="http://schemas.microsoft.com/office/drawing/2014/main" id="{98F02C30-9403-40BD-7402-897BCFD76DF6}"/>
              </a:ext>
            </a:extLst>
          </p:cNvPr>
          <p:cNvSpPr txBox="1"/>
          <p:nvPr/>
        </p:nvSpPr>
        <p:spPr>
          <a:xfrm>
            <a:off x="5393474" y="1635069"/>
            <a:ext cx="1752600" cy="369332"/>
          </a:xfrm>
          <a:prstGeom prst="rect">
            <a:avLst/>
          </a:prstGeom>
          <a:noFill/>
        </p:spPr>
        <p:txBody>
          <a:bodyPr wrap="square" rtlCol="0">
            <a:spAutoFit/>
          </a:bodyPr>
          <a:lstStyle/>
          <a:p>
            <a:r>
              <a:rPr lang="en-US" b="1" dirty="0"/>
              <a:t>Guam</a:t>
            </a:r>
          </a:p>
        </p:txBody>
      </p:sp>
    </p:spTree>
    <p:extLst>
      <p:ext uri="{BB962C8B-B14F-4D97-AF65-F5344CB8AC3E}">
        <p14:creationId xmlns:p14="http://schemas.microsoft.com/office/powerpoint/2010/main" val="81383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7BEBB-58EA-2CF4-2931-9E2FFCA87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E1F72-9E4C-62E6-C956-C9053F95F540}"/>
              </a:ext>
            </a:extLst>
          </p:cNvPr>
          <p:cNvSpPr>
            <a:spLocks noGrp="1"/>
          </p:cNvSpPr>
          <p:nvPr>
            <p:ph type="title"/>
          </p:nvPr>
        </p:nvSpPr>
        <p:spPr>
          <a:xfrm>
            <a:off x="684519" y="894247"/>
            <a:ext cx="10822962" cy="457200"/>
          </a:xfrm>
        </p:spPr>
        <p:txBody>
          <a:bodyPr/>
          <a:lstStyle/>
          <a:p>
            <a:r>
              <a:rPr lang="en-US" sz="3200" dirty="0"/>
              <a:t>Critical Infrastructure &amp; Commodity Flows: Food </a:t>
            </a:r>
          </a:p>
        </p:txBody>
      </p:sp>
      <p:sp>
        <p:nvSpPr>
          <p:cNvPr id="5" name="TextBox 4">
            <a:extLst>
              <a:ext uri="{FF2B5EF4-FFF2-40B4-BE49-F238E27FC236}">
                <a16:creationId xmlns:a16="http://schemas.microsoft.com/office/drawing/2014/main" id="{8E370DC6-25BE-2FD1-422A-3A52F886D0E7}"/>
              </a:ext>
            </a:extLst>
          </p:cNvPr>
          <p:cNvSpPr txBox="1"/>
          <p:nvPr/>
        </p:nvSpPr>
        <p:spPr>
          <a:xfrm>
            <a:off x="10312977" y="313413"/>
            <a:ext cx="1512274"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a:t>BEAD Tier 1 Report</a:t>
            </a:r>
          </a:p>
        </p:txBody>
      </p:sp>
      <p:pic>
        <p:nvPicPr>
          <p:cNvPr id="8" name="Picture 7">
            <a:extLst>
              <a:ext uri="{FF2B5EF4-FFF2-40B4-BE49-F238E27FC236}">
                <a16:creationId xmlns:a16="http://schemas.microsoft.com/office/drawing/2014/main" id="{8242ED30-5A3A-B099-64DF-C92A251DB22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65233" y="1728216"/>
            <a:ext cx="6338762" cy="4482500"/>
          </a:xfrm>
          <a:prstGeom prst="rect">
            <a:avLst/>
          </a:prstGeom>
          <a:ln>
            <a:solidFill>
              <a:schemeClr val="tx1"/>
            </a:solidFill>
          </a:ln>
        </p:spPr>
      </p:pic>
      <p:sp>
        <p:nvSpPr>
          <p:cNvPr id="10" name="Text Placeholder 3">
            <a:extLst>
              <a:ext uri="{FF2B5EF4-FFF2-40B4-BE49-F238E27FC236}">
                <a16:creationId xmlns:a16="http://schemas.microsoft.com/office/drawing/2014/main" id="{EB2CA4BC-9193-13D9-04AD-CAEF68D975AB}"/>
              </a:ext>
            </a:extLst>
          </p:cNvPr>
          <p:cNvSpPr txBox="1">
            <a:spLocks noGrp="1"/>
          </p:cNvSpPr>
          <p:nvPr>
            <p:ph type="body" sz="quarter" idx="14"/>
          </p:nvPr>
        </p:nvSpPr>
        <p:spPr>
          <a:xfrm>
            <a:off x="365125" y="1817688"/>
            <a:ext cx="5002213" cy="4141787"/>
          </a:xfrm>
          <a:prstGeom prst="rect">
            <a:avLst/>
          </a:prstGeom>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dirty="0">
                <a:ea typeface="+mn-lt"/>
                <a:cs typeface="+mn-lt"/>
              </a:rPr>
              <a:t>Guam’s food supply is primarily maritime, with most goods arriving from the U.S. mainland via scheduled container service</a:t>
            </a:r>
          </a:p>
          <a:p>
            <a:r>
              <a:rPr lang="en-US" dirty="0"/>
              <a:t>Recent food shipments:</a:t>
            </a:r>
            <a:endParaRPr lang="en-US" b="0" dirty="0">
              <a:ea typeface="+mn-lt"/>
              <a:cs typeface="+mn-lt"/>
            </a:endParaRPr>
          </a:p>
          <a:p>
            <a:pPr marL="742950" lvl="1" indent="-285750">
              <a:buFont typeface="Arial" panose="020B0604020202020204" pitchFamily="34" charset="0"/>
              <a:buChar char="•"/>
            </a:pPr>
            <a:r>
              <a:rPr lang="en-US" dirty="0"/>
              <a:t>APL Islander — Apr 6 (07:28 </a:t>
            </a:r>
            <a:r>
              <a:rPr lang="en-US" dirty="0" err="1"/>
              <a:t>ChST</a:t>
            </a:r>
            <a:r>
              <a:rPr lang="en-US" dirty="0"/>
              <a:t>)</a:t>
            </a:r>
          </a:p>
          <a:p>
            <a:pPr marL="742950" lvl="1" indent="-285750">
              <a:buFont typeface="Arial" panose="020B0604020202020204" pitchFamily="34" charset="0"/>
              <a:buChar char="•"/>
            </a:pPr>
            <a:r>
              <a:rPr lang="en-US" dirty="0"/>
              <a:t>Kaimana Hila (Matson) — Apr 7 (20:48 </a:t>
            </a:r>
            <a:r>
              <a:rPr lang="en-US" dirty="0" err="1"/>
              <a:t>ChST</a:t>
            </a:r>
            <a:r>
              <a:rPr lang="en-US" dirty="0"/>
              <a:t>)</a:t>
            </a:r>
          </a:p>
          <a:p>
            <a:r>
              <a:rPr lang="en-US" dirty="0"/>
              <a:t>Next scheduled food shipment: </a:t>
            </a:r>
          </a:p>
          <a:p>
            <a:pPr marL="742950" lvl="1" indent="-285750">
              <a:buFont typeface="Arial" panose="020B0604020202020204" pitchFamily="34" charset="0"/>
              <a:buChar char="•"/>
            </a:pPr>
            <a:r>
              <a:rPr lang="en-US" dirty="0"/>
              <a:t>APL container service — Apr 12</a:t>
            </a:r>
          </a:p>
          <a:p>
            <a:pPr marL="742950" lvl="1" indent="-285750">
              <a:buFont typeface="Arial" panose="020B0604020202020204" pitchFamily="34" charset="0"/>
              <a:buChar char="•"/>
            </a:pPr>
            <a:r>
              <a:rPr lang="en-US" dirty="0"/>
              <a:t>APL container service — Apr 19</a:t>
            </a:r>
          </a:p>
          <a:p>
            <a:pPr marL="742950" lvl="1" indent="-285750">
              <a:buFont typeface="Arial" panose="020B0604020202020204" pitchFamily="34" charset="0"/>
              <a:buChar char="•"/>
            </a:pPr>
            <a:r>
              <a:rPr lang="en-US" dirty="0"/>
              <a:t>Matson weekly service (Tuesday rotation)</a:t>
            </a:r>
          </a:p>
          <a:p>
            <a:r>
              <a:rPr lang="en-US" dirty="0"/>
              <a:t>Food supply posture: </a:t>
            </a:r>
          </a:p>
          <a:p>
            <a:pPr marL="742950" lvl="1" indent="-285750">
              <a:buFont typeface="Arial" panose="020B0604020202020204" pitchFamily="34" charset="0"/>
              <a:buChar char="•"/>
            </a:pPr>
            <a:r>
              <a:rPr lang="en-US" dirty="0"/>
              <a:t>~2 weeks on-island inventory, supported by weekly container shipments</a:t>
            </a:r>
          </a:p>
          <a:p>
            <a:r>
              <a:rPr lang="en-US" dirty="0"/>
              <a:t>Key risk: </a:t>
            </a:r>
          </a:p>
          <a:p>
            <a:pPr marL="742950" lvl="1" indent="-285750">
              <a:buFont typeface="Arial" panose="020B0604020202020204" pitchFamily="34" charset="0"/>
              <a:buChar char="•"/>
            </a:pPr>
            <a:r>
              <a:rPr lang="en-US" dirty="0"/>
              <a:t>Missed vessel offload window due to port conditions</a:t>
            </a:r>
          </a:p>
          <a:p>
            <a:pPr marL="742950" lvl="1" indent="-285750">
              <a:buFont typeface="Arial" panose="020B0604020202020204" pitchFamily="34" charset="0"/>
              <a:buChar char="•"/>
            </a:pPr>
            <a:r>
              <a:rPr lang="en-US" dirty="0"/>
              <a:t>Retail restocking delays, even with adequate bulk supply</a:t>
            </a:r>
          </a:p>
          <a:p>
            <a:pPr marL="742950" lvl="1" indent="-285750">
              <a:buFont typeface="Arial" panose="020B0604020202020204" pitchFamily="34" charset="0"/>
              <a:buChar char="•"/>
            </a:pPr>
            <a:r>
              <a:rPr lang="en-US" dirty="0"/>
              <a:t>Power outages → spoilage risk for refrigerated goods</a:t>
            </a:r>
          </a:p>
        </p:txBody>
      </p:sp>
      <p:sp>
        <p:nvSpPr>
          <p:cNvPr id="4" name="TextBox 3">
            <a:extLst>
              <a:ext uri="{FF2B5EF4-FFF2-40B4-BE49-F238E27FC236}">
                <a16:creationId xmlns:a16="http://schemas.microsoft.com/office/drawing/2014/main" id="{DABDAE7D-9844-D111-8AD2-0DC69930BA1D}"/>
              </a:ext>
            </a:extLst>
          </p:cNvPr>
          <p:cNvSpPr txBox="1"/>
          <p:nvPr/>
        </p:nvSpPr>
        <p:spPr>
          <a:xfrm>
            <a:off x="4309253" y="6313755"/>
            <a:ext cx="6285186" cy="369332"/>
          </a:xfrm>
          <a:prstGeom prst="rect">
            <a:avLst/>
          </a:prstGeom>
          <a:noFill/>
        </p:spPr>
        <p:txBody>
          <a:bodyPr wrap="square" rtlCol="0">
            <a:spAutoFit/>
          </a:bodyPr>
          <a:lstStyle/>
          <a:p>
            <a:r>
              <a:rPr lang="en-US" sz="900" dirty="0"/>
              <a:t>Sources: APL Shipping Schedules; Matson Guam Service; Vessel AIS (</a:t>
            </a:r>
            <a:r>
              <a:rPr lang="en-US" sz="900" dirty="0" err="1"/>
              <a:t>MarineTraffic</a:t>
            </a:r>
            <a:r>
              <a:rPr lang="en-US" sz="900" dirty="0"/>
              <a:t>/</a:t>
            </a:r>
            <a:r>
              <a:rPr lang="en-US" sz="900" dirty="0" err="1"/>
              <a:t>VesselFinder</a:t>
            </a:r>
            <a:r>
              <a:rPr lang="en-US" sz="900" dirty="0"/>
              <a:t>); Guam SCAN Baseline Assessment</a:t>
            </a:r>
          </a:p>
        </p:txBody>
      </p:sp>
      <p:sp>
        <p:nvSpPr>
          <p:cNvPr id="6" name="TextBox 5">
            <a:extLst>
              <a:ext uri="{FF2B5EF4-FFF2-40B4-BE49-F238E27FC236}">
                <a16:creationId xmlns:a16="http://schemas.microsoft.com/office/drawing/2014/main" id="{AA8DE22C-A06F-ED15-C306-69DD9B70B3E7}"/>
              </a:ext>
            </a:extLst>
          </p:cNvPr>
          <p:cNvSpPr txBox="1"/>
          <p:nvPr/>
        </p:nvSpPr>
        <p:spPr>
          <a:xfrm>
            <a:off x="5743575" y="1817688"/>
            <a:ext cx="1752600" cy="369332"/>
          </a:xfrm>
          <a:prstGeom prst="rect">
            <a:avLst/>
          </a:prstGeom>
          <a:noFill/>
        </p:spPr>
        <p:txBody>
          <a:bodyPr wrap="square" rtlCol="0">
            <a:spAutoFit/>
          </a:bodyPr>
          <a:lstStyle/>
          <a:p>
            <a:r>
              <a:rPr lang="en-US" b="1" dirty="0"/>
              <a:t>Guam</a:t>
            </a:r>
          </a:p>
        </p:txBody>
      </p:sp>
    </p:spTree>
    <p:extLst>
      <p:ext uri="{BB962C8B-B14F-4D97-AF65-F5344CB8AC3E}">
        <p14:creationId xmlns:p14="http://schemas.microsoft.com/office/powerpoint/2010/main" val="3453212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EDB2F-8FE1-9BA8-5B57-EE6B6DB18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1F2A91-F60B-2458-DF89-086D7AF363FD}"/>
              </a:ext>
            </a:extLst>
          </p:cNvPr>
          <p:cNvSpPr>
            <a:spLocks noGrp="1"/>
          </p:cNvSpPr>
          <p:nvPr>
            <p:ph type="title"/>
          </p:nvPr>
        </p:nvSpPr>
        <p:spPr>
          <a:xfrm>
            <a:off x="684519" y="913960"/>
            <a:ext cx="10822962" cy="457200"/>
          </a:xfrm>
        </p:spPr>
        <p:txBody>
          <a:bodyPr/>
          <a:lstStyle/>
          <a:p>
            <a:r>
              <a:rPr lang="en-US" sz="3200" dirty="0"/>
              <a:t>Ripple Forecast: Guam</a:t>
            </a:r>
          </a:p>
        </p:txBody>
      </p:sp>
      <p:pic>
        <p:nvPicPr>
          <p:cNvPr id="7" name="Content Placeholder 6">
            <a:extLst>
              <a:ext uri="{FF2B5EF4-FFF2-40B4-BE49-F238E27FC236}">
                <a16:creationId xmlns:a16="http://schemas.microsoft.com/office/drawing/2014/main" id="{14B3995E-5242-BA5F-F9FF-F8192D6CC884}"/>
              </a:ext>
            </a:extLst>
          </p:cNvPr>
          <p:cNvPicPr>
            <a:picLocks noGrp="1" noChangeAspect="1"/>
          </p:cNvPicPr>
          <p:nvPr>
            <p:ph sz="quarter" idx="13"/>
          </p:nvPr>
        </p:nvPicPr>
        <p:blipFill>
          <a:blip r:embed="rId3"/>
          <a:stretch>
            <a:fillRect/>
          </a:stretch>
        </p:blipFill>
        <p:spPr>
          <a:xfrm>
            <a:off x="7930855" y="913960"/>
            <a:ext cx="2861131" cy="3814840"/>
          </a:xfrm>
          <a:prstGeom prst="rect">
            <a:avLst/>
          </a:prstGeom>
          <a:ln>
            <a:solidFill>
              <a:schemeClr val="bg1"/>
            </a:solidFill>
          </a:ln>
        </p:spPr>
      </p:pic>
      <p:sp>
        <p:nvSpPr>
          <p:cNvPr id="9" name="TextBox 8">
            <a:extLst>
              <a:ext uri="{FF2B5EF4-FFF2-40B4-BE49-F238E27FC236}">
                <a16:creationId xmlns:a16="http://schemas.microsoft.com/office/drawing/2014/main" id="{49E39F5C-2DDE-86A0-A004-8CD086A47263}"/>
              </a:ext>
            </a:extLst>
          </p:cNvPr>
          <p:cNvSpPr txBox="1"/>
          <p:nvPr/>
        </p:nvSpPr>
        <p:spPr>
          <a:xfrm>
            <a:off x="7770191" y="4728800"/>
            <a:ext cx="4295394" cy="276999"/>
          </a:xfrm>
          <a:prstGeom prst="rect">
            <a:avLst/>
          </a:prstGeom>
          <a:noFill/>
        </p:spPr>
        <p:txBody>
          <a:bodyPr wrap="square">
            <a:spAutoFit/>
          </a:bodyPr>
          <a:lstStyle/>
          <a:p>
            <a:r>
              <a:rPr lang="en-US" sz="1200" b="1" u="sng" dirty="0"/>
              <a:t>Sea Shipping Transit Times to Travel to Guam:</a:t>
            </a:r>
          </a:p>
        </p:txBody>
      </p:sp>
      <p:graphicFrame>
        <p:nvGraphicFramePr>
          <p:cNvPr id="10" name="Table 9">
            <a:extLst>
              <a:ext uri="{FF2B5EF4-FFF2-40B4-BE49-F238E27FC236}">
                <a16:creationId xmlns:a16="http://schemas.microsoft.com/office/drawing/2014/main" id="{2C8F01C1-A4B2-9CE1-22BF-A26D0C7A1774}"/>
              </a:ext>
            </a:extLst>
          </p:cNvPr>
          <p:cNvGraphicFramePr>
            <a:graphicFrameLocks noGrp="1"/>
          </p:cNvGraphicFramePr>
          <p:nvPr>
            <p:extLst>
              <p:ext uri="{D42A27DB-BD31-4B8C-83A1-F6EECF244321}">
                <p14:modId xmlns:p14="http://schemas.microsoft.com/office/powerpoint/2010/main" val="1623004900"/>
              </p:ext>
            </p:extLst>
          </p:nvPr>
        </p:nvGraphicFramePr>
        <p:xfrm>
          <a:off x="7779335" y="5056103"/>
          <a:ext cx="3181342" cy="1097280"/>
        </p:xfrm>
        <a:graphic>
          <a:graphicData uri="http://schemas.openxmlformats.org/drawingml/2006/table">
            <a:tbl>
              <a:tblPr>
                <a:tableStyleId>{BC89EF96-8CEA-46FF-86C4-4CE0E7609802}</a:tableStyleId>
              </a:tblPr>
              <a:tblGrid>
                <a:gridCol w="1359963">
                  <a:extLst>
                    <a:ext uri="{9D8B030D-6E8A-4147-A177-3AD203B41FA5}">
                      <a16:colId xmlns:a16="http://schemas.microsoft.com/office/drawing/2014/main" val="3768080010"/>
                    </a:ext>
                  </a:extLst>
                </a:gridCol>
                <a:gridCol w="1821379">
                  <a:extLst>
                    <a:ext uri="{9D8B030D-6E8A-4147-A177-3AD203B41FA5}">
                      <a16:colId xmlns:a16="http://schemas.microsoft.com/office/drawing/2014/main" val="2301795304"/>
                    </a:ext>
                  </a:extLst>
                </a:gridCol>
              </a:tblGrid>
              <a:tr h="180313">
                <a:tc>
                  <a:txBody>
                    <a:bodyPr/>
                    <a:lstStyle/>
                    <a:p>
                      <a:pPr>
                        <a:buNone/>
                      </a:pPr>
                      <a:r>
                        <a:rPr lang="en-US" sz="1200" b="1" dirty="0">
                          <a:solidFill>
                            <a:schemeClr val="bg1"/>
                          </a:solidFill>
                        </a:rPr>
                        <a:t>Origin</a:t>
                      </a:r>
                      <a:endParaRPr lang="en-US" sz="1200" dirty="0">
                        <a:solidFill>
                          <a:schemeClr val="bg1"/>
                        </a:solidFill>
                      </a:endParaRPr>
                    </a:p>
                  </a:txBody>
                  <a:tcPr anchor="ctr">
                    <a:solidFill>
                      <a:srgbClr val="005188"/>
                    </a:solidFill>
                  </a:tcPr>
                </a:tc>
                <a:tc>
                  <a:txBody>
                    <a:bodyPr/>
                    <a:lstStyle/>
                    <a:p>
                      <a:pPr>
                        <a:buNone/>
                      </a:pPr>
                      <a:r>
                        <a:rPr lang="en-US" sz="1200" b="1" dirty="0">
                          <a:solidFill>
                            <a:schemeClr val="bg1"/>
                          </a:solidFill>
                        </a:rPr>
                        <a:t>Transit Time to Guam</a:t>
                      </a:r>
                      <a:endParaRPr lang="en-US" sz="1200" dirty="0">
                        <a:solidFill>
                          <a:schemeClr val="bg1"/>
                        </a:solidFill>
                      </a:endParaRPr>
                    </a:p>
                  </a:txBody>
                  <a:tcPr anchor="ctr">
                    <a:solidFill>
                      <a:srgbClr val="005188"/>
                    </a:solidFill>
                  </a:tcPr>
                </a:tc>
                <a:extLst>
                  <a:ext uri="{0D108BD9-81ED-4DB2-BD59-A6C34878D82A}">
                    <a16:rowId xmlns:a16="http://schemas.microsoft.com/office/drawing/2014/main" val="1772398897"/>
                  </a:ext>
                </a:extLst>
              </a:tr>
              <a:tr h="180313">
                <a:tc>
                  <a:txBody>
                    <a:bodyPr/>
                    <a:lstStyle/>
                    <a:p>
                      <a:pPr>
                        <a:buNone/>
                      </a:pPr>
                      <a:r>
                        <a:rPr lang="en-US" sz="1200" dirty="0"/>
                        <a:t>Asia</a:t>
                      </a:r>
                    </a:p>
                  </a:txBody>
                  <a:tcPr anchor="ctr"/>
                </a:tc>
                <a:tc>
                  <a:txBody>
                    <a:bodyPr/>
                    <a:lstStyle/>
                    <a:p>
                      <a:pPr>
                        <a:buNone/>
                      </a:pPr>
                      <a:r>
                        <a:rPr lang="en-US" sz="1200" dirty="0"/>
                        <a:t>4–6 days</a:t>
                      </a:r>
                    </a:p>
                  </a:txBody>
                  <a:tcPr anchor="ctr"/>
                </a:tc>
                <a:extLst>
                  <a:ext uri="{0D108BD9-81ED-4DB2-BD59-A6C34878D82A}">
                    <a16:rowId xmlns:a16="http://schemas.microsoft.com/office/drawing/2014/main" val="1634663628"/>
                  </a:ext>
                </a:extLst>
              </a:tr>
              <a:tr h="180313">
                <a:tc>
                  <a:txBody>
                    <a:bodyPr/>
                    <a:lstStyle/>
                    <a:p>
                      <a:pPr>
                        <a:buNone/>
                      </a:pPr>
                      <a:r>
                        <a:rPr lang="en-US" sz="1200" dirty="0"/>
                        <a:t>Hawaiʻi</a:t>
                      </a:r>
                    </a:p>
                  </a:txBody>
                  <a:tcPr anchor="ctr">
                    <a:solidFill>
                      <a:schemeClr val="tx2">
                        <a:lumMod val="10000"/>
                        <a:lumOff val="90000"/>
                      </a:schemeClr>
                    </a:solidFill>
                  </a:tcPr>
                </a:tc>
                <a:tc>
                  <a:txBody>
                    <a:bodyPr/>
                    <a:lstStyle/>
                    <a:p>
                      <a:pPr>
                        <a:buNone/>
                      </a:pPr>
                      <a:r>
                        <a:rPr lang="en-US" sz="1200" dirty="0"/>
                        <a:t>7 days</a:t>
                      </a:r>
                    </a:p>
                  </a:txBody>
                  <a:tcPr anchor="ctr">
                    <a:solidFill>
                      <a:schemeClr val="tx2">
                        <a:lumMod val="10000"/>
                        <a:lumOff val="90000"/>
                      </a:schemeClr>
                    </a:solidFill>
                  </a:tcPr>
                </a:tc>
                <a:extLst>
                  <a:ext uri="{0D108BD9-81ED-4DB2-BD59-A6C34878D82A}">
                    <a16:rowId xmlns:a16="http://schemas.microsoft.com/office/drawing/2014/main" val="3747841139"/>
                  </a:ext>
                </a:extLst>
              </a:tr>
              <a:tr h="180313">
                <a:tc>
                  <a:txBody>
                    <a:bodyPr/>
                    <a:lstStyle/>
                    <a:p>
                      <a:pPr>
                        <a:buNone/>
                      </a:pPr>
                      <a:r>
                        <a:rPr lang="en-US" sz="1200" dirty="0"/>
                        <a:t>West Coast (U.S.)</a:t>
                      </a:r>
                    </a:p>
                  </a:txBody>
                  <a:tcPr anchor="ctr"/>
                </a:tc>
                <a:tc>
                  <a:txBody>
                    <a:bodyPr/>
                    <a:lstStyle/>
                    <a:p>
                      <a:pPr>
                        <a:buNone/>
                      </a:pPr>
                      <a:r>
                        <a:rPr lang="en-US" sz="1200" dirty="0"/>
                        <a:t>13 days</a:t>
                      </a:r>
                    </a:p>
                  </a:txBody>
                  <a:tcPr anchor="ctr"/>
                </a:tc>
                <a:extLst>
                  <a:ext uri="{0D108BD9-81ED-4DB2-BD59-A6C34878D82A}">
                    <a16:rowId xmlns:a16="http://schemas.microsoft.com/office/drawing/2014/main" val="2381475809"/>
                  </a:ext>
                </a:extLst>
              </a:tr>
            </a:tbl>
          </a:graphicData>
        </a:graphic>
      </p:graphicFrame>
      <p:sp>
        <p:nvSpPr>
          <p:cNvPr id="3" name="TextBox 2">
            <a:extLst>
              <a:ext uri="{FF2B5EF4-FFF2-40B4-BE49-F238E27FC236}">
                <a16:creationId xmlns:a16="http://schemas.microsoft.com/office/drawing/2014/main" id="{431867D6-B1F2-9AFC-D51D-6224B808CB7C}"/>
              </a:ext>
            </a:extLst>
          </p:cNvPr>
          <p:cNvSpPr txBox="1"/>
          <p:nvPr/>
        </p:nvSpPr>
        <p:spPr>
          <a:xfrm>
            <a:off x="4309253" y="6313755"/>
            <a:ext cx="6285186" cy="230832"/>
          </a:xfrm>
          <a:prstGeom prst="rect">
            <a:avLst/>
          </a:prstGeom>
          <a:noFill/>
        </p:spPr>
        <p:txBody>
          <a:bodyPr wrap="square" rtlCol="0">
            <a:spAutoFit/>
          </a:bodyPr>
          <a:lstStyle/>
          <a:p>
            <a:r>
              <a:rPr lang="en-US" sz="900" dirty="0"/>
              <a:t>Sources: Guam Power Authority; Guam SCAN Baseline Assessment; Port Authority of Guam</a:t>
            </a:r>
          </a:p>
        </p:txBody>
      </p:sp>
      <p:sp>
        <p:nvSpPr>
          <p:cNvPr id="6" name="Text Placeholder 3">
            <a:extLst>
              <a:ext uri="{FF2B5EF4-FFF2-40B4-BE49-F238E27FC236}">
                <a16:creationId xmlns:a16="http://schemas.microsoft.com/office/drawing/2014/main" id="{215F633D-5050-572E-4CF9-4915A6899B73}"/>
              </a:ext>
            </a:extLst>
          </p:cNvPr>
          <p:cNvSpPr txBox="1">
            <a:spLocks/>
          </p:cNvSpPr>
          <p:nvPr/>
        </p:nvSpPr>
        <p:spPr>
          <a:xfrm>
            <a:off x="195960" y="1719268"/>
            <a:ext cx="7404990" cy="4496067"/>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Supply Chain Context</a:t>
            </a:r>
          </a:p>
          <a:p>
            <a:r>
              <a:rPr lang="en-US" b="0" dirty="0"/>
              <a:t>Guam’s food and fuel supply is fully dependent on maritime imports through a single port </a:t>
            </a:r>
          </a:p>
          <a:p>
            <a:r>
              <a:rPr lang="en-US" b="0" dirty="0"/>
              <a:t>Shipments operate on fixed weekly cycles with limited surge capacity </a:t>
            </a:r>
          </a:p>
          <a:p>
            <a:r>
              <a:rPr lang="en-US" b="0" dirty="0"/>
              <a:t>Power and communications systems are critical enablers of distribution and commerce </a:t>
            </a:r>
          </a:p>
          <a:p>
            <a:r>
              <a:rPr lang="en-US" b="0" dirty="0"/>
              <a:t>Missed/delayed port deliveries and utility outages will provide the most risk and should be closely monitored</a:t>
            </a:r>
          </a:p>
          <a:p>
            <a:pPr marL="0" indent="0">
              <a:buFont typeface="Arial" panose="020B0604020202020204" pitchFamily="34" charset="0"/>
              <a:buNone/>
            </a:pPr>
            <a:r>
              <a:rPr lang="en-US" dirty="0"/>
              <a:t>Potential Impact Timeline</a:t>
            </a:r>
          </a:p>
          <a:p>
            <a:r>
              <a:rPr lang="en-US" dirty="0"/>
              <a:t>0–3 Days (During Storm / Immediate Aftermath)</a:t>
            </a:r>
          </a:p>
          <a:p>
            <a:pPr marL="742950" lvl="1" indent="-285750">
              <a:buFont typeface="Arial" panose="020B0604020202020204" pitchFamily="34" charset="0"/>
              <a:buChar char="•"/>
            </a:pPr>
            <a:r>
              <a:rPr lang="en-US" dirty="0"/>
              <a:t>Port operations paused or restricted </a:t>
            </a:r>
          </a:p>
          <a:p>
            <a:pPr marL="742950" lvl="1" indent="-285750">
              <a:buFont typeface="Arial" panose="020B0604020202020204" pitchFamily="34" charset="0"/>
              <a:buChar char="•"/>
            </a:pPr>
            <a:r>
              <a:rPr lang="en-US" dirty="0"/>
              <a:t>Widespread power outages and communications disruption </a:t>
            </a:r>
          </a:p>
          <a:p>
            <a:pPr marL="742950" lvl="1" indent="-285750">
              <a:buFont typeface="Arial" panose="020B0604020202020204" pitchFamily="34" charset="0"/>
              <a:buChar char="•"/>
            </a:pPr>
            <a:r>
              <a:rPr lang="en-US" dirty="0"/>
              <a:t>Initial breakdown in fuel distribution and retail operations </a:t>
            </a:r>
          </a:p>
          <a:p>
            <a:r>
              <a:rPr lang="en-US" dirty="0"/>
              <a:t>3–7 Days (Early Recovery)</a:t>
            </a:r>
          </a:p>
          <a:p>
            <a:pPr marL="742950" lvl="1" indent="-285750">
              <a:buFont typeface="Arial" panose="020B0604020202020204" pitchFamily="34" charset="0"/>
              <a:buChar char="•"/>
            </a:pPr>
            <a:r>
              <a:rPr lang="en-US" dirty="0"/>
              <a:t>Port reopens, but cargo backlog and throughput constraints delay distribution </a:t>
            </a:r>
          </a:p>
          <a:p>
            <a:pPr marL="742950" lvl="1" indent="-285750">
              <a:buFont typeface="Arial" panose="020B0604020202020204" pitchFamily="34" charset="0"/>
              <a:buChar char="•"/>
            </a:pPr>
            <a:r>
              <a:rPr lang="en-US" dirty="0"/>
              <a:t>Communications outages limit coordination (fuel dispatch, trucking, retail restocking) </a:t>
            </a:r>
          </a:p>
          <a:p>
            <a:pPr marL="742950" lvl="1" indent="-285750">
              <a:buFont typeface="Arial" panose="020B0604020202020204" pitchFamily="34" charset="0"/>
              <a:buChar char="•"/>
            </a:pPr>
            <a:r>
              <a:rPr lang="en-US" dirty="0"/>
              <a:t>Fuel and food remain on-island, but access and distribution are constrained </a:t>
            </a:r>
          </a:p>
          <a:p>
            <a:r>
              <a:rPr lang="en-US" dirty="0"/>
              <a:t>7+ Days (Sustained Disruption Scenario)</a:t>
            </a:r>
          </a:p>
          <a:p>
            <a:pPr marL="742950" lvl="1" indent="-285750">
              <a:buFont typeface="Arial" panose="020B0604020202020204" pitchFamily="34" charset="0"/>
              <a:buChar char="•"/>
            </a:pPr>
            <a:r>
              <a:rPr lang="en-US" dirty="0"/>
              <a:t>Missed or delayed shipments begin to compress supply buffers </a:t>
            </a:r>
          </a:p>
          <a:p>
            <a:pPr marL="742950" lvl="1" indent="-285750">
              <a:buFont typeface="Arial" panose="020B0604020202020204" pitchFamily="34" charset="0"/>
              <a:buChar char="•"/>
            </a:pPr>
            <a:r>
              <a:rPr lang="en-US" dirty="0"/>
              <a:t>Prolonged outages drive spoilage, payment disruption, and reduced business activity </a:t>
            </a:r>
          </a:p>
          <a:p>
            <a:pPr marL="742950" lvl="1" indent="-285750">
              <a:buFont typeface="Arial" panose="020B0604020202020204" pitchFamily="34" charset="0"/>
              <a:buChar char="•"/>
            </a:pPr>
            <a:r>
              <a:rPr lang="en-US" dirty="0"/>
              <a:t>Recovery dependent on power restoration, port throughput, and incoming vessel schedules </a:t>
            </a:r>
          </a:p>
        </p:txBody>
      </p:sp>
    </p:spTree>
    <p:extLst>
      <p:ext uri="{BB962C8B-B14F-4D97-AF65-F5344CB8AC3E}">
        <p14:creationId xmlns:p14="http://schemas.microsoft.com/office/powerpoint/2010/main" val="2199640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3EB03-23E3-9509-85D7-1DAC7BCCC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49776-3FE1-060B-CE58-618C1AB0597F}"/>
              </a:ext>
            </a:extLst>
          </p:cNvPr>
          <p:cNvSpPr>
            <a:spLocks noGrp="1"/>
          </p:cNvSpPr>
          <p:nvPr>
            <p:ph type="title"/>
          </p:nvPr>
        </p:nvSpPr>
        <p:spPr>
          <a:xfrm>
            <a:off x="684519" y="910681"/>
            <a:ext cx="10822962" cy="457200"/>
          </a:xfrm>
        </p:spPr>
        <p:txBody>
          <a:bodyPr/>
          <a:lstStyle/>
          <a:p>
            <a:r>
              <a:rPr lang="en-US" sz="3200" dirty="0">
                <a:latin typeface="Franklin Gothic Heavy"/>
              </a:rPr>
              <a:t>Socio-Economic Profile: Guam</a:t>
            </a:r>
            <a:endParaRPr lang="en-US" dirty="0"/>
          </a:p>
        </p:txBody>
      </p:sp>
      <p:sp>
        <p:nvSpPr>
          <p:cNvPr id="4" name="Text Placeholder 3">
            <a:extLst>
              <a:ext uri="{FF2B5EF4-FFF2-40B4-BE49-F238E27FC236}">
                <a16:creationId xmlns:a16="http://schemas.microsoft.com/office/drawing/2014/main" id="{2F5C83F9-A885-91B3-702A-20BBDD83391D}"/>
              </a:ext>
            </a:extLst>
          </p:cNvPr>
          <p:cNvSpPr>
            <a:spLocks noGrp="1"/>
          </p:cNvSpPr>
          <p:nvPr>
            <p:ph type="body" sz="quarter" idx="14"/>
          </p:nvPr>
        </p:nvSpPr>
        <p:spPr/>
        <p:txBody>
          <a:bodyPr vert="horz" lIns="91440" tIns="45720" rIns="91440" bIns="45720" rtlCol="0" anchor="t">
            <a:normAutofit/>
          </a:bodyPr>
          <a:lstStyle/>
          <a:p>
            <a:r>
              <a:rPr lang="en-US" b="0" dirty="0"/>
              <a:t>Guam’s population is moderately vulnerable to prolonged disruption, with economic and demographic factors that increase sensitivity to power outages, supply chain interruptions, and delayed recovery timelines</a:t>
            </a:r>
          </a:p>
          <a:p>
            <a:r>
              <a:rPr lang="en-US" b="0" dirty="0"/>
              <a:t>The 2019 Median Household Income was $58,289, compared to $81,604 nationally. *</a:t>
            </a:r>
          </a:p>
          <a:p>
            <a:r>
              <a:rPr lang="en-US" b="0" dirty="0"/>
              <a:t>16.8% of families have income that falls below the poverty level.*</a:t>
            </a:r>
          </a:p>
          <a:p>
            <a:r>
              <a:rPr lang="en-US" b="0" dirty="0"/>
              <a:t>7.7% of households earn less than $10,000, and 20.1% earn less than $25,000*</a:t>
            </a:r>
          </a:p>
          <a:p>
            <a:r>
              <a:rPr lang="en-US" b="0" dirty="0"/>
              <a:t>20,836 Renter - occupied housing units (48% of all housing units)*</a:t>
            </a:r>
          </a:p>
          <a:p>
            <a:r>
              <a:rPr lang="en-US" b="0" dirty="0"/>
              <a:t>411 Mobile homes (0.8% of all housing units)*</a:t>
            </a:r>
          </a:p>
        </p:txBody>
      </p:sp>
      <p:graphicFrame>
        <p:nvGraphicFramePr>
          <p:cNvPr id="7" name="Table 6">
            <a:extLst>
              <a:ext uri="{FF2B5EF4-FFF2-40B4-BE49-F238E27FC236}">
                <a16:creationId xmlns:a16="http://schemas.microsoft.com/office/drawing/2014/main" id="{46E25EB4-7F20-76E0-6A92-798F17976FE6}"/>
              </a:ext>
            </a:extLst>
          </p:cNvPr>
          <p:cNvGraphicFramePr>
            <a:graphicFrameLocks noGrp="1"/>
          </p:cNvGraphicFramePr>
          <p:nvPr>
            <p:extLst>
              <p:ext uri="{D42A27DB-BD31-4B8C-83A1-F6EECF244321}">
                <p14:modId xmlns:p14="http://schemas.microsoft.com/office/powerpoint/2010/main" val="3816797074"/>
              </p:ext>
            </p:extLst>
          </p:nvPr>
        </p:nvGraphicFramePr>
        <p:xfrm>
          <a:off x="6236208" y="1928316"/>
          <a:ext cx="5449824" cy="3707032"/>
        </p:xfrm>
        <a:graphic>
          <a:graphicData uri="http://schemas.openxmlformats.org/drawingml/2006/table">
            <a:tbl>
              <a:tblPr bandRow="1">
                <a:tableStyleId>{69012ECD-51FC-41F1-AA8D-1B2483CD663E}</a:tableStyleId>
              </a:tblPr>
              <a:tblGrid>
                <a:gridCol w="2168863">
                  <a:extLst>
                    <a:ext uri="{9D8B030D-6E8A-4147-A177-3AD203B41FA5}">
                      <a16:colId xmlns:a16="http://schemas.microsoft.com/office/drawing/2014/main" val="2264177730"/>
                    </a:ext>
                  </a:extLst>
                </a:gridCol>
                <a:gridCol w="1681016">
                  <a:extLst>
                    <a:ext uri="{9D8B030D-6E8A-4147-A177-3AD203B41FA5}">
                      <a16:colId xmlns:a16="http://schemas.microsoft.com/office/drawing/2014/main" val="2521575143"/>
                    </a:ext>
                  </a:extLst>
                </a:gridCol>
                <a:gridCol w="1599945">
                  <a:extLst>
                    <a:ext uri="{9D8B030D-6E8A-4147-A177-3AD203B41FA5}">
                      <a16:colId xmlns:a16="http://schemas.microsoft.com/office/drawing/2014/main" val="623568642"/>
                    </a:ext>
                  </a:extLst>
                </a:gridCol>
              </a:tblGrid>
              <a:tr h="494061">
                <a:tc gridSpan="3">
                  <a:txBody>
                    <a:bodyPr/>
                    <a:lstStyle/>
                    <a:p>
                      <a:pPr algn="ctr" fontAlgn="base">
                        <a:lnSpc>
                          <a:spcPts val="2175"/>
                        </a:lnSpc>
                        <a:buNone/>
                      </a:pPr>
                      <a:r>
                        <a:rPr lang="en-US" sz="1800" b="1" dirty="0">
                          <a:solidFill>
                            <a:srgbClr val="FFFFFF"/>
                          </a:solidFill>
                          <a:effectLst/>
                        </a:rPr>
                        <a:t>Socio-demographics Information: Guam</a:t>
                      </a:r>
                      <a:endParaRPr lang="en-US" sz="1800" b="0" i="0" dirty="0">
                        <a:solidFill>
                          <a:srgbClr val="000000"/>
                        </a:solidFill>
                        <a:effectLst/>
                      </a:endParaRPr>
                    </a:p>
                  </a:txBody>
                  <a:tcPr marL="4877" marR="4877" marT="3896" marB="3896" anchor="ctr">
                    <a:solidFill>
                      <a:srgbClr val="00518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88061391"/>
                  </a:ext>
                </a:extLst>
              </a:tr>
              <a:tr h="266858">
                <a:tc>
                  <a:txBody>
                    <a:bodyPr/>
                    <a:lstStyle/>
                    <a:p>
                      <a:pPr fontAlgn="b">
                        <a:buNone/>
                      </a:pPr>
                      <a:endParaRPr lang="en-US" sz="1400" dirty="0">
                        <a:effectLst/>
                      </a:endParaRPr>
                    </a:p>
                  </a:txBody>
                  <a:tcPr marL="4877" marR="4877" marT="4877" marB="4877" anchor="b">
                    <a:solidFill>
                      <a:srgbClr val="005188"/>
                    </a:solidFill>
                  </a:tcPr>
                </a:tc>
                <a:tc>
                  <a:txBody>
                    <a:bodyPr/>
                    <a:lstStyle/>
                    <a:p>
                      <a:pPr algn="r" fontAlgn="base">
                        <a:lnSpc>
                          <a:spcPts val="2175"/>
                        </a:lnSpc>
                        <a:buNone/>
                      </a:pPr>
                      <a:r>
                        <a:rPr lang="en-US" sz="1400" b="1" dirty="0">
                          <a:solidFill>
                            <a:srgbClr val="FFFFFF"/>
                          </a:solidFill>
                          <a:effectLst/>
                        </a:rPr>
                        <a:t>Number of people</a:t>
                      </a:r>
                      <a:endParaRPr lang="en-US" sz="1400" b="0" i="0" dirty="0">
                        <a:solidFill>
                          <a:srgbClr val="000000"/>
                        </a:solidFill>
                        <a:effectLst/>
                      </a:endParaRPr>
                    </a:p>
                  </a:txBody>
                  <a:tcPr marL="4877" marR="182880" marT="4877" marB="4877" anchor="b">
                    <a:solidFill>
                      <a:srgbClr val="005188"/>
                    </a:solidFill>
                  </a:tcPr>
                </a:tc>
                <a:tc>
                  <a:txBody>
                    <a:bodyPr/>
                    <a:lstStyle/>
                    <a:p>
                      <a:pPr algn="r" fontAlgn="base">
                        <a:lnSpc>
                          <a:spcPts val="2175"/>
                        </a:lnSpc>
                        <a:buNone/>
                      </a:pPr>
                      <a:r>
                        <a:rPr lang="en-US" sz="1400" b="1" dirty="0">
                          <a:solidFill>
                            <a:srgbClr val="FFFFFF"/>
                          </a:solidFill>
                          <a:effectLst/>
                        </a:rPr>
                        <a:t>% of  Population</a:t>
                      </a:r>
                      <a:endParaRPr lang="en-US" sz="1400" b="0" i="0" dirty="0">
                        <a:solidFill>
                          <a:srgbClr val="000000"/>
                        </a:solidFill>
                        <a:effectLst/>
                      </a:endParaRPr>
                    </a:p>
                  </a:txBody>
                  <a:tcPr marL="4877" marR="182880" marT="4877" marB="4877" anchor="b">
                    <a:solidFill>
                      <a:srgbClr val="005188"/>
                    </a:solidFill>
                  </a:tcPr>
                </a:tc>
                <a:extLst>
                  <a:ext uri="{0D108BD9-81ED-4DB2-BD59-A6C34878D82A}">
                    <a16:rowId xmlns:a16="http://schemas.microsoft.com/office/drawing/2014/main" val="455503944"/>
                  </a:ext>
                </a:extLst>
              </a:tr>
              <a:tr h="312439">
                <a:tc>
                  <a:txBody>
                    <a:bodyPr/>
                    <a:lstStyle/>
                    <a:p>
                      <a:pPr lvl="0" algn="l">
                        <a:lnSpc>
                          <a:spcPts val="2175"/>
                        </a:lnSpc>
                        <a:buNone/>
                      </a:pPr>
                      <a:r>
                        <a:rPr lang="en-US" sz="1400" b="1" u="none" strike="noStrike" noProof="0" dirty="0">
                          <a:solidFill>
                            <a:srgbClr val="000000"/>
                          </a:solidFill>
                          <a:effectLst/>
                        </a:rPr>
                        <a:t>Total Population for Guam</a:t>
                      </a:r>
                      <a:endParaRPr lang="en-US" sz="1400" b="1" i="0" u="none" strike="noStrike" noProof="0" dirty="0">
                        <a:solidFill>
                          <a:srgbClr val="000000"/>
                        </a:solidFill>
                        <a:effectLst/>
                        <a:latin typeface="Franklin Gothic Book"/>
                      </a:endParaRPr>
                    </a:p>
                  </a:txBody>
                  <a:tcPr marL="26708" marR="26708" marT="42739" marB="42739" anchor="ctr"/>
                </a:tc>
                <a:tc>
                  <a:txBody>
                    <a:bodyPr/>
                    <a:lstStyle/>
                    <a:p>
                      <a:pPr lvl="0" algn="r">
                        <a:lnSpc>
                          <a:spcPts val="2175"/>
                        </a:lnSpc>
                        <a:buNone/>
                      </a:pPr>
                      <a:r>
                        <a:rPr lang="en-US" sz="1400" b="1" u="none" strike="noStrike" noProof="0" dirty="0">
                          <a:solidFill>
                            <a:srgbClr val="000000"/>
                          </a:solidFill>
                          <a:effectLst/>
                        </a:rPr>
                        <a:t>153,836</a:t>
                      </a:r>
                      <a:endParaRPr lang="en-US" sz="1400" b="1" dirty="0"/>
                    </a:p>
                  </a:txBody>
                  <a:tcPr marL="26708" marR="182880" marT="42739" marB="42739" anchor="ctr"/>
                </a:tc>
                <a:tc>
                  <a:txBody>
                    <a:bodyPr/>
                    <a:lstStyle/>
                    <a:p>
                      <a:pPr lvl="0" algn="r">
                        <a:lnSpc>
                          <a:spcPts val="2175"/>
                        </a:lnSpc>
                        <a:buNone/>
                      </a:pPr>
                      <a:r>
                        <a:rPr lang="en-US" sz="1400" b="1" i="0" u="none" strike="noStrike" dirty="0">
                          <a:solidFill>
                            <a:srgbClr val="000000"/>
                          </a:solidFill>
                          <a:effectLst/>
                          <a:latin typeface="Franklin Gothic Book"/>
                        </a:rPr>
                        <a:t>100%</a:t>
                      </a:r>
                    </a:p>
                  </a:txBody>
                  <a:tcPr marL="26708" marR="182880" marT="42739" marB="42739" anchor="ctr"/>
                </a:tc>
                <a:extLst>
                  <a:ext uri="{0D108BD9-81ED-4DB2-BD59-A6C34878D82A}">
                    <a16:rowId xmlns:a16="http://schemas.microsoft.com/office/drawing/2014/main" val="3982282628"/>
                  </a:ext>
                </a:extLst>
              </a:tr>
              <a:tr h="312439">
                <a:tc>
                  <a:txBody>
                    <a:bodyPr/>
                    <a:lstStyle/>
                    <a:p>
                      <a:pPr lvl="0" algn="l">
                        <a:lnSpc>
                          <a:spcPts val="2175"/>
                        </a:lnSpc>
                        <a:buNone/>
                      </a:pPr>
                      <a:r>
                        <a:rPr lang="en-US" sz="1400" b="0" u="none" strike="noStrike" dirty="0">
                          <a:solidFill>
                            <a:srgbClr val="000000"/>
                          </a:solidFill>
                          <a:effectLst/>
                        </a:rPr>
                        <a:t>Population Under Age 5</a:t>
                      </a:r>
                      <a:endParaRPr lang="en-US" sz="1400" b="0" i="0" dirty="0">
                        <a:solidFill>
                          <a:srgbClr val="000000"/>
                        </a:solidFill>
                        <a:effectLst/>
                        <a:latin typeface="Franklin Gothic Book"/>
                      </a:endParaRPr>
                    </a:p>
                  </a:txBody>
                  <a:tcPr marL="26708" marR="26708" marT="42739" marB="42739" anchor="ctr">
                    <a:solidFill>
                      <a:schemeClr val="tx2">
                        <a:lumMod val="10000"/>
                        <a:lumOff val="90000"/>
                      </a:schemeClr>
                    </a:solidFill>
                  </a:tcPr>
                </a:tc>
                <a:tc>
                  <a:txBody>
                    <a:bodyPr/>
                    <a:lstStyle/>
                    <a:p>
                      <a:pPr lvl="0" algn="r">
                        <a:lnSpc>
                          <a:spcPts val="2175"/>
                        </a:lnSpc>
                        <a:buNone/>
                      </a:pPr>
                      <a:r>
                        <a:rPr lang="en-US" sz="1400" b="0" u="none" strike="noStrike" noProof="0" dirty="0">
                          <a:solidFill>
                            <a:srgbClr val="000000"/>
                          </a:solidFill>
                          <a:effectLst/>
                        </a:rPr>
                        <a:t>10,626</a:t>
                      </a:r>
                      <a:endParaRPr lang="en-US" sz="1400" dirty="0"/>
                    </a:p>
                  </a:txBody>
                  <a:tcPr marL="26708" marR="182880" marT="42739" marB="42739" anchor="ctr">
                    <a:solidFill>
                      <a:schemeClr val="tx2">
                        <a:lumMod val="10000"/>
                        <a:lumOff val="90000"/>
                      </a:schemeClr>
                    </a:solidFill>
                  </a:tcPr>
                </a:tc>
                <a:tc>
                  <a:txBody>
                    <a:bodyPr/>
                    <a:lstStyle/>
                    <a:p>
                      <a:pPr lvl="0" algn="r">
                        <a:lnSpc>
                          <a:spcPts val="2175"/>
                        </a:lnSpc>
                        <a:buNone/>
                      </a:pPr>
                      <a:r>
                        <a:rPr lang="en-US" sz="1400" b="0" u="none" strike="noStrike" dirty="0">
                          <a:solidFill>
                            <a:srgbClr val="000000"/>
                          </a:solidFill>
                          <a:effectLst/>
                        </a:rPr>
                        <a:t>6.9%</a:t>
                      </a:r>
                      <a:endParaRPr lang="en-US" sz="1400" b="0" i="0" u="none" strike="noStrike" dirty="0">
                        <a:solidFill>
                          <a:srgbClr val="000000"/>
                        </a:solidFill>
                        <a:effectLst/>
                        <a:latin typeface="Franklin Gothic Book"/>
                      </a:endParaRPr>
                    </a:p>
                  </a:txBody>
                  <a:tcPr marL="26708" marR="182880" marT="42739" marB="42739" anchor="ctr">
                    <a:solidFill>
                      <a:schemeClr val="tx2">
                        <a:lumMod val="10000"/>
                        <a:lumOff val="90000"/>
                      </a:schemeClr>
                    </a:solidFill>
                  </a:tcPr>
                </a:tc>
                <a:extLst>
                  <a:ext uri="{0D108BD9-81ED-4DB2-BD59-A6C34878D82A}">
                    <a16:rowId xmlns:a16="http://schemas.microsoft.com/office/drawing/2014/main" val="928929574"/>
                  </a:ext>
                </a:extLst>
              </a:tr>
              <a:tr h="312439">
                <a:tc>
                  <a:txBody>
                    <a:bodyPr/>
                    <a:lstStyle/>
                    <a:p>
                      <a:pPr lvl="0" algn="l">
                        <a:lnSpc>
                          <a:spcPts val="2175"/>
                        </a:lnSpc>
                        <a:buNone/>
                      </a:pPr>
                      <a:r>
                        <a:rPr lang="en-US" sz="1400" b="0" u="none" strike="noStrike" dirty="0">
                          <a:solidFill>
                            <a:srgbClr val="000000"/>
                          </a:solidFill>
                          <a:effectLst/>
                        </a:rPr>
                        <a:t>Population Under Age 18</a:t>
                      </a:r>
                      <a:endParaRPr lang="en-US" sz="1400" b="0" i="0" u="none" strike="noStrike" dirty="0">
                        <a:solidFill>
                          <a:srgbClr val="000000"/>
                        </a:solidFill>
                        <a:effectLst/>
                        <a:latin typeface="Franklin Gothic Book"/>
                      </a:endParaRPr>
                    </a:p>
                  </a:txBody>
                  <a:tcPr marL="26708" marR="26708" marT="42739" marB="42739" anchor="ctr"/>
                </a:tc>
                <a:tc>
                  <a:txBody>
                    <a:bodyPr/>
                    <a:lstStyle/>
                    <a:p>
                      <a:pPr lvl="0" algn="r">
                        <a:lnSpc>
                          <a:spcPts val="2175"/>
                        </a:lnSpc>
                        <a:buNone/>
                      </a:pPr>
                      <a:r>
                        <a:rPr lang="en-US" sz="1400" b="0" u="none" strike="noStrike" noProof="0">
                          <a:solidFill>
                            <a:srgbClr val="000000"/>
                          </a:solidFill>
                          <a:effectLst/>
                        </a:rPr>
                        <a:t>41,487</a:t>
                      </a:r>
                      <a:endParaRPr lang="en-US" sz="1400" b="0" i="0" u="none" strike="noStrike" noProof="0">
                        <a:solidFill>
                          <a:srgbClr val="000000"/>
                        </a:solidFill>
                        <a:effectLst/>
                      </a:endParaRPr>
                    </a:p>
                  </a:txBody>
                  <a:tcPr marL="26708" marR="182880" marT="42739" marB="42739" anchor="ctr"/>
                </a:tc>
                <a:tc>
                  <a:txBody>
                    <a:bodyPr/>
                    <a:lstStyle/>
                    <a:p>
                      <a:pPr lvl="0" algn="r">
                        <a:lnSpc>
                          <a:spcPts val="2175"/>
                        </a:lnSpc>
                        <a:buNone/>
                      </a:pPr>
                      <a:r>
                        <a:rPr lang="en-US" sz="1400" b="0" u="none" strike="noStrike">
                          <a:solidFill>
                            <a:srgbClr val="000000"/>
                          </a:solidFill>
                          <a:effectLst/>
                        </a:rPr>
                        <a:t>27.0%</a:t>
                      </a:r>
                      <a:endParaRPr lang="en-US" sz="1400" b="0" i="0" u="none" strike="noStrike">
                        <a:solidFill>
                          <a:srgbClr val="000000"/>
                        </a:solidFill>
                        <a:effectLst/>
                        <a:latin typeface="Franklin Gothic Book"/>
                      </a:endParaRPr>
                    </a:p>
                  </a:txBody>
                  <a:tcPr marL="26708" marR="182880" marT="42739" marB="42739" anchor="ctr"/>
                </a:tc>
                <a:extLst>
                  <a:ext uri="{0D108BD9-81ED-4DB2-BD59-A6C34878D82A}">
                    <a16:rowId xmlns:a16="http://schemas.microsoft.com/office/drawing/2014/main" val="3317895345"/>
                  </a:ext>
                </a:extLst>
              </a:tr>
              <a:tr h="312439">
                <a:tc>
                  <a:txBody>
                    <a:bodyPr/>
                    <a:lstStyle/>
                    <a:p>
                      <a:pPr lvl="0" algn="l">
                        <a:lnSpc>
                          <a:spcPts val="2175"/>
                        </a:lnSpc>
                        <a:buNone/>
                      </a:pPr>
                      <a:r>
                        <a:rPr lang="en-US" sz="1400" b="0" u="none" strike="noStrike" dirty="0">
                          <a:solidFill>
                            <a:srgbClr val="000000"/>
                          </a:solidFill>
                          <a:effectLst/>
                        </a:rPr>
                        <a:t>Population 65 and Over</a:t>
                      </a:r>
                      <a:endParaRPr lang="en-US" sz="1400" b="0" i="0" u="none" strike="noStrike" dirty="0">
                        <a:solidFill>
                          <a:srgbClr val="000000"/>
                        </a:solidFill>
                        <a:effectLst/>
                        <a:latin typeface="Franklin Gothic Book"/>
                      </a:endParaRPr>
                    </a:p>
                  </a:txBody>
                  <a:tcPr marL="26708" marR="26708" marT="42739" marB="42739" anchor="ctr">
                    <a:solidFill>
                      <a:schemeClr val="tx2">
                        <a:lumMod val="10000"/>
                        <a:lumOff val="90000"/>
                      </a:schemeClr>
                    </a:solidFill>
                  </a:tcPr>
                </a:tc>
                <a:tc>
                  <a:txBody>
                    <a:bodyPr/>
                    <a:lstStyle/>
                    <a:p>
                      <a:pPr lvl="0" algn="r">
                        <a:lnSpc>
                          <a:spcPts val="2175"/>
                        </a:lnSpc>
                        <a:buNone/>
                      </a:pPr>
                      <a:r>
                        <a:rPr lang="en-US" sz="1400" b="0" u="none" strike="noStrike" noProof="0" dirty="0">
                          <a:solidFill>
                            <a:srgbClr val="000000"/>
                          </a:solidFill>
                          <a:effectLst/>
                        </a:rPr>
                        <a:t>9,211</a:t>
                      </a:r>
                      <a:endParaRPr lang="en-US" sz="1400" b="0" i="0" u="none" strike="noStrike" noProof="0" dirty="0">
                        <a:solidFill>
                          <a:srgbClr val="000000"/>
                        </a:solidFill>
                        <a:effectLst/>
                      </a:endParaRPr>
                    </a:p>
                  </a:txBody>
                  <a:tcPr marL="26708" marR="182880" marT="42739" marB="42739" anchor="ctr">
                    <a:solidFill>
                      <a:schemeClr val="tx2">
                        <a:lumMod val="10000"/>
                        <a:lumOff val="90000"/>
                      </a:schemeClr>
                    </a:solidFill>
                  </a:tcPr>
                </a:tc>
                <a:tc>
                  <a:txBody>
                    <a:bodyPr/>
                    <a:lstStyle/>
                    <a:p>
                      <a:pPr lvl="0" algn="r">
                        <a:lnSpc>
                          <a:spcPts val="2175"/>
                        </a:lnSpc>
                        <a:buNone/>
                      </a:pPr>
                      <a:r>
                        <a:rPr lang="en-US" sz="1400" b="0" u="none" strike="noStrike" dirty="0">
                          <a:solidFill>
                            <a:srgbClr val="000000"/>
                          </a:solidFill>
                          <a:effectLst/>
                        </a:rPr>
                        <a:t>6.0%</a:t>
                      </a:r>
                      <a:endParaRPr lang="en-US" sz="1400" b="0" i="0" u="none" strike="noStrike" dirty="0">
                        <a:solidFill>
                          <a:srgbClr val="000000"/>
                        </a:solidFill>
                        <a:effectLst/>
                        <a:latin typeface="Franklin Gothic Book"/>
                      </a:endParaRPr>
                    </a:p>
                  </a:txBody>
                  <a:tcPr marL="26708" marR="182880" marT="42739" marB="42739" anchor="ctr">
                    <a:solidFill>
                      <a:schemeClr val="tx2">
                        <a:lumMod val="10000"/>
                        <a:lumOff val="90000"/>
                      </a:schemeClr>
                    </a:solidFill>
                  </a:tcPr>
                </a:tc>
                <a:extLst>
                  <a:ext uri="{0D108BD9-81ED-4DB2-BD59-A6C34878D82A}">
                    <a16:rowId xmlns:a16="http://schemas.microsoft.com/office/drawing/2014/main" val="3700267936"/>
                  </a:ext>
                </a:extLst>
              </a:tr>
              <a:tr h="312439">
                <a:tc>
                  <a:txBody>
                    <a:bodyPr/>
                    <a:lstStyle/>
                    <a:p>
                      <a:pPr lvl="0" algn="l">
                        <a:lnSpc>
                          <a:spcPts val="2175"/>
                        </a:lnSpc>
                        <a:buNone/>
                      </a:pPr>
                      <a:r>
                        <a:rPr lang="en-US" sz="1400" b="0" u="none" strike="noStrike" dirty="0">
                          <a:solidFill>
                            <a:srgbClr val="000000"/>
                          </a:solidFill>
                          <a:effectLst/>
                        </a:rPr>
                        <a:t>Population with a Disability*</a:t>
                      </a:r>
                      <a:endParaRPr lang="en-US" sz="1400" b="0" i="0" u="none" strike="noStrike" dirty="0">
                        <a:solidFill>
                          <a:srgbClr val="000000"/>
                        </a:solidFill>
                        <a:effectLst/>
                        <a:latin typeface="Franklin Gothic Book"/>
                      </a:endParaRPr>
                    </a:p>
                  </a:txBody>
                  <a:tcPr marL="26708" marR="26708" marT="42739" marB="42739" anchor="ctr"/>
                </a:tc>
                <a:tc>
                  <a:txBody>
                    <a:bodyPr/>
                    <a:lstStyle/>
                    <a:p>
                      <a:pPr lvl="0" algn="r">
                        <a:lnSpc>
                          <a:spcPts val="2175"/>
                        </a:lnSpc>
                        <a:buNone/>
                      </a:pPr>
                      <a:r>
                        <a:rPr lang="en-US" sz="1400" b="0" u="none" strike="noStrike" noProof="0">
                          <a:solidFill>
                            <a:srgbClr val="000000"/>
                          </a:solidFill>
                          <a:effectLst/>
                        </a:rPr>
                        <a:t>19,086</a:t>
                      </a:r>
                      <a:endParaRPr lang="en-US" sz="1400" b="0" i="0" u="none" strike="noStrike" noProof="0">
                        <a:solidFill>
                          <a:srgbClr val="000000"/>
                        </a:solidFill>
                        <a:effectLst/>
                      </a:endParaRPr>
                    </a:p>
                  </a:txBody>
                  <a:tcPr marL="26708" marR="182880" marT="42739" marB="42739" anchor="ctr"/>
                </a:tc>
                <a:tc>
                  <a:txBody>
                    <a:bodyPr/>
                    <a:lstStyle/>
                    <a:p>
                      <a:pPr lvl="0" algn="r">
                        <a:lnSpc>
                          <a:spcPts val="2175"/>
                        </a:lnSpc>
                        <a:buNone/>
                      </a:pPr>
                      <a:r>
                        <a:rPr lang="en-US" sz="1400" b="0" u="none" strike="noStrike" dirty="0">
                          <a:solidFill>
                            <a:srgbClr val="000000"/>
                          </a:solidFill>
                          <a:effectLst/>
                        </a:rPr>
                        <a:t>13.3%</a:t>
                      </a:r>
                      <a:endParaRPr lang="en-US" sz="1400" b="0" i="0" u="none" strike="noStrike" dirty="0">
                        <a:solidFill>
                          <a:srgbClr val="000000"/>
                        </a:solidFill>
                        <a:effectLst/>
                        <a:latin typeface="Franklin Gothic Book"/>
                      </a:endParaRPr>
                    </a:p>
                  </a:txBody>
                  <a:tcPr marL="26708" marR="182880" marT="42739" marB="42739" anchor="ctr"/>
                </a:tc>
                <a:extLst>
                  <a:ext uri="{0D108BD9-81ED-4DB2-BD59-A6C34878D82A}">
                    <a16:rowId xmlns:a16="http://schemas.microsoft.com/office/drawing/2014/main" val="3977687381"/>
                  </a:ext>
                </a:extLst>
              </a:tr>
              <a:tr h="569526">
                <a:tc>
                  <a:txBody>
                    <a:bodyPr/>
                    <a:lstStyle/>
                    <a:p>
                      <a:pPr lvl="0" algn="l">
                        <a:lnSpc>
                          <a:spcPts val="2175"/>
                        </a:lnSpc>
                        <a:buNone/>
                      </a:pPr>
                      <a:r>
                        <a:rPr lang="en-US" sz="1400" b="0" u="none" strike="noStrike" dirty="0">
                          <a:solidFill>
                            <a:srgbClr val="000000"/>
                          </a:solidFill>
                          <a:effectLst/>
                        </a:rPr>
                        <a:t>Education level below High School Diploma*</a:t>
                      </a:r>
                      <a:endParaRPr lang="en-US" sz="1400" b="0" i="0" u="none" strike="noStrike" dirty="0">
                        <a:solidFill>
                          <a:srgbClr val="000000"/>
                        </a:solidFill>
                        <a:effectLst/>
                        <a:latin typeface="Franklin Gothic Book"/>
                      </a:endParaRPr>
                    </a:p>
                  </a:txBody>
                  <a:tcPr marL="26708" marR="26708" marT="42739" marB="42739" anchor="ctr">
                    <a:solidFill>
                      <a:schemeClr val="tx2">
                        <a:lumMod val="10000"/>
                        <a:lumOff val="90000"/>
                      </a:schemeClr>
                    </a:solidFill>
                  </a:tcPr>
                </a:tc>
                <a:tc>
                  <a:txBody>
                    <a:bodyPr/>
                    <a:lstStyle/>
                    <a:p>
                      <a:pPr lvl="0" algn="r">
                        <a:lnSpc>
                          <a:spcPts val="2175"/>
                        </a:lnSpc>
                        <a:buNone/>
                      </a:pPr>
                      <a:r>
                        <a:rPr lang="en-US" sz="1400" b="0" u="none" strike="noStrike" noProof="0" dirty="0">
                          <a:solidFill>
                            <a:srgbClr val="000000"/>
                          </a:solidFill>
                          <a:effectLst/>
                        </a:rPr>
                        <a:t>12,773</a:t>
                      </a:r>
                      <a:endParaRPr lang="en-US" sz="1400" b="0" i="0" u="none" strike="noStrike" noProof="0" dirty="0">
                        <a:solidFill>
                          <a:srgbClr val="000000"/>
                        </a:solidFill>
                        <a:effectLst/>
                      </a:endParaRPr>
                    </a:p>
                  </a:txBody>
                  <a:tcPr marL="26708" marR="182880" marT="42739" marB="42739" anchor="ctr">
                    <a:solidFill>
                      <a:schemeClr val="tx2">
                        <a:lumMod val="10000"/>
                        <a:lumOff val="90000"/>
                      </a:schemeClr>
                    </a:solidFill>
                  </a:tcPr>
                </a:tc>
                <a:tc>
                  <a:txBody>
                    <a:bodyPr/>
                    <a:lstStyle/>
                    <a:p>
                      <a:pPr lvl="0" algn="r">
                        <a:lnSpc>
                          <a:spcPts val="2175"/>
                        </a:lnSpc>
                        <a:buNone/>
                      </a:pPr>
                      <a:r>
                        <a:rPr lang="en-US" sz="1400" b="0" u="none" strike="noStrike" dirty="0">
                          <a:solidFill>
                            <a:srgbClr val="000000"/>
                          </a:solidFill>
                          <a:effectLst/>
                        </a:rPr>
                        <a:t>14.0%</a:t>
                      </a:r>
                      <a:endParaRPr lang="en-US" sz="1400" b="0" i="0" u="none" strike="noStrike" dirty="0">
                        <a:solidFill>
                          <a:srgbClr val="000000"/>
                        </a:solidFill>
                        <a:effectLst/>
                        <a:latin typeface="Franklin Gothic Book"/>
                      </a:endParaRPr>
                    </a:p>
                  </a:txBody>
                  <a:tcPr marL="26708" marR="182880" marT="42739" marB="42739" anchor="ctr">
                    <a:solidFill>
                      <a:schemeClr val="tx2">
                        <a:lumMod val="10000"/>
                        <a:lumOff val="90000"/>
                      </a:schemeClr>
                    </a:solidFill>
                  </a:tcPr>
                </a:tc>
                <a:extLst>
                  <a:ext uri="{0D108BD9-81ED-4DB2-BD59-A6C34878D82A}">
                    <a16:rowId xmlns:a16="http://schemas.microsoft.com/office/drawing/2014/main" val="2122974324"/>
                  </a:ext>
                </a:extLst>
              </a:tr>
              <a:tr h="371781">
                <a:tc>
                  <a:txBody>
                    <a:bodyPr/>
                    <a:lstStyle/>
                    <a:p>
                      <a:pPr lvl="0" algn="l">
                        <a:lnSpc>
                          <a:spcPts val="2175"/>
                        </a:lnSpc>
                        <a:buNone/>
                      </a:pPr>
                      <a:r>
                        <a:rPr lang="en-US" sz="1400" b="0" u="none" strike="noStrike" dirty="0">
                          <a:solidFill>
                            <a:srgbClr val="000000"/>
                          </a:solidFill>
                          <a:effectLst/>
                        </a:rPr>
                        <a:t>Unemployed*</a:t>
                      </a:r>
                      <a:endParaRPr lang="en-US" sz="1400" b="0" i="0" u="none" strike="noStrike" dirty="0">
                        <a:solidFill>
                          <a:srgbClr val="000000"/>
                        </a:solidFill>
                        <a:effectLst/>
                        <a:latin typeface="Franklin Gothic Book"/>
                      </a:endParaRPr>
                    </a:p>
                  </a:txBody>
                  <a:tcPr marL="26708" marR="26708" marT="42739" marB="42739" anchor="ctr"/>
                </a:tc>
                <a:tc>
                  <a:txBody>
                    <a:bodyPr/>
                    <a:lstStyle/>
                    <a:p>
                      <a:pPr lvl="0" algn="r">
                        <a:lnSpc>
                          <a:spcPts val="2175"/>
                        </a:lnSpc>
                        <a:buNone/>
                      </a:pPr>
                      <a:r>
                        <a:rPr lang="en-US" sz="1400" b="0" u="none" strike="noStrike" noProof="0">
                          <a:solidFill>
                            <a:srgbClr val="000000"/>
                          </a:solidFill>
                          <a:effectLst/>
                        </a:rPr>
                        <a:t>6,570</a:t>
                      </a:r>
                      <a:endParaRPr lang="en-US" sz="1400" b="0" i="0" u="none" strike="noStrike" noProof="0">
                        <a:solidFill>
                          <a:srgbClr val="000000"/>
                        </a:solidFill>
                        <a:effectLst/>
                      </a:endParaRPr>
                    </a:p>
                  </a:txBody>
                  <a:tcPr marL="26708" marR="182880" marT="42739" marB="42739" anchor="ctr"/>
                </a:tc>
                <a:tc>
                  <a:txBody>
                    <a:bodyPr/>
                    <a:lstStyle/>
                    <a:p>
                      <a:pPr lvl="0" algn="r">
                        <a:lnSpc>
                          <a:spcPts val="2175"/>
                        </a:lnSpc>
                        <a:buNone/>
                      </a:pPr>
                      <a:r>
                        <a:rPr lang="en-US" sz="1400" b="0" u="none" strike="noStrike" dirty="0">
                          <a:solidFill>
                            <a:srgbClr val="000000"/>
                          </a:solidFill>
                          <a:effectLst/>
                        </a:rPr>
                        <a:t>5.9%</a:t>
                      </a:r>
                      <a:endParaRPr lang="en-US" sz="1400" b="0" i="0" u="none" strike="noStrike" dirty="0">
                        <a:solidFill>
                          <a:srgbClr val="000000"/>
                        </a:solidFill>
                        <a:effectLst/>
                        <a:latin typeface="Franklin Gothic Book"/>
                      </a:endParaRPr>
                    </a:p>
                  </a:txBody>
                  <a:tcPr marL="26708" marR="182880" marT="42739" marB="42739" anchor="ctr"/>
                </a:tc>
                <a:extLst>
                  <a:ext uri="{0D108BD9-81ED-4DB2-BD59-A6C34878D82A}">
                    <a16:rowId xmlns:a16="http://schemas.microsoft.com/office/drawing/2014/main" val="840601713"/>
                  </a:ext>
                </a:extLst>
              </a:tr>
            </a:tbl>
          </a:graphicData>
        </a:graphic>
      </p:graphicFrame>
      <p:sp>
        <p:nvSpPr>
          <p:cNvPr id="14" name="TextBox 13">
            <a:extLst>
              <a:ext uri="{FF2B5EF4-FFF2-40B4-BE49-F238E27FC236}">
                <a16:creationId xmlns:a16="http://schemas.microsoft.com/office/drawing/2014/main" id="{B90786BD-9BF2-5903-EA93-8A1B341A4D77}"/>
              </a:ext>
            </a:extLst>
          </p:cNvPr>
          <p:cNvSpPr txBox="1"/>
          <p:nvPr/>
        </p:nvSpPr>
        <p:spPr>
          <a:xfrm>
            <a:off x="365125" y="5872723"/>
            <a:ext cx="544982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*excluding military housing units</a:t>
            </a:r>
          </a:p>
        </p:txBody>
      </p:sp>
      <p:sp>
        <p:nvSpPr>
          <p:cNvPr id="3" name="TextBox 2">
            <a:extLst>
              <a:ext uri="{FF2B5EF4-FFF2-40B4-BE49-F238E27FC236}">
                <a16:creationId xmlns:a16="http://schemas.microsoft.com/office/drawing/2014/main" id="{4DE6447D-45A9-C302-57B1-DE43F2D85813}"/>
              </a:ext>
            </a:extLst>
          </p:cNvPr>
          <p:cNvSpPr txBox="1"/>
          <p:nvPr/>
        </p:nvSpPr>
        <p:spPr>
          <a:xfrm>
            <a:off x="4309253" y="6313755"/>
            <a:ext cx="6285186" cy="230832"/>
          </a:xfrm>
          <a:prstGeom prst="rect">
            <a:avLst/>
          </a:prstGeom>
          <a:noFill/>
        </p:spPr>
        <p:txBody>
          <a:bodyPr wrap="square" rtlCol="0">
            <a:spAutoFit/>
          </a:bodyPr>
          <a:lstStyle/>
          <a:p>
            <a:r>
              <a:rPr lang="en-US" sz="900" dirty="0"/>
              <a:t>Sources: U.S. Census (2020 Island Areas); Guam Bureau of Statistics and Plans</a:t>
            </a:r>
          </a:p>
        </p:txBody>
      </p:sp>
    </p:spTree>
    <p:extLst>
      <p:ext uri="{BB962C8B-B14F-4D97-AF65-F5344CB8AC3E}">
        <p14:creationId xmlns:p14="http://schemas.microsoft.com/office/powerpoint/2010/main" val="27190545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CB5F1-9152-D81F-6453-AA13C0B5243B}"/>
              </a:ext>
            </a:extLst>
          </p:cNvPr>
          <p:cNvSpPr>
            <a:spLocks noGrp="1"/>
          </p:cNvSpPr>
          <p:nvPr>
            <p:ph type="title"/>
          </p:nvPr>
        </p:nvSpPr>
        <p:spPr/>
        <p:txBody>
          <a:bodyPr/>
          <a:lstStyle/>
          <a:p>
            <a:r>
              <a:rPr lang="en-US"/>
              <a:t>Appendix</a:t>
            </a:r>
          </a:p>
        </p:txBody>
      </p:sp>
      <p:sp>
        <p:nvSpPr>
          <p:cNvPr id="3" name="Text Placeholder 2">
            <a:extLst>
              <a:ext uri="{FF2B5EF4-FFF2-40B4-BE49-F238E27FC236}">
                <a16:creationId xmlns:a16="http://schemas.microsoft.com/office/drawing/2014/main" id="{814D3D52-5C6B-4886-FB7B-F6BCBA46B55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81875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EA9B3-17F1-BCBA-1C0A-EF4C6A6F18BA}"/>
              </a:ext>
            </a:extLst>
          </p:cNvPr>
          <p:cNvSpPr>
            <a:spLocks noGrp="1"/>
          </p:cNvSpPr>
          <p:nvPr>
            <p:ph type="title"/>
          </p:nvPr>
        </p:nvSpPr>
        <p:spPr/>
        <p:txBody>
          <a:bodyPr/>
          <a:lstStyle/>
          <a:p>
            <a:r>
              <a:rPr lang="en-US"/>
              <a:t>Data Sources</a:t>
            </a:r>
          </a:p>
        </p:txBody>
      </p:sp>
      <p:graphicFrame>
        <p:nvGraphicFramePr>
          <p:cNvPr id="4" name="Table 3">
            <a:extLst>
              <a:ext uri="{FF2B5EF4-FFF2-40B4-BE49-F238E27FC236}">
                <a16:creationId xmlns:a16="http://schemas.microsoft.com/office/drawing/2014/main" id="{AE6E1D96-BBF0-2404-6414-C69094E4FE80}"/>
              </a:ext>
            </a:extLst>
          </p:cNvPr>
          <p:cNvGraphicFramePr>
            <a:graphicFrameLocks noGrp="1"/>
          </p:cNvGraphicFramePr>
          <p:nvPr>
            <p:extLst>
              <p:ext uri="{D42A27DB-BD31-4B8C-83A1-F6EECF244321}">
                <p14:modId xmlns:p14="http://schemas.microsoft.com/office/powerpoint/2010/main" val="3160999431"/>
              </p:ext>
            </p:extLst>
          </p:nvPr>
        </p:nvGraphicFramePr>
        <p:xfrm>
          <a:off x="439831" y="1717632"/>
          <a:ext cx="11301985" cy="5066893"/>
        </p:xfrm>
        <a:graphic>
          <a:graphicData uri="http://schemas.openxmlformats.org/drawingml/2006/table">
            <a:tbl>
              <a:tblPr>
                <a:tableStyleId>{69CF1AB2-1976-4502-BF36-3FF5EA218861}</a:tableStyleId>
              </a:tblPr>
              <a:tblGrid>
                <a:gridCol w="2372626">
                  <a:extLst>
                    <a:ext uri="{9D8B030D-6E8A-4147-A177-3AD203B41FA5}">
                      <a16:colId xmlns:a16="http://schemas.microsoft.com/office/drawing/2014/main" val="2134851212"/>
                    </a:ext>
                  </a:extLst>
                </a:gridCol>
                <a:gridCol w="3951384">
                  <a:extLst>
                    <a:ext uri="{9D8B030D-6E8A-4147-A177-3AD203B41FA5}">
                      <a16:colId xmlns:a16="http://schemas.microsoft.com/office/drawing/2014/main" val="3218596260"/>
                    </a:ext>
                  </a:extLst>
                </a:gridCol>
                <a:gridCol w="4977975">
                  <a:extLst>
                    <a:ext uri="{9D8B030D-6E8A-4147-A177-3AD203B41FA5}">
                      <a16:colId xmlns:a16="http://schemas.microsoft.com/office/drawing/2014/main" val="1385985816"/>
                    </a:ext>
                  </a:extLst>
                </a:gridCol>
              </a:tblGrid>
              <a:tr h="182838">
                <a:tc>
                  <a:txBody>
                    <a:bodyPr/>
                    <a:lstStyle/>
                    <a:p>
                      <a:pPr algn="ctr">
                        <a:buNone/>
                      </a:pPr>
                      <a:r>
                        <a:rPr lang="en-US" sz="1200" b="1" dirty="0">
                          <a:solidFill>
                            <a:schemeClr val="bg1"/>
                          </a:solidFill>
                        </a:rPr>
                        <a:t>Source</a:t>
                      </a:r>
                    </a:p>
                  </a:txBody>
                  <a:tcPr anchor="ctr">
                    <a:solidFill>
                      <a:srgbClr val="005188"/>
                    </a:solidFill>
                  </a:tcPr>
                </a:tc>
                <a:tc>
                  <a:txBody>
                    <a:bodyPr/>
                    <a:lstStyle/>
                    <a:p>
                      <a:pPr algn="ctr">
                        <a:buNone/>
                      </a:pPr>
                      <a:r>
                        <a:rPr lang="en-US" sz="1200" b="1" dirty="0">
                          <a:solidFill>
                            <a:schemeClr val="bg1"/>
                          </a:solidFill>
                        </a:rPr>
                        <a:t>Link</a:t>
                      </a:r>
                    </a:p>
                  </a:txBody>
                  <a:tcPr anchor="ctr">
                    <a:solidFill>
                      <a:srgbClr val="005188"/>
                    </a:solidFill>
                  </a:tcPr>
                </a:tc>
                <a:tc>
                  <a:txBody>
                    <a:bodyPr/>
                    <a:lstStyle/>
                    <a:p>
                      <a:pPr algn="ctr">
                        <a:buNone/>
                      </a:pPr>
                      <a:r>
                        <a:rPr lang="en-US" sz="1200" b="1" dirty="0">
                          <a:solidFill>
                            <a:schemeClr val="bg1"/>
                          </a:solidFill>
                        </a:rPr>
                        <a:t>Use Case</a:t>
                      </a:r>
                    </a:p>
                  </a:txBody>
                  <a:tcPr anchor="ctr">
                    <a:solidFill>
                      <a:srgbClr val="005188"/>
                    </a:solidFill>
                  </a:tcPr>
                </a:tc>
                <a:extLst>
                  <a:ext uri="{0D108BD9-81ED-4DB2-BD59-A6C34878D82A}">
                    <a16:rowId xmlns:a16="http://schemas.microsoft.com/office/drawing/2014/main" val="120494098"/>
                  </a:ext>
                </a:extLst>
              </a:tr>
              <a:tr h="311929">
                <a:tc>
                  <a:txBody>
                    <a:bodyPr/>
                    <a:lstStyle/>
                    <a:p>
                      <a:pPr>
                        <a:buNone/>
                      </a:pPr>
                      <a:r>
                        <a:rPr lang="en-US" sz="900" dirty="0"/>
                        <a:t>NOAA / NWS Guam</a:t>
                      </a:r>
                    </a:p>
                  </a:txBody>
                  <a:tcPr anchor="ctr"/>
                </a:tc>
                <a:tc>
                  <a:txBody>
                    <a:bodyPr/>
                    <a:lstStyle/>
                    <a:p>
                      <a:pPr>
                        <a:buNone/>
                      </a:pPr>
                      <a:r>
                        <a:rPr lang="en-US" sz="900"/>
                        <a:t>Typhoon Sinlaku forecast products and statements</a:t>
                      </a:r>
                    </a:p>
                  </a:txBody>
                  <a:tcPr anchor="ctr"/>
                </a:tc>
                <a:tc>
                  <a:txBody>
                    <a:bodyPr/>
                    <a:lstStyle/>
                    <a:p>
                      <a:pPr>
                        <a:buNone/>
                      </a:pPr>
                      <a:r>
                        <a:rPr lang="en-US" sz="900" dirty="0"/>
                        <a:t>Wind, rainfall, timing, flood/landslide risk</a:t>
                      </a:r>
                    </a:p>
                  </a:txBody>
                  <a:tcPr anchor="ctr"/>
                </a:tc>
                <a:extLst>
                  <a:ext uri="{0D108BD9-81ED-4DB2-BD59-A6C34878D82A}">
                    <a16:rowId xmlns:a16="http://schemas.microsoft.com/office/drawing/2014/main" val="3814781176"/>
                  </a:ext>
                </a:extLst>
              </a:tr>
              <a:tr h="311929">
                <a:tc>
                  <a:txBody>
                    <a:bodyPr/>
                    <a:lstStyle/>
                    <a:p>
                      <a:pPr>
                        <a:buNone/>
                      </a:pPr>
                      <a:r>
                        <a:rPr lang="en-US" sz="900"/>
                        <a:t>FEMA Western Pacific IAB</a:t>
                      </a:r>
                    </a:p>
                  </a:txBody>
                  <a:tcPr anchor="ctr"/>
                </a:tc>
                <a:tc>
                  <a:txBody>
                    <a:bodyPr/>
                    <a:lstStyle/>
                    <a:p>
                      <a:pPr>
                        <a:buNone/>
                      </a:pPr>
                      <a:r>
                        <a:rPr lang="en-US" sz="900" dirty="0"/>
                        <a:t>Tropical Activity Western Pacific – 09 Apr 2026</a:t>
                      </a:r>
                    </a:p>
                  </a:txBody>
                  <a:tcPr anchor="ctr"/>
                </a:tc>
                <a:tc>
                  <a:txBody>
                    <a:bodyPr/>
                    <a:lstStyle/>
                    <a:p>
                      <a:pPr>
                        <a:buNone/>
                      </a:pPr>
                      <a:r>
                        <a:rPr lang="en-US" sz="900"/>
                        <a:t>Operational posture, critical considerations, pre-positioning context</a:t>
                      </a:r>
                    </a:p>
                  </a:txBody>
                  <a:tcPr anchor="ctr"/>
                </a:tc>
                <a:extLst>
                  <a:ext uri="{0D108BD9-81ED-4DB2-BD59-A6C34878D82A}">
                    <a16:rowId xmlns:a16="http://schemas.microsoft.com/office/drawing/2014/main" val="3625126236"/>
                  </a:ext>
                </a:extLst>
              </a:tr>
              <a:tr h="311929">
                <a:tc>
                  <a:txBody>
                    <a:bodyPr/>
                    <a:lstStyle/>
                    <a:p>
                      <a:pPr>
                        <a:buNone/>
                      </a:pPr>
                      <a:r>
                        <a:rPr lang="en-US" sz="900" dirty="0"/>
                        <a:t>U.S. Coast Guard</a:t>
                      </a:r>
                    </a:p>
                  </a:txBody>
                  <a:tcPr anchor="ctr"/>
                </a:tc>
                <a:tc>
                  <a:txBody>
                    <a:bodyPr/>
                    <a:lstStyle/>
                    <a:p>
                      <a:pPr>
                        <a:buNone/>
                      </a:pPr>
                      <a:r>
                        <a:rPr lang="en-US" sz="900" dirty="0" err="1"/>
                        <a:t>Sinlaku</a:t>
                      </a:r>
                      <a:r>
                        <a:rPr lang="en-US" sz="900" dirty="0"/>
                        <a:t> port condition releases for the Marianas</a:t>
                      </a:r>
                    </a:p>
                  </a:txBody>
                  <a:tcPr anchor="ctr"/>
                </a:tc>
                <a:tc>
                  <a:txBody>
                    <a:bodyPr/>
                    <a:lstStyle/>
                    <a:p>
                      <a:pPr>
                        <a:buNone/>
                      </a:pPr>
                      <a:r>
                        <a:rPr lang="en-US" sz="900"/>
                        <a:t>X-Ray / Yankee / Zulu timelines; cargo-operating restrictions</a:t>
                      </a:r>
                    </a:p>
                  </a:txBody>
                  <a:tcPr anchor="ctr"/>
                </a:tc>
                <a:extLst>
                  <a:ext uri="{0D108BD9-81ED-4DB2-BD59-A6C34878D82A}">
                    <a16:rowId xmlns:a16="http://schemas.microsoft.com/office/drawing/2014/main" val="1255590608"/>
                  </a:ext>
                </a:extLst>
              </a:tr>
              <a:tr h="311929">
                <a:tc>
                  <a:txBody>
                    <a:bodyPr/>
                    <a:lstStyle/>
                    <a:p>
                      <a:pPr>
                        <a:buNone/>
                      </a:pPr>
                      <a:r>
                        <a:rPr lang="en-US" sz="900"/>
                        <a:t>Port Authority of Guam</a:t>
                      </a:r>
                    </a:p>
                  </a:txBody>
                  <a:tcPr anchor="ctr"/>
                </a:tc>
                <a:tc>
                  <a:txBody>
                    <a:bodyPr/>
                    <a:lstStyle/>
                    <a:p>
                      <a:pPr>
                        <a:buNone/>
                      </a:pPr>
                      <a:r>
                        <a:rPr lang="en-US" sz="900"/>
                        <a:t>Storm updates and harbor master shipping schedules</a:t>
                      </a:r>
                    </a:p>
                  </a:txBody>
                  <a:tcPr anchor="ctr"/>
                </a:tc>
                <a:tc>
                  <a:txBody>
                    <a:bodyPr/>
                    <a:lstStyle/>
                    <a:p>
                      <a:pPr>
                        <a:buNone/>
                      </a:pPr>
                      <a:r>
                        <a:rPr lang="en-US" sz="900"/>
                        <a:t>Port status, tanker and container schedules, cargo posture</a:t>
                      </a:r>
                    </a:p>
                  </a:txBody>
                  <a:tcPr anchor="ctr"/>
                </a:tc>
                <a:extLst>
                  <a:ext uri="{0D108BD9-81ED-4DB2-BD59-A6C34878D82A}">
                    <a16:rowId xmlns:a16="http://schemas.microsoft.com/office/drawing/2014/main" val="755438885"/>
                  </a:ext>
                </a:extLst>
              </a:tr>
              <a:tr h="370416">
                <a:tc>
                  <a:txBody>
                    <a:bodyPr/>
                    <a:lstStyle/>
                    <a:p>
                      <a:pPr>
                        <a:buNone/>
                      </a:pPr>
                      <a:r>
                        <a:rPr lang="en-US" sz="900" dirty="0"/>
                        <a:t>APL</a:t>
                      </a:r>
                    </a:p>
                  </a:txBody>
                  <a:tcPr anchor="ctr"/>
                </a:tc>
                <a:tc>
                  <a:txBody>
                    <a:bodyPr/>
                    <a:lstStyle/>
                    <a:p>
                      <a:pPr>
                        <a:buNone/>
                      </a:pPr>
                      <a:r>
                        <a:rPr lang="en-US" sz="900"/>
                        <a:t>Guam port schedules; Saipan port schedules; Guam-Saipan Express schedules</a:t>
                      </a:r>
                    </a:p>
                  </a:txBody>
                  <a:tcPr anchor="ctr"/>
                </a:tc>
                <a:tc>
                  <a:txBody>
                    <a:bodyPr/>
                    <a:lstStyle/>
                    <a:p>
                      <a:pPr>
                        <a:buNone/>
                      </a:pPr>
                      <a:r>
                        <a:rPr lang="en-US" sz="900"/>
                        <a:t>Upcoming Guam and Saipan container calls</a:t>
                      </a:r>
                    </a:p>
                  </a:txBody>
                  <a:tcPr anchor="ctr"/>
                </a:tc>
                <a:extLst>
                  <a:ext uri="{0D108BD9-81ED-4DB2-BD59-A6C34878D82A}">
                    <a16:rowId xmlns:a16="http://schemas.microsoft.com/office/drawing/2014/main" val="2284122244"/>
                  </a:ext>
                </a:extLst>
              </a:tr>
              <a:tr h="208958">
                <a:tc>
                  <a:txBody>
                    <a:bodyPr/>
                    <a:lstStyle/>
                    <a:p>
                      <a:pPr>
                        <a:buNone/>
                      </a:pPr>
                      <a:r>
                        <a:rPr lang="en-US" sz="900"/>
                        <a:t>Matson</a:t>
                      </a:r>
                    </a:p>
                  </a:txBody>
                  <a:tcPr anchor="ctr"/>
                </a:tc>
                <a:tc>
                  <a:txBody>
                    <a:bodyPr/>
                    <a:lstStyle/>
                    <a:p>
                      <a:pPr>
                        <a:buNone/>
                      </a:pPr>
                      <a:r>
                        <a:rPr lang="en-US" sz="900"/>
                        <a:t>Guam Service / Micronesia schedule</a:t>
                      </a:r>
                    </a:p>
                  </a:txBody>
                  <a:tcPr anchor="ctr"/>
                </a:tc>
                <a:tc>
                  <a:txBody>
                    <a:bodyPr/>
                    <a:lstStyle/>
                    <a:p>
                      <a:pPr>
                        <a:buNone/>
                      </a:pPr>
                      <a:r>
                        <a:rPr lang="en-US" sz="900"/>
                        <a:t>Upcoming Guam, Saipan, and Tinian container calls</a:t>
                      </a:r>
                    </a:p>
                  </a:txBody>
                  <a:tcPr anchor="ctr"/>
                </a:tc>
                <a:extLst>
                  <a:ext uri="{0D108BD9-81ED-4DB2-BD59-A6C34878D82A}">
                    <a16:rowId xmlns:a16="http://schemas.microsoft.com/office/drawing/2014/main" val="3924897740"/>
                  </a:ext>
                </a:extLst>
              </a:tr>
              <a:tr h="311929">
                <a:tc>
                  <a:txBody>
                    <a:bodyPr/>
                    <a:lstStyle/>
                    <a:p>
                      <a:pPr>
                        <a:buNone/>
                      </a:pPr>
                      <a:r>
                        <a:rPr lang="en-US" sz="900"/>
                        <a:t>Guam SCAN Slides</a:t>
                      </a:r>
                    </a:p>
                  </a:txBody>
                  <a:tcPr anchor="ctr"/>
                </a:tc>
                <a:tc>
                  <a:txBody>
                    <a:bodyPr/>
                    <a:lstStyle/>
                    <a:p>
                      <a:pPr>
                        <a:buNone/>
                      </a:pPr>
                      <a:r>
                        <a:rPr lang="en-US" sz="900" dirty="0"/>
                        <a:t>Pacific Supply Chain Risk and Vulnerability Analysis: Guam</a:t>
                      </a:r>
                    </a:p>
                  </a:txBody>
                  <a:tcPr anchor="ctr"/>
                </a:tc>
                <a:tc>
                  <a:txBody>
                    <a:bodyPr/>
                    <a:lstStyle/>
                    <a:p>
                      <a:pPr>
                        <a:buNone/>
                      </a:pPr>
                      <a:r>
                        <a:rPr lang="en-US" sz="900"/>
                        <a:t>Guam food, fuel, port, road, and airport narrative</a:t>
                      </a:r>
                    </a:p>
                  </a:txBody>
                  <a:tcPr anchor="ctr"/>
                </a:tc>
                <a:extLst>
                  <a:ext uri="{0D108BD9-81ED-4DB2-BD59-A6C34878D82A}">
                    <a16:rowId xmlns:a16="http://schemas.microsoft.com/office/drawing/2014/main" val="2259954099"/>
                  </a:ext>
                </a:extLst>
              </a:tr>
              <a:tr h="208958">
                <a:tc>
                  <a:txBody>
                    <a:bodyPr/>
                    <a:lstStyle/>
                    <a:p>
                      <a:pPr>
                        <a:buNone/>
                      </a:pPr>
                      <a:r>
                        <a:rPr lang="en-US" sz="900"/>
                        <a:t>Guam Pacific Baseline Assessment</a:t>
                      </a:r>
                    </a:p>
                  </a:txBody>
                  <a:tcPr anchor="ctr"/>
                </a:tc>
                <a:tc>
                  <a:txBody>
                    <a:bodyPr/>
                    <a:lstStyle/>
                    <a:p>
                      <a:pPr>
                        <a:buNone/>
                      </a:pPr>
                      <a:r>
                        <a:rPr lang="en-US" sz="900"/>
                        <a:t>Guam Supply Chain Baseline</a:t>
                      </a:r>
                    </a:p>
                  </a:txBody>
                  <a:tcPr anchor="ctr"/>
                </a:tc>
                <a:tc>
                  <a:txBody>
                    <a:bodyPr/>
                    <a:lstStyle/>
                    <a:p>
                      <a:pPr>
                        <a:buNone/>
                      </a:pPr>
                      <a:r>
                        <a:rPr lang="en-US" sz="900" dirty="0"/>
                        <a:t>Guam commodity flows, food sourcing, fuel movement, transport chokepoints</a:t>
                      </a:r>
                    </a:p>
                  </a:txBody>
                  <a:tcPr anchor="ctr"/>
                </a:tc>
                <a:extLst>
                  <a:ext uri="{0D108BD9-81ED-4DB2-BD59-A6C34878D82A}">
                    <a16:rowId xmlns:a16="http://schemas.microsoft.com/office/drawing/2014/main" val="2352454277"/>
                  </a:ext>
                </a:extLst>
              </a:tr>
              <a:tr h="311929">
                <a:tc>
                  <a:txBody>
                    <a:bodyPr/>
                    <a:lstStyle/>
                    <a:p>
                      <a:pPr>
                        <a:buNone/>
                      </a:pPr>
                      <a:r>
                        <a:rPr lang="en-US" sz="900"/>
                        <a:t>CNMI SCAN Slides</a:t>
                      </a:r>
                    </a:p>
                  </a:txBody>
                  <a:tcPr anchor="ctr"/>
                </a:tc>
                <a:tc>
                  <a:txBody>
                    <a:bodyPr/>
                    <a:lstStyle/>
                    <a:p>
                      <a:pPr>
                        <a:buNone/>
                      </a:pPr>
                      <a:r>
                        <a:rPr lang="en-US" sz="900" dirty="0"/>
                        <a:t>Critical Commodity Lifelines Baseline Assessment: CNMI</a:t>
                      </a:r>
                    </a:p>
                  </a:txBody>
                  <a:tcPr anchor="ctr"/>
                </a:tc>
                <a:tc>
                  <a:txBody>
                    <a:bodyPr/>
                    <a:lstStyle/>
                    <a:p>
                      <a:pPr>
                        <a:buNone/>
                      </a:pPr>
                      <a:r>
                        <a:rPr lang="en-US" sz="900"/>
                        <a:t>CNMI hub structure, outer-island vulnerability, lifeline context</a:t>
                      </a:r>
                    </a:p>
                  </a:txBody>
                  <a:tcPr anchor="ctr"/>
                </a:tc>
                <a:extLst>
                  <a:ext uri="{0D108BD9-81ED-4DB2-BD59-A6C34878D82A}">
                    <a16:rowId xmlns:a16="http://schemas.microsoft.com/office/drawing/2014/main" val="3418871321"/>
                  </a:ext>
                </a:extLst>
              </a:tr>
              <a:tr h="264583">
                <a:tc>
                  <a:txBody>
                    <a:bodyPr/>
                    <a:lstStyle/>
                    <a:p>
                      <a:pPr>
                        <a:buNone/>
                      </a:pPr>
                      <a:r>
                        <a:rPr lang="en-US" sz="900"/>
                        <a:t>CNMI Pacific Baseline Assessment</a:t>
                      </a:r>
                    </a:p>
                  </a:txBody>
                  <a:tcPr anchor="ctr"/>
                </a:tc>
                <a:tc>
                  <a:txBody>
                    <a:bodyPr/>
                    <a:lstStyle/>
                    <a:p>
                      <a:pPr>
                        <a:buNone/>
                      </a:pPr>
                      <a:r>
                        <a:rPr lang="en-US" sz="900" dirty="0"/>
                        <a:t>Commonwealth of the Northern Mariana Islands Supply Chain Baseline</a:t>
                      </a:r>
                    </a:p>
                  </a:txBody>
                  <a:tcPr anchor="ctr"/>
                </a:tc>
                <a:tc>
                  <a:txBody>
                    <a:bodyPr/>
                    <a:lstStyle/>
                    <a:p>
                      <a:pPr>
                        <a:buNone/>
                      </a:pPr>
                      <a:r>
                        <a:rPr lang="en-US" sz="900"/>
                        <a:t>CNMI food and fuel flows, port/airport/inter-island dependencies</a:t>
                      </a:r>
                    </a:p>
                  </a:txBody>
                  <a:tcPr anchor="ctr"/>
                </a:tc>
                <a:extLst>
                  <a:ext uri="{0D108BD9-81ED-4DB2-BD59-A6C34878D82A}">
                    <a16:rowId xmlns:a16="http://schemas.microsoft.com/office/drawing/2014/main" val="3910425025"/>
                  </a:ext>
                </a:extLst>
              </a:tr>
              <a:tr h="208958">
                <a:tc>
                  <a:txBody>
                    <a:bodyPr/>
                    <a:lstStyle/>
                    <a:p>
                      <a:pPr>
                        <a:buNone/>
                      </a:pPr>
                      <a:r>
                        <a:rPr lang="en-US" sz="900"/>
                        <a:t>DOE</a:t>
                      </a:r>
                    </a:p>
                  </a:txBody>
                  <a:tcPr anchor="ctr"/>
                </a:tc>
                <a:tc>
                  <a:txBody>
                    <a:bodyPr/>
                    <a:lstStyle/>
                    <a:p>
                      <a:pPr>
                        <a:buNone/>
                      </a:pPr>
                      <a:r>
                        <a:rPr lang="en-US" sz="900"/>
                        <a:t>Territory Sector Risk Profile – Guam</a:t>
                      </a:r>
                    </a:p>
                  </a:txBody>
                  <a:tcPr anchor="ctr"/>
                </a:tc>
                <a:tc>
                  <a:txBody>
                    <a:bodyPr/>
                    <a:lstStyle/>
                    <a:p>
                      <a:pPr>
                        <a:buNone/>
                      </a:pPr>
                      <a:r>
                        <a:rPr lang="en-US" sz="900" dirty="0"/>
                        <a:t>Guam fuel storage, energy dependence, distribution structure</a:t>
                      </a:r>
                    </a:p>
                  </a:txBody>
                  <a:tcPr anchor="ctr"/>
                </a:tc>
                <a:extLst>
                  <a:ext uri="{0D108BD9-81ED-4DB2-BD59-A6C34878D82A}">
                    <a16:rowId xmlns:a16="http://schemas.microsoft.com/office/drawing/2014/main" val="2172112142"/>
                  </a:ext>
                </a:extLst>
              </a:tr>
              <a:tr h="208958">
                <a:tc>
                  <a:txBody>
                    <a:bodyPr/>
                    <a:lstStyle/>
                    <a:p>
                      <a:pPr>
                        <a:buNone/>
                      </a:pPr>
                      <a:r>
                        <a:rPr lang="en-US" sz="900"/>
                        <a:t>NREL / EIA</a:t>
                      </a:r>
                    </a:p>
                  </a:txBody>
                  <a:tcPr anchor="ctr"/>
                </a:tc>
                <a:tc>
                  <a:txBody>
                    <a:bodyPr/>
                    <a:lstStyle/>
                    <a:p>
                      <a:pPr>
                        <a:buNone/>
                      </a:pPr>
                      <a:r>
                        <a:rPr lang="it-IT" sz="900"/>
                        <a:t>CNMI Energy Baseline / EIA CNMI profile</a:t>
                      </a:r>
                      <a:endParaRPr lang="it-IT" sz="900" err="1"/>
                    </a:p>
                  </a:txBody>
                  <a:tcPr anchor="ctr"/>
                </a:tc>
                <a:tc>
                  <a:txBody>
                    <a:bodyPr/>
                    <a:lstStyle/>
                    <a:p>
                      <a:pPr>
                        <a:buNone/>
                      </a:pPr>
                      <a:r>
                        <a:rPr lang="en-US" sz="900" dirty="0"/>
                        <a:t>Saipan/Tinian/Rota fuel storage days; energy dependence</a:t>
                      </a:r>
                    </a:p>
                  </a:txBody>
                  <a:tcPr anchor="ctr"/>
                </a:tc>
                <a:extLst>
                  <a:ext uri="{0D108BD9-81ED-4DB2-BD59-A6C34878D82A}">
                    <a16:rowId xmlns:a16="http://schemas.microsoft.com/office/drawing/2014/main" val="1870056148"/>
                  </a:ext>
                </a:extLst>
              </a:tr>
              <a:tr h="208958">
                <a:tc>
                  <a:txBody>
                    <a:bodyPr/>
                    <a:lstStyle/>
                    <a:p>
                      <a:pPr>
                        <a:buNone/>
                      </a:pPr>
                      <a:r>
                        <a:rPr lang="en-US" sz="900"/>
                        <a:t>Guam Catastrophic Typhoon Plan</a:t>
                      </a:r>
                    </a:p>
                  </a:txBody>
                  <a:tcPr anchor="ctr"/>
                </a:tc>
                <a:tc>
                  <a:txBody>
                    <a:bodyPr/>
                    <a:lstStyle/>
                    <a:p>
                      <a:pPr>
                        <a:buNone/>
                      </a:pPr>
                      <a:r>
                        <a:rPr lang="en-US" sz="900"/>
                        <a:t>2018 Guam Catastrophic Typhoon Plan</a:t>
                      </a:r>
                    </a:p>
                  </a:txBody>
                  <a:tcPr anchor="ctr"/>
                </a:tc>
                <a:tc>
                  <a:txBody>
                    <a:bodyPr/>
                    <a:lstStyle/>
                    <a:p>
                      <a:pPr>
                        <a:buNone/>
                      </a:pPr>
                      <a:r>
                        <a:rPr lang="en-US" sz="900"/>
                        <a:t>Guam food buffer planning assumption</a:t>
                      </a:r>
                    </a:p>
                  </a:txBody>
                  <a:tcPr anchor="ctr"/>
                </a:tc>
                <a:extLst>
                  <a:ext uri="{0D108BD9-81ED-4DB2-BD59-A6C34878D82A}">
                    <a16:rowId xmlns:a16="http://schemas.microsoft.com/office/drawing/2014/main" val="3106612018"/>
                  </a:ext>
                </a:extLst>
              </a:tr>
              <a:tr h="208958">
                <a:tc>
                  <a:txBody>
                    <a:bodyPr/>
                    <a:lstStyle/>
                    <a:p>
                      <a:pPr>
                        <a:buNone/>
                      </a:pPr>
                      <a:r>
                        <a:rPr lang="en-US" sz="900"/>
                        <a:t>CNMI Catastrophic Typhoon Plan</a:t>
                      </a:r>
                    </a:p>
                  </a:txBody>
                  <a:tcPr anchor="ctr"/>
                </a:tc>
                <a:tc>
                  <a:txBody>
                    <a:bodyPr/>
                    <a:lstStyle/>
                    <a:p>
                      <a:pPr>
                        <a:buNone/>
                      </a:pPr>
                      <a:r>
                        <a:rPr lang="en-US" sz="900"/>
                        <a:t>2017 CNMI Catastrophic Typhoon Plan</a:t>
                      </a:r>
                    </a:p>
                  </a:txBody>
                  <a:tcPr anchor="ctr"/>
                </a:tc>
                <a:tc>
                  <a:txBody>
                    <a:bodyPr/>
                    <a:lstStyle/>
                    <a:p>
                      <a:pPr>
                        <a:buNone/>
                      </a:pPr>
                      <a:r>
                        <a:rPr lang="en-US" sz="900" dirty="0"/>
                        <a:t>CNMI food buffer planning assumption</a:t>
                      </a:r>
                    </a:p>
                  </a:txBody>
                  <a:tcPr anchor="ctr"/>
                </a:tc>
                <a:extLst>
                  <a:ext uri="{0D108BD9-81ED-4DB2-BD59-A6C34878D82A}">
                    <a16:rowId xmlns:a16="http://schemas.microsoft.com/office/drawing/2014/main" val="2118110676"/>
                  </a:ext>
                </a:extLst>
              </a:tr>
              <a:tr h="208958">
                <a:tc>
                  <a:txBody>
                    <a:bodyPr/>
                    <a:lstStyle/>
                    <a:p>
                      <a:pPr>
                        <a:buNone/>
                      </a:pPr>
                      <a:r>
                        <a:rPr lang="en-US" sz="900"/>
                        <a:t>IMPLAN</a:t>
                      </a:r>
                    </a:p>
                  </a:txBody>
                  <a:tcPr anchor="ctr"/>
                </a:tc>
                <a:tc>
                  <a:txBody>
                    <a:bodyPr/>
                    <a:lstStyle/>
                    <a:p>
                      <a:pPr>
                        <a:buNone/>
                      </a:pPr>
                      <a:r>
                        <a:rPr lang="en-US" sz="900"/>
                        <a:t>Guam and CNMI models</a:t>
                      </a:r>
                    </a:p>
                  </a:txBody>
                  <a:tcPr anchor="ctr"/>
                </a:tc>
                <a:tc>
                  <a:txBody>
                    <a:bodyPr/>
                    <a:lstStyle/>
                    <a:p>
                      <a:pPr>
                        <a:buNone/>
                      </a:pPr>
                      <a:r>
                        <a:rPr lang="en-US" sz="900" dirty="0"/>
                        <a:t>GDP, headliner industries, workforce concentration</a:t>
                      </a:r>
                    </a:p>
                  </a:txBody>
                  <a:tcPr anchor="ctr"/>
                </a:tc>
                <a:extLst>
                  <a:ext uri="{0D108BD9-81ED-4DB2-BD59-A6C34878D82A}">
                    <a16:rowId xmlns:a16="http://schemas.microsoft.com/office/drawing/2014/main" val="273960591"/>
                  </a:ext>
                </a:extLst>
              </a:tr>
              <a:tr h="208958">
                <a:tc>
                  <a:txBody>
                    <a:bodyPr/>
                    <a:lstStyle/>
                    <a:p>
                      <a:pPr>
                        <a:buNone/>
                      </a:pPr>
                      <a:r>
                        <a:rPr lang="en-US" sz="900"/>
                        <a:t>U.S. Census / Island Areas Census</a:t>
                      </a:r>
                    </a:p>
                  </a:txBody>
                  <a:tcPr anchor="ctr"/>
                </a:tc>
                <a:tc>
                  <a:txBody>
                    <a:bodyPr/>
                    <a:lstStyle/>
                    <a:p>
                      <a:pPr>
                        <a:buNone/>
                      </a:pPr>
                      <a:r>
                        <a:rPr lang="en-US" sz="900"/>
                        <a:t>Guam and CNMI demographic tables</a:t>
                      </a:r>
                    </a:p>
                  </a:txBody>
                  <a:tcPr anchor="ctr"/>
                </a:tc>
                <a:tc>
                  <a:txBody>
                    <a:bodyPr/>
                    <a:lstStyle/>
                    <a:p>
                      <a:pPr>
                        <a:buNone/>
                      </a:pPr>
                      <a:r>
                        <a:rPr lang="en-US" sz="900" dirty="0"/>
                        <a:t>Socio-economic profiles</a:t>
                      </a:r>
                    </a:p>
                  </a:txBody>
                  <a:tcPr anchor="ctr"/>
                </a:tc>
                <a:extLst>
                  <a:ext uri="{0D108BD9-81ED-4DB2-BD59-A6C34878D82A}">
                    <a16:rowId xmlns:a16="http://schemas.microsoft.com/office/drawing/2014/main" val="3845449862"/>
                  </a:ext>
                </a:extLst>
              </a:tr>
              <a:tr h="208957">
                <a:tc>
                  <a:txBody>
                    <a:bodyPr/>
                    <a:lstStyle/>
                    <a:p>
                      <a:pPr lvl="0">
                        <a:buNone/>
                      </a:pPr>
                      <a:r>
                        <a:rPr lang="en-US" sz="900"/>
                        <a:t>Open Street Map</a:t>
                      </a:r>
                    </a:p>
                  </a:txBody>
                  <a:tcPr anchor="ctr"/>
                </a:tc>
                <a:tc>
                  <a:txBody>
                    <a:bodyPr/>
                    <a:lstStyle/>
                    <a:p>
                      <a:pPr lvl="0">
                        <a:buNone/>
                      </a:pPr>
                      <a:r>
                        <a:rPr lang="en-US" sz="900"/>
                        <a:t>Map figures</a:t>
                      </a:r>
                    </a:p>
                  </a:txBody>
                  <a:tcPr anchor="ctr"/>
                </a:tc>
                <a:tc>
                  <a:txBody>
                    <a:bodyPr/>
                    <a:lstStyle/>
                    <a:p>
                      <a:pPr lvl="0">
                        <a:buNone/>
                      </a:pPr>
                      <a:r>
                        <a:rPr lang="en-US" sz="900"/>
                        <a:t>Highways mapping</a:t>
                      </a:r>
                    </a:p>
                  </a:txBody>
                  <a:tcPr anchor="ctr"/>
                </a:tc>
                <a:extLst>
                  <a:ext uri="{0D108BD9-81ED-4DB2-BD59-A6C34878D82A}">
                    <a16:rowId xmlns:a16="http://schemas.microsoft.com/office/drawing/2014/main" val="1768466572"/>
                  </a:ext>
                </a:extLst>
              </a:tr>
              <a:tr h="208957">
                <a:tc>
                  <a:txBody>
                    <a:bodyPr/>
                    <a:lstStyle/>
                    <a:p>
                      <a:pPr lvl="0">
                        <a:buNone/>
                      </a:pPr>
                      <a:r>
                        <a:rPr lang="en-US" sz="900"/>
                        <a:t>NTAD/USACE</a:t>
                      </a:r>
                    </a:p>
                  </a:txBody>
                  <a:tcPr anchor="ctr"/>
                </a:tc>
                <a:tc>
                  <a:txBody>
                    <a:bodyPr/>
                    <a:lstStyle/>
                    <a:p>
                      <a:pPr lvl="0">
                        <a:buNone/>
                      </a:pPr>
                      <a:r>
                        <a:rPr lang="en-US" sz="900"/>
                        <a:t>Map figures</a:t>
                      </a:r>
                    </a:p>
                  </a:txBody>
                  <a:tcPr anchor="ctr"/>
                </a:tc>
                <a:tc>
                  <a:txBody>
                    <a:bodyPr/>
                    <a:lstStyle/>
                    <a:p>
                      <a:pPr lvl="0">
                        <a:buNone/>
                      </a:pPr>
                      <a:r>
                        <a:rPr lang="en-US" sz="900"/>
                        <a:t>Port/Airport locations mapping</a:t>
                      </a:r>
                    </a:p>
                  </a:txBody>
                  <a:tcPr anchor="ctr"/>
                </a:tc>
                <a:extLst>
                  <a:ext uri="{0D108BD9-81ED-4DB2-BD59-A6C34878D82A}">
                    <a16:rowId xmlns:a16="http://schemas.microsoft.com/office/drawing/2014/main" val="3248793730"/>
                  </a:ext>
                </a:extLst>
              </a:tr>
            </a:tbl>
          </a:graphicData>
        </a:graphic>
      </p:graphicFrame>
    </p:spTree>
    <p:extLst>
      <p:ext uri="{BB962C8B-B14F-4D97-AF65-F5344CB8AC3E}">
        <p14:creationId xmlns:p14="http://schemas.microsoft.com/office/powerpoint/2010/main" val="234459254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 draft Lifeline Capability Disruption Report" id="{CE3D54FA-5CC5-4D62-BAE1-9F6CCE49DA36}" vid="{627B817E-0967-4654-937A-342B140BEA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8bdbe66-7152-464a-8c94-480cb8281086" xsi:nil="true"/>
    <lcf76f155ced4ddcb4097134ff3c332f xmlns="bc681aca-a2e3-4534-b1dd-a9a83cd4e91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95AFEE38B0538479F8244DEB061B156" ma:contentTypeVersion="11" ma:contentTypeDescription="Create a new document." ma:contentTypeScope="" ma:versionID="8da78701f61995b9093121b318a81c2d">
  <xsd:schema xmlns:xsd="http://www.w3.org/2001/XMLSchema" xmlns:xs="http://www.w3.org/2001/XMLSchema" xmlns:p="http://schemas.microsoft.com/office/2006/metadata/properties" xmlns:ns2="bc681aca-a2e3-4534-b1dd-a9a83cd4e91e" xmlns:ns3="28bdbe66-7152-464a-8c94-480cb8281086" targetNamespace="http://schemas.microsoft.com/office/2006/metadata/properties" ma:root="true" ma:fieldsID="147e4b45bac4c8863bb14afeadfc7b52" ns2:_="" ns3:_="">
    <xsd:import namespace="bc681aca-a2e3-4534-b1dd-a9a83cd4e91e"/>
    <xsd:import namespace="28bdbe66-7152-464a-8c94-480cb82810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681aca-a2e3-4534-b1dd-a9a83cd4e9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4d07f8a-73e4-4c81-9eee-fbb13e4e1d3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8bdbe66-7152-464a-8c94-480cb828108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7f174c2-0083-4344-b31e-d1bb5e420fa1}" ma:internalName="TaxCatchAll" ma:showField="CatchAllData" ma:web="28bdbe66-7152-464a-8c94-480cb828108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65A1BE-9B88-44D9-8EAF-110AACE7F97D}">
  <ds:schemaRefs>
    <ds:schemaRef ds:uri="http://schemas.microsoft.com/sharepoint/v3/contenttype/forms"/>
  </ds:schemaRefs>
</ds:datastoreItem>
</file>

<file path=customXml/itemProps2.xml><?xml version="1.0" encoding="utf-8"?>
<ds:datastoreItem xmlns:ds="http://schemas.openxmlformats.org/officeDocument/2006/customXml" ds:itemID="{4A58B11C-CA88-4DC9-BC31-CF3DA49CF400}">
  <ds:schemaRefs>
    <ds:schemaRef ds:uri="http://purl.org/dc/elements/1.1/"/>
    <ds:schemaRef ds:uri="http://schemas.microsoft.com/office/2006/documentManagement/types"/>
    <ds:schemaRef ds:uri="http://purl.org/dc/terms/"/>
    <ds:schemaRef ds:uri="ced10170-678c-47d0-bde2-ed7292a6af2d"/>
    <ds:schemaRef ds:uri="http://schemas.openxmlformats.org/package/2006/metadata/core-properties"/>
    <ds:schemaRef ds:uri="http://purl.org/dc/dcmitype/"/>
    <ds:schemaRef ds:uri="http://schemas.microsoft.com/office/2006/metadata/properties"/>
    <ds:schemaRef ds:uri="a8a493e8-136d-4809-8acd-e8286f7a2e95"/>
    <ds:schemaRef ds:uri="http://schemas.microsoft.com/office/infopath/2007/PartnerControls"/>
    <ds:schemaRef ds:uri="http://www.w3.org/XML/1998/namespace"/>
    <ds:schemaRef ds:uri="28bdbe66-7152-464a-8c94-480cb8281086"/>
    <ds:schemaRef ds:uri="bc681aca-a2e3-4534-b1dd-a9a83cd4e91e"/>
  </ds:schemaRefs>
</ds:datastoreItem>
</file>

<file path=customXml/itemProps3.xml><?xml version="1.0" encoding="utf-8"?>
<ds:datastoreItem xmlns:ds="http://schemas.openxmlformats.org/officeDocument/2006/customXml" ds:itemID="{EBA6CFC8-68F7-43D2-ABA7-230D51F18C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681aca-a2e3-4534-b1dd-a9a83cd4e91e"/>
    <ds:schemaRef ds:uri="28bdbe66-7152-464a-8c94-480cb82810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863bcaf-4433-4a95-89dd-302e4b0159a1}" enabled="0" method="" siteId="{2863bcaf-4433-4a95-89dd-302e4b0159a1}" removed="1"/>
  <clbl:label id="{2e95e2ad-e8ca-4284-b378-e082a7c97181}" enabled="0" method="" siteId="{2e95e2ad-e8ca-4284-b378-e082a7c97181}" removed="1"/>
</clbl:labelList>
</file>

<file path=docProps/app.xml><?xml version="1.0" encoding="utf-8"?>
<Properties xmlns="http://schemas.openxmlformats.org/officeDocument/2006/extended-properties" xmlns:vt="http://schemas.openxmlformats.org/officeDocument/2006/docPropsVTypes">
  <TotalTime>297</TotalTime>
  <Words>4482</Words>
  <Application>Microsoft Office PowerPoint</Application>
  <PresentationFormat>Widescreen</PresentationFormat>
  <Paragraphs>516</Paragraphs>
  <Slides>28</Slides>
  <Notes>23</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1_Office Theme</vt:lpstr>
      <vt:lpstr>PowerPoint Presentation</vt:lpstr>
      <vt:lpstr>TABLE OF CONTENTS</vt:lpstr>
      <vt:lpstr>Executive Summary – [AOI] | [Hazard/Event Name]</vt:lpstr>
      <vt:lpstr>Hazard Overview – [Type of Hazard Information Shown]</vt:lpstr>
      <vt:lpstr>Area of Interest (Aggregation Levels)</vt:lpstr>
      <vt:lpstr>Event Footprint vs. U.S. Economy: [AOI]</vt:lpstr>
      <vt:lpstr>Headliner Industries (Total GDP): Guam</vt:lpstr>
      <vt:lpstr>Headliner Industries (Employee Count): [AOI]</vt:lpstr>
      <vt:lpstr>Critical Infrastructure &amp; Commodity Flows: [AOI]</vt:lpstr>
      <vt:lpstr>Ripple Forecast: [AOI]</vt:lpstr>
      <vt:lpstr>Socio-Economic Profile: [AOI]</vt:lpstr>
      <vt:lpstr>Appendix</vt:lpstr>
      <vt:lpstr>Data Sources</vt:lpstr>
      <vt:lpstr>BEAD Tier 1 Example: Guam</vt:lpstr>
      <vt:lpstr>Super Typhoon Sinlaku: Guam and Commonwealth of Northern Mariana Islands</vt:lpstr>
      <vt:lpstr>Executive Summary – Guam and CNMI | Typhoon Sinlaku</vt:lpstr>
      <vt:lpstr>Hazard Overview – Typhoon Sinlaku Winds</vt:lpstr>
      <vt:lpstr>Hazard Overview – Typhon Sinlaku Precipitation</vt:lpstr>
      <vt:lpstr>Guam</vt:lpstr>
      <vt:lpstr>Event Footprint vs. U.S. Economy: Guam</vt:lpstr>
      <vt:lpstr>Headliner Industries (Total GDP): Guam</vt:lpstr>
      <vt:lpstr>Headliner Industries (Employee Count): Guam</vt:lpstr>
      <vt:lpstr>Critical Infrastructure &amp; Commodity Flows: Fuel </vt:lpstr>
      <vt:lpstr>Critical Infrastructure &amp; Commodity Flows: Food </vt:lpstr>
      <vt:lpstr>Ripple Forecast: Guam</vt:lpstr>
      <vt:lpstr>Socio-Economic Profile: Guam</vt:lpstr>
      <vt:lpstr>Appendix</vt:lpstr>
      <vt:lpstr>Data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Western Washington - Atmospheric River Floods</dc:title>
  <dc:creator>Alexander Yerg</dc:creator>
  <cp:lastModifiedBy>Ashley Hoke</cp:lastModifiedBy>
  <cp:revision>27</cp:revision>
  <dcterms:created xsi:type="dcterms:W3CDTF">2025-08-19T14:00:11Z</dcterms:created>
  <dcterms:modified xsi:type="dcterms:W3CDTF">2026-06-08T15:16:08Z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0x010100695AFEE38B0538479F8244DEB061B156</vt:lpwstr>
  </property>
  <property fmtid="{D5CDD505-2E9C-101B-9397-08002B2CF9AE}" pid="3" name="MediaServiceImageTags">
    <vt:lpwstr/>
  </property>
</Properties>
</file>